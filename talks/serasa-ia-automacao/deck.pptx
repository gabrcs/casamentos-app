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 curta. Nome, o que faço, e a promessa em uma frase: vocês vão sair com um método de uma página para decidir o que automatizar. Prometa o caso prático do fim. ~1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Pausa depois da pergunta errada; deixe o silêncio trabalhar. Esta é a tese: automação é desenho de processo, não escolha de modelo. A linha do rodapé é a única agenda.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Este é o slide do método. Diga que a notação inteira são quatro formas — não é BPMN, não precisa de ferramenta, papel resolve. O passo 4 é o que ninguém faz.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o fluxo com o dedo, uma caixa por vez. Insista que ainda não se falou de IA — e que a regra do losango escrita já é metade da decisão de arquitetura.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SLIDE-CHAVE — dê tempo, a plateia fotografa. Uma linha por caixa do fluxo anterior: o canvas não é outro documento, é o mesmo desenho em forma de tabela. Percorra só as duas colunas destacadas.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ponto alto da primeira parte. Mesmo desenho, três cores — e a arquitetura apareceu sem ninguém escrever documento. Destaque que o losango engana: parece IA, é um if.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Percorra a árvore em voz alta com UMA linha do canvas — de preferência 'Classificar assunto'. A primeira pergunta é a que mais economiza dinheiro: se é regra fixa, é código. A segunda é a que ninguém faz e é a que evita projeto morto.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Leia o código em voz alta — são doze linhas, cabe. O que importa não é o código, é o schema: sem faltou_contexto e confianca não existe limiar nem log. Este é o slide que transforma 'human in the loop' de conceito em implementação. ~3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mais relevante para o contexto Serasa. 'Taxa de rejeição 0% é alarme' costuma gerar pergunta. No art. 20 seja preciso: o direito é à revisão, e o gatilho é a decisão tomada UNICAMENTE por tratamento automatizado.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Passe rápido, não venda ferramenta. As duas linhas destacadas são o recado. Sobre banco vetorial seja direto: na maioria dos casos a busca que a empresa já tem resolve. Se o tempo apertar, este é o slide para acelerar.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Insista na inversão: o eval vem ANTES do prompt. E no número que mata projeto: erro confiante. Se der abertura, conte que 20 casos com 5 de borda já pega quase tudo — tira a desculpa de 'não tenho dados suficientes'.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as sete seções — aponte a 6 ('quando NÃO decidir'), que é a que quase todo prompt não tem. No registro, o campo mais interessante é revertido_em: se está sempre null, ou está perfeito ou ninguém olha.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doze. Diga que é portão, não lista de desejos, e destaque três: eval no CI, caminho de 'não sei', e dono com nome. O resto é material de consulta.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 com o seu caso. Conte como história, não como lista. Use a MESMA notação do slide 3 — o retorno visual é o que amarra a palestra. ~2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PREENCHER. O quadro do meio é o mais valioso: plateia técnica confia em quem mostra a falha. Feche amarrando à árvore de decisão. ~2,5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pelo desafio, não pelo agradecimento — dá algo concreto para segunda-feira. Deixe este slide no telão durante o Q&amp;A. ~1,5 min.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778240" y="-1005840"/>
            <a:ext cx="3108960" cy="3108960"/>
          </a:xfrm>
          <a:prstGeom prst="roundRect">
            <a:avLst>
              <a:gd name="adj" fmla="val 8824"/>
            </a:avLst>
          </a:prstGeom>
          <a:solidFill>
            <a:srgbClr val="FFFFFF">
              <a:alpha val="8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10241280" y="4206240"/>
            <a:ext cx="2377440" cy="2377440"/>
          </a:xfrm>
          <a:prstGeom prst="roundRect">
            <a:avLst>
              <a:gd name="adj" fmla="val 11538"/>
            </a:avLst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9601200" y="2834640"/>
            <a:ext cx="457200" cy="457200"/>
          </a:xfrm>
          <a:prstGeom prst="ellipse">
            <a:avLst/>
          </a:prstGeom>
          <a:solidFill>
            <a:srgbClr val="FF8F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14630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4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SERASA EXPERIAN · TECNOLOGIA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658368" y="1810512"/>
            <a:ext cx="9052560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com </a:t>
            </a:r>
            <a:endParaRPr lang="en-US" sz="42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2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endParaRPr lang="en-US" sz="4200" dirty="0"/>
          </a:p>
        </p:txBody>
      </p:sp>
      <p:sp>
        <p:nvSpPr>
          <p:cNvPr id="7" name="Text 5"/>
          <p:cNvSpPr/>
          <p:nvPr/>
        </p:nvSpPr>
        <p:spPr>
          <a:xfrm>
            <a:off x="658368" y="3840480"/>
            <a:ext cx="60350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mapear o processo, implementar com eval e levar para produção.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658368" y="562356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Gabriel Corrêa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658368" y="58978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Palestra técnica · 25 minutos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10515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PONTO DE PARTIDA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1463040"/>
            <a:ext cx="103327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errada é </a:t>
            </a:r>
            <a:pPr indent="0" marL="0">
              <a:lnSpc>
                <a:spcPts val="4000"/>
              </a:lnSpc>
              <a:buNone/>
            </a:pPr>
            <a:r>
              <a:rPr lang="en-US" sz="3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“o que a IA consegue fazer aqui?”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58368" y="3108960"/>
            <a:ext cx="96926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00"/>
              </a:lnSpc>
              <a:buNone/>
            </a:pPr>
            <a:r>
              <a:rPr lang="en-US" sz="18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pergunta certa é: </a:t>
            </a:r>
            <a:pPr indent="0" marL="0">
              <a:lnSpc>
                <a:spcPts val="2500"/>
              </a:lnSpc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neste processo, o que é decisão e o que é digitação?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58368" y="3931920"/>
            <a:ext cx="93268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200"/>
              </a:lnSpc>
              <a:buNone/>
            </a:pPr>
            <a:r>
              <a:rPr lang="en-US" sz="1500" dirty="0">
                <a:solidFill>
                  <a:srgbClr val="E7DCE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com IA é 80% desenho de processo e 20% modelo. Quem inverte essa conta entrega uma demo bonita que ninguém usa em produção.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58368" y="54406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6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NOS PRÓXIMOS 25 MIN     </a:t>
            </a:r>
            <a:pPr indent="0" marL="0">
              <a:buNone/>
            </a:pPr>
            <a:r>
              <a:rPr lang="en-US" sz="1200" dirty="0">
                <a:solidFill>
                  <a:srgbClr val="C9B6D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mapear  →  decidir  →  humano na alça  →  levar para produção  →  </a:t>
            </a:r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caso real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MÉTODO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passos 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formas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É só isso.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103120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658368" y="2103120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1115568" y="2066544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fluxo como ele acontece hoje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sem melhorar nada. Entreviste quem executa: a versão do gerente é a oficial, a de quem executa é a real.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852928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58368" y="2852928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115568" y="2816352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por ação, um losango por decisão.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 dúvida, é decisão — decisão escondida dentro de ação é onde a automação quebra depois.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602736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3602736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1115568" y="3566160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Tabele cada caixa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entrada, saída, dono, volume/mês, taxa de exceção, custo do erro. Sem os dois últimos, o passo 4 é chute.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4352544"/>
            <a:ext cx="310896" cy="310896"/>
          </a:xfrm>
          <a:prstGeom prst="ellipse">
            <a:avLst/>
          </a:prstGeom>
          <a:solidFill>
            <a:srgbClr val="E8007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58368" y="4352544"/>
            <a:ext cx="31089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115568" y="4315968"/>
            <a:ext cx="594360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50"/>
              </a:lnSpc>
              <a:buNone/>
            </a:pPr>
            <a:r>
              <a:rPr lang="en-US" sz="11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Volte ao desenho e pinte cada caixa</a:t>
            </a:r>
            <a:pPr indent="0" marL="0">
              <a:lnSpc>
                <a:spcPts val="155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: código, IA ou humano. O fluxo pintado é a arquitetura.</a:t>
            </a:r>
            <a:endParaRPr lang="en-US" sz="1150" dirty="0"/>
          </a:p>
        </p:txBody>
      </p:sp>
      <p:sp>
        <p:nvSpPr>
          <p:cNvPr id="16" name="Text 14"/>
          <p:cNvSpPr/>
          <p:nvPr/>
        </p:nvSpPr>
        <p:spPr>
          <a:xfrm>
            <a:off x="7315200" y="1993392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 NOTAÇÃO INTEIRA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7315200" y="2304288"/>
            <a:ext cx="1417320" cy="512064"/>
          </a:xfrm>
          <a:prstGeom prst="roundRect">
            <a:avLst>
              <a:gd name="adj" fmla="val 89286"/>
            </a:avLst>
          </a:prstGeom>
          <a:solidFill>
            <a:srgbClr val="EFEAF5"/>
          </a:solidFill>
          <a:ln w="15875">
            <a:solidFill>
              <a:srgbClr val="CFC3DE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 / fim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915400" y="2304288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processo começa e termina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7315200" y="3090672"/>
            <a:ext cx="1417320" cy="512064"/>
          </a:xfrm>
          <a:prstGeom prst="roundRect">
            <a:avLst>
              <a:gd name="adj" fmla="val 17857"/>
            </a:avLst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ação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915400" y="3090672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caixa = uma ação.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tem “e” no nome, são duas.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7315200" y="3877056"/>
            <a:ext cx="1417320" cy="512064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915400" y="3877056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losango tem que ter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regra escrita embaixo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7315200" y="4937760"/>
            <a:ext cx="128016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Text 22"/>
          <p:cNvSpPr/>
          <p:nvPr/>
        </p:nvSpPr>
        <p:spPr>
          <a:xfrm>
            <a:off x="7680960" y="4709160"/>
            <a:ext cx="5486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8915400" y="4663440"/>
            <a:ext cx="26517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seta condicional —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rotule sempre as duas saídas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658368" y="532180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14400" y="541324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FLUXOGRAMA E NÃO TEXTO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914400" y="561441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 em texto esconde decisão. Em fluxograma, decisão tem forma própria — e é exatamente onde você vai escolher entre código, IA e humano.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não é documentação, é a ferramenta de decisão.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PASSOS 1 E 2 · EXEMPLO REAL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Triagem de solicitação de suporte,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acontece hoje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38125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Solicitação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717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05275" y="2381250"/>
            <a:ext cx="166687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assunto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341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67675" y="2095500"/>
            <a:ext cx="1619250" cy="123825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34000" y="4381500"/>
            <a:ext cx="1905000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revisa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aprova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810500" y="4381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FFFFFF"/>
          </a:solidFill>
          <a:ln w="15875">
            <a:solidFill>
              <a:srgbClr val="E3DCEC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096500" y="4381500"/>
            <a:ext cx="9525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097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33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721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057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877300" y="3333750"/>
            <a:ext cx="0" cy="4762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286500" y="3810000"/>
            <a:ext cx="2590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500" y="3810000"/>
            <a:ext cx="0" cy="5143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86925" y="2714625"/>
            <a:ext cx="174307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0" y="2714625"/>
            <a:ext cx="0" cy="1285875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8667750" y="4000500"/>
            <a:ext cx="27622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7750" y="4000500"/>
            <a:ext cx="0" cy="3238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39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25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915400" y="37719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53600" y="25527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762000" y="4114800"/>
            <a:ext cx="31089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DO LOSANGO, ESCRITA: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762000" y="4343400"/>
            <a:ext cx="32918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desconto &gt; 10% ou exceção contratual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762000" y="4552950"/>
            <a:ext cx="4206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dirty="0">
                <a:solidFill>
                  <a:srgbClr val="8E86A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losango sem regra = decisão que ninguém revisou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ESTE DESENHO JÁ ENTREGA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ações, uma decisão, duas saídas rotuladas — e a regra do losango escrita.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Nada aqui é sobre IA ainda.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Quem tenta desenhar isso e não consegue fechar as setas descobriu que tem dois processos, não um.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3 · A TABELA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canvas —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linha por caixa do fluxo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1664208"/>
            <a:ext cx="9594799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colunas destacadas são as que decidem tudo no passo 4.</a:t>
            </a:r>
            <a:endParaRPr lang="en-US" sz="13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58368" y="2286000"/>
          <a:ext cx="10874959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1645920"/>
                <a:gridCol w="1234440"/>
                <a:gridCol w="1600200"/>
                <a:gridCol w="1691640"/>
                <a:gridCol w="914400"/>
                <a:gridCol w="1051560"/>
                <a:gridCol w="448056"/>
              </a:tblGrid>
              <a:tr h="38404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Caixa do fluxo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Entrada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Saída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É decisão?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Custo do erro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8007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Exceções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Volume/mês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Dono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D4F9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Registrar ticket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e-mail, formulário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ticket criado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Classificar assunto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 livre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categoria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F7A5C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Redigir resposta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contexto + histórico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texto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ambígua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B4620A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Precisa aprovação?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do desconto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/ não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regra fixa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5%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12.000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Suporte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16224E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 revisa e aprova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proposta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Sim — julgamento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E80070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alto, irreversível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—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300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4A5578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Gestor</a:t>
                      </a:r>
                      <a:endParaRPr lang="en-US" sz="10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64008" marR="64008" marT="64008" marB="64008" anchor="ctr">
                    <a:lnL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CE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658368" y="513892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914400" y="523036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</a:t>
            </a:r>
            <a:endParaRPr lang="en-US" sz="950" dirty="0"/>
          </a:p>
        </p:txBody>
      </p:sp>
      <p:sp>
        <p:nvSpPr>
          <p:cNvPr id="8" name="Text 5"/>
          <p:cNvSpPr/>
          <p:nvPr/>
        </p:nvSpPr>
        <p:spPr>
          <a:xfrm>
            <a:off x="914400" y="543153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ambígua + erro tolerável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Regra fixa, mesmo com erro caro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Julgamento irreversível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Digitação →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A tabela decide, você só transcreve para o desenho.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0" name="Text 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PASSO 4 · O ENTREGÁVEL DE VERDADE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mesmo fluxo, pintado — e pronto,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essa é a arquitetura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38125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Solicitação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chega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1717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ticket</a:t>
            </a:r>
            <a:endParaRPr lang="en-US" sz="1150" dirty="0"/>
          </a:p>
        </p:txBody>
      </p:sp>
      <p:sp>
        <p:nvSpPr>
          <p:cNvPr id="6" name="Text 4"/>
          <p:cNvSpPr/>
          <p:nvPr/>
        </p:nvSpPr>
        <p:spPr>
          <a:xfrm>
            <a:off x="4105275" y="2381250"/>
            <a:ext cx="1666875" cy="666750"/>
          </a:xfrm>
          <a:prstGeom prst="roundRect">
            <a:avLst>
              <a:gd name="adj" fmla="val 13714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assunto</a:t>
            </a:r>
            <a:endParaRPr lang="en-US" sz="1150" dirty="0"/>
          </a:p>
        </p:txBody>
      </p:sp>
      <p:sp>
        <p:nvSpPr>
          <p:cNvPr id="7" name="Text 5"/>
          <p:cNvSpPr/>
          <p:nvPr/>
        </p:nvSpPr>
        <p:spPr>
          <a:xfrm>
            <a:off x="6134100" y="2381250"/>
            <a:ext cx="1571625" cy="666750"/>
          </a:xfrm>
          <a:prstGeom prst="roundRect">
            <a:avLst>
              <a:gd name="adj" fmla="val 13714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Redigir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8" name="Text 6"/>
          <p:cNvSpPr/>
          <p:nvPr/>
        </p:nvSpPr>
        <p:spPr>
          <a:xfrm>
            <a:off x="8067675" y="2095500"/>
            <a:ext cx="1619250" cy="1238250"/>
          </a:xfrm>
          <a:prstGeom prst="diamond">
            <a:avLst/>
          </a:prstGeom>
          <a:solidFill>
            <a:srgbClr val="E4EDF8"/>
          </a:solidFill>
          <a:ln w="15875">
            <a:solidFill>
              <a:srgbClr val="1D4F91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Precisa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aprovação?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34000" y="4381500"/>
            <a:ext cx="1905000" cy="666750"/>
          </a:xfrm>
          <a:prstGeom prst="roundRect">
            <a:avLst>
              <a:gd name="adj" fmla="val 13714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Gestor revisa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aprova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7810500" y="4381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Enviar</a:t>
            </a:r>
            <a:endParaRPr lang="en-US" sz="1150" dirty="0"/>
          </a:p>
          <a:p>
            <a:pPr algn="ctr" indent="0" marL="0">
              <a:lnSpc>
                <a:spcPts val="1438"/>
              </a:lnSpc>
              <a:buNone/>
            </a:pPr>
            <a:r>
              <a:rPr lang="en-US" sz="115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resposta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10096500" y="4381500"/>
            <a:ext cx="9525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8097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7433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772150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7705725" y="2714625"/>
            <a:ext cx="304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8877300" y="3333750"/>
            <a:ext cx="0" cy="4762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H="1">
            <a:off x="6286500" y="3810000"/>
            <a:ext cx="25908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6286500" y="3810000"/>
            <a:ext cx="0" cy="5143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9686925" y="2714625"/>
            <a:ext cx="174307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11430000" y="2714625"/>
            <a:ext cx="0" cy="1285875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H="1">
            <a:off x="8667750" y="4000500"/>
            <a:ext cx="27622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8667750" y="4000500"/>
            <a:ext cx="0" cy="3238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3" name="Shape 21"/>
          <p:cNvSpPr/>
          <p:nvPr/>
        </p:nvSpPr>
        <p:spPr>
          <a:xfrm>
            <a:off x="7239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4" name="Shape 22"/>
          <p:cNvSpPr/>
          <p:nvPr/>
        </p:nvSpPr>
        <p:spPr>
          <a:xfrm>
            <a:off x="9525000" y="4714875"/>
            <a:ext cx="5143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8915400" y="37719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9753600" y="2552700"/>
            <a:ext cx="4572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20840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40652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· 12.000/mês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6046470" y="31661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revisão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8008620" y="34518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· regra fixa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5417820" y="51663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· 300/mês</a:t>
            </a:r>
            <a:endParaRPr lang="en-US" sz="850" dirty="0"/>
          </a:p>
        </p:txBody>
      </p:sp>
      <p:sp>
        <p:nvSpPr>
          <p:cNvPr id="32" name="Text 30"/>
          <p:cNvSpPr/>
          <p:nvPr/>
        </p:nvSpPr>
        <p:spPr>
          <a:xfrm>
            <a:off x="7799070" y="516636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</a:t>
            </a:r>
            <a:endParaRPr lang="en-US" sz="850" dirty="0"/>
          </a:p>
        </p:txBody>
      </p:sp>
      <p:sp>
        <p:nvSpPr>
          <p:cNvPr id="33" name="Shape 31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LER O RESULTADO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 duas caixas rosas são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21.000 execuções/mês de decisão ambígua com erro tolerável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é aí que a IA se paga. A lavanda são 300 julgamentos irreversíveis por mês: continua humana, e é barato que continue. O losango parece decisão de IA e não é.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· Mapear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ÁRVORE · RODE UMA VEZ POR LINHA DO CANVAS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7498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Quatro perguntas e a etapa </a:t>
            </a:r>
            <a:pPr indent="0" marL="0">
              <a:lnSpc>
                <a:spcPts val="3100"/>
              </a:lnSpc>
              <a:buNone/>
            </a:pPr>
            <a:r>
              <a:rPr lang="en-US" sz="27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classifica sozinha</a:t>
            </a:r>
            <a:endParaRPr lang="en-US" sz="2700" dirty="0"/>
          </a:p>
        </p:txBody>
      </p:sp>
      <p:sp>
        <p:nvSpPr>
          <p:cNvPr id="4" name="Text 2"/>
          <p:cNvSpPr/>
          <p:nvPr/>
        </p:nvSpPr>
        <p:spPr>
          <a:xfrm>
            <a:off x="8382000" y="990600"/>
            <a:ext cx="3291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215"/>
              </a:lnSpc>
              <a:buNone/>
            </a:pPr>
            <a:r>
              <a:rPr lang="en-US" sz="9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O QUINTO CAMINHO</a:t>
            </a:r>
            <a:endParaRPr lang="en-US" sz="900" dirty="0"/>
          </a:p>
        </p:txBody>
      </p:sp>
      <p:sp>
        <p:nvSpPr>
          <p:cNvPr id="5" name="Text 3"/>
          <p:cNvSpPr/>
          <p:nvPr/>
        </p:nvSpPr>
        <p:spPr>
          <a:xfrm>
            <a:off x="8382000" y="1181100"/>
            <a:ext cx="3383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árvore classifica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de processo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Trabalho de especialista — código, análise, redação — não entra: ali é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copiloto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857250" y="21145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regra é fixa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estável?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857250" y="29908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Verificar custa menos</a:t>
            </a:r>
            <a:endParaRPr lang="en-US" sz="1000" dirty="0"/>
          </a:p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 executar?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857250" y="38671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erro é caro?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857250" y="4743450"/>
            <a:ext cx="2857500" cy="647700"/>
          </a:xfrm>
          <a:prstGeom prst="diamond">
            <a:avLst/>
          </a:prstGeom>
          <a:solidFill>
            <a:srgbClr val="FFFFFF"/>
          </a:solidFill>
          <a:ln w="15875">
            <a:solidFill>
              <a:srgbClr val="E3DCEC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250"/>
              </a:lnSpc>
              <a:buNone/>
            </a:pPr>
            <a:r>
              <a:rPr lang="en-US" sz="10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É reversível?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2286000" y="27622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2362200" y="28479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2286000" y="36385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3" name="Text 11"/>
          <p:cNvSpPr/>
          <p:nvPr/>
        </p:nvSpPr>
        <p:spPr>
          <a:xfrm>
            <a:off x="2362200" y="37242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2286000" y="4514850"/>
            <a:ext cx="0" cy="171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5" name="Text 13"/>
          <p:cNvSpPr/>
          <p:nvPr/>
        </p:nvSpPr>
        <p:spPr>
          <a:xfrm>
            <a:off x="2362200" y="4600575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3714750" y="24384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3848100" y="23241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18" name="Text 16"/>
          <p:cNvSpPr/>
          <p:nvPr/>
        </p:nvSpPr>
        <p:spPr>
          <a:xfrm>
            <a:off x="4476750" y="21717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CÓDIGO — não use LLM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810500" y="22189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if você testa uma vez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 confia para sempre.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714750" y="33147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1" name="Text 19"/>
          <p:cNvSpPr/>
          <p:nvPr/>
        </p:nvSpPr>
        <p:spPr>
          <a:xfrm>
            <a:off x="3848100" y="32004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476750" y="30480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EF6FA"/>
          </a:solidFill>
          <a:ln w="15875">
            <a:solidFill>
              <a:srgbClr val="E80070"/>
            </a:solidFill>
            <a:prstDash val="dash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i="1" dirty="0">
                <a:solidFill>
                  <a:srgbClr val="B4620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AINDA NÃO AUTOMATIZE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7810500" y="30952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Torne verificável primeiro. Senão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automação vira trabalho novo.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714750" y="41910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5" name="Text 23"/>
          <p:cNvSpPr/>
          <p:nvPr/>
        </p:nvSpPr>
        <p:spPr>
          <a:xfrm>
            <a:off x="3848100" y="40767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4476750" y="39243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revisão por amostragem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7810500" y="39715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ganho fácil. Comece por aqui,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pelo processo mais visível.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3714750" y="5067300"/>
            <a:ext cx="70485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29" name="Text 27"/>
          <p:cNvSpPr/>
          <p:nvPr/>
        </p:nvSpPr>
        <p:spPr>
          <a:xfrm>
            <a:off x="3848100" y="495300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sim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476750" y="48006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FBE0EE"/>
          </a:solidFill>
          <a:ln w="15875">
            <a:solidFill>
              <a:srgbClr val="E80070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+ humano supervisiona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7810500" y="48478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vale com undo real e alerta.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Painel que ninguém abre não conta.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2286000" y="5391150"/>
            <a:ext cx="0" cy="55245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86000" y="5943600"/>
            <a:ext cx="21336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34" name="Text 32"/>
          <p:cNvSpPr/>
          <p:nvPr/>
        </p:nvSpPr>
        <p:spPr>
          <a:xfrm>
            <a:off x="2362200" y="5619750"/>
            <a:ext cx="38404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lnSpc>
                <a:spcPts val="1148"/>
              </a:lnSpc>
              <a:buNone/>
            </a:pPr>
            <a:r>
              <a:rPr lang="en-US" sz="850" b="1" dirty="0">
                <a:solidFill>
                  <a:srgbClr val="6E668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476750" y="5676900"/>
            <a:ext cx="3143250" cy="533400"/>
          </a:xfrm>
          <a:prstGeom prst="roundRect">
            <a:avLst>
              <a:gd name="adj" fmla="val 17143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5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IA propõe + humano aprova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7810500" y="5724144"/>
            <a:ext cx="33832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Caro e irreversível. O clique</a:t>
            </a:r>
            <a:endParaRPr lang="en-US" sz="1000" dirty="0"/>
          </a:p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é o produto aqui.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· Decidir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PADRÃO MAIS ÚTIL, NA PRÁTICA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Escalonamento por confiança —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são doze linhas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21408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TRIAGEM.PY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6858000" cy="2788920"/>
          </a:xfrm>
          <a:prstGeom prst="roundRect">
            <a:avLst>
              <a:gd name="adj" fmla="val 2623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05456"/>
            <a:ext cx="6528816" cy="2532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 schema é o contrato: sem ele não há limiar nem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Triagem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(BaseModel):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categoria: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Literal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["cobranca", "fraude", "cadastro", "outro"]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confianca: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float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   # 0-1, exigido no prompt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justificativa: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 # 1 frase — vai para o log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faltou_contexto: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bool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# o caminho explícito de "não sei"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 =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classificar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(ticket)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saída estruturada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if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r.faltou_contexto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r.confianca &lt; LIMIAR: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fila_humana.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enfileirar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(ticket, sugestao=r)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COM a sugestão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FF9CC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else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</a:t>
            </a:r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rotear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(ticket, r.categoria)</a:t>
            </a:r>
            <a:endParaRPr lang="en-US" sz="900" dirty="0"/>
          </a:p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registrar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(ticket.id, r, modelo=MODELO, prompt_v=PROMPT_V)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7772400" y="2377440"/>
            <a:ext cx="3760927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991856" y="2523744"/>
            <a:ext cx="3322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limiar sai do eval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7991856" y="2798064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Rode os casos, veja onde o acerto cai, escolha ali. Começamos em 0.85 — o ponto em que o erro confiante zerou.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7772400" y="3602736"/>
            <a:ext cx="3760927" cy="1078992"/>
          </a:xfrm>
          <a:prstGeom prst="roundRect">
            <a:avLst>
              <a:gd name="adj" fmla="val 8475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991856" y="3749040"/>
            <a:ext cx="3322015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Escalone com a sugestão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991856" y="4023360"/>
            <a:ext cx="33220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que chega em branco custa o mesmo que não ter automação. Com categoria sugerida + justificativa, o humano confirma em segundos.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7772400" y="4828032"/>
            <a:ext cx="3760927" cy="731520"/>
          </a:xfrm>
          <a:prstGeom prst="roundRect">
            <a:avLst>
              <a:gd name="adj" fmla="val 1250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991856" y="4919472"/>
            <a:ext cx="332201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Meça a taxa de escalonamento. 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Subiu? Mudou o contexto ou apareceu categoria nova — não é o modelo piorando.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58368" y="534924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14400" y="5440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DETALHE QUE QUASE TODO MUNDO ESQUECE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914400" y="564184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faltou_contexto, o modelo nunca diz "não sei" — ele chuta com confiança alta.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"Não sei" precisa ser uma saída válida e explicitamente permitida no prompt, senão você mediu confiança de um modelo que não tem como discordar de si mesmo.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ANTI-PADRÃO QUE PASSA EM TODA AUDITORIA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o humano aprova 400 itens por dia, não existe humano na alça — existe um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ritual de aprovação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514600"/>
            <a:ext cx="5254600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69264" y="2788920"/>
            <a:ext cx="463280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000"/>
              </a:lnSpc>
              <a:buNone/>
            </a:pPr>
            <a:r>
              <a:rPr lang="en-US" sz="15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perguntas para saber se o checkpoint é real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969264" y="3429000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revisor tem tempo e informação suficientes para discordar?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969264" y="4032504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Existe registro de quando ele discordou? Taxa de rejeição de 0% é alarme, não é qualidade.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9264" y="4636008"/>
            <a:ext cx="463280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 a revisão por amostragem daria o mesmo resultado, a revisão item a item é teatro — e está custando uma pessoa.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278728" y="2514600"/>
            <a:ext cx="5254600" cy="2743200"/>
          </a:xfrm>
          <a:prstGeom prst="roundRect">
            <a:avLst>
              <a:gd name="adj" fmla="val 3333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589624" y="2788920"/>
            <a:ext cx="46328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lado regulatório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89624" y="317296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LGPD, art. 20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garante ao titular o direito de solicitar revisão de decisões tomadas unicamente com base em tratamento automatizado que afetem seus interesses.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589624" y="3995928"/>
            <a:ext cx="4632808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serviço financeiro isso não é rodapé jurídico: é o que define quais etapas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podem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ser 100% automáticas — e obriga rastro de qual versão do modelo decidiu o quê, quando.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6589624" y="4800600"/>
            <a:ext cx="463280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500"/>
              </a:lnSpc>
              <a:buNone/>
            </a:pPr>
            <a:r>
              <a:rPr lang="en-US" sz="115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Consequência prática: </a:t>
            </a:r>
            <a:pPr indent="0" marL="0">
              <a:lnSpc>
                <a:spcPts val="1500"/>
              </a:lnSpc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log de decisão junto com o fluxo — é o slide seguinte.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· Humano na alça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STACK POR CAMADA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Seis camadas — e as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duas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que decidem se vai para produção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1284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14400" y="221284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3447288" y="221284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· GPT · Gemini · modelo aberto self-hosted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58368" y="2743200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914400" y="2743200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Agente e código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3447288" y="2743200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Claude Code · Claude Agent SDK · Cursor · LangGraph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58368" y="3273552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914400" y="3273552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3447288" y="3273552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Temporal · Airflow · Step Functions · n8n — retry, idempotência, estado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3803904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3803904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Integração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3447288" y="3803904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MCP · APIs internas — um protocolo no lugar de N integrações sob medida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58368" y="4334256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14400" y="4334256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Contexto e dados</a:t>
            </a:r>
            <a:endParaRPr lang="en-US" sz="1250" dirty="0"/>
          </a:p>
        </p:txBody>
      </p:sp>
      <p:sp>
        <p:nvSpPr>
          <p:cNvPr id="18" name="Text 16"/>
          <p:cNvSpPr/>
          <p:nvPr/>
        </p:nvSpPr>
        <p:spPr>
          <a:xfrm>
            <a:off x="3447288" y="4334256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busca que você já tem · banco vetorial só quando a busca simples falhar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4864608"/>
            <a:ext cx="10874959" cy="457200"/>
          </a:xfrm>
          <a:prstGeom prst="roundRect">
            <a:avLst>
              <a:gd name="adj" fmla="val 16000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864608"/>
            <a:ext cx="2468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e observabilidade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3447288" y="4864608"/>
            <a:ext cx="781171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Conjunto de casos versionado · Langfuse · Braintrust · traço com input, output e versão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58368" y="5413248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5504688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SEPARA PILOTO DE PRODUÇÃO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914400" y="5705856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 piloto tem a camada de modelo. O que quase nenhum tem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orquestração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 são exatamente as duas que decidem se aquilo sobrevive ao terceiro mês.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ARTEFATO QUE SEPARA AUTOMAÇÃO DE APOSTA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eval set é um arquivo.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Comece por ele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pelo prompt.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94560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EVALS/TRIAGEM.YAML  ·  VERSIONADO NO REPO, REVISADO EM PR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450592"/>
            <a:ext cx="6858000" cy="2542032"/>
          </a:xfrm>
          <a:prstGeom prst="roundRect">
            <a:avLst>
              <a:gd name="adj" fmla="val 287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78608"/>
            <a:ext cx="6528816" cy="228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20 casos REAIS tirados do histórico — não inventados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cob-001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"não reconheço a cobrança de R$ 89,90 no cartão"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categoria: cobranca,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frd-014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"abriram conta no meu CPF, quero registrar fraude"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categoria: fraude,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false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os casos de borda são os que importam: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este é ambíguo de propósito e DEVE escalonar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id: amb-007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entrada: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"cobrança que não fiz, acho que usaram meus dados"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esperado: { escalona: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true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}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58368" y="5102352"/>
            <a:ext cx="68580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 CI, BLOQUEANDO MERGE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58368" y="5358384"/>
            <a:ext cx="6858000" cy="457200"/>
          </a:xfrm>
          <a:prstGeom prst="roundRect">
            <a:avLst>
              <a:gd name="adj" fmla="val 16000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5486400"/>
            <a:ext cx="652881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5"/>
              </a:lnSpc>
              <a:buNone/>
            </a:pPr>
            <a:r>
              <a:rPr lang="en-US" sz="900" b="1" dirty="0">
                <a:solidFill>
                  <a:srgbClr val="FFFFF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pytest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evals/ --limiar 0.85   </a:t>
            </a:r>
            <a:pPr indent="0" marL="0">
              <a:lnSpc>
                <a:spcPts val="1305"/>
              </a:lnSpc>
              <a:buNone/>
            </a:pPr>
            <a:r>
              <a:rPr lang="en-US" sz="90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falha = não entra em produção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7772400" y="2450592"/>
            <a:ext cx="3760927" cy="1965960"/>
          </a:xfrm>
          <a:prstGeom prst="roundRect">
            <a:avLst>
              <a:gd name="adj" fmla="val 4651"/>
            </a:avLst>
          </a:prstGeom>
          <a:solidFill>
            <a:srgbClr val="FFFFFF"/>
          </a:solidFill>
          <a:ln w="12700">
            <a:solidFill>
              <a:srgbClr val="E3DCE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010144" y="2615184"/>
            <a:ext cx="3285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três números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8010144" y="2926080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Acerto por categoria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média esconde a categoria que vai mal.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10144" y="3419856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escalonamento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o custo humano que você está criando.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8010144" y="3913632"/>
            <a:ext cx="3285439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Erro confiante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errou com confiança acima do limiar. Este é o número que mata o projeto. Meta: zero.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7772400" y="4553712"/>
            <a:ext cx="3760927" cy="1261872"/>
          </a:xfrm>
          <a:prstGeom prst="roundRect">
            <a:avLst>
              <a:gd name="adj" fmla="val 7246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10144" y="4700016"/>
            <a:ext cx="328543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Vinte casos bastam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8010144" y="5010912"/>
            <a:ext cx="3285439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espere ter mil. Vinte casos reais, sendo </a:t>
            </a:r>
            <a:pPr indent="0" marL="0">
              <a:lnSpc>
                <a:spcPts val="135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cinco de borda</a:t>
            </a:r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já pegam quase toda regressão. O eval que existe vale mais que o eval perfeito que você faria depois.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OS OUTROS DOIS ARTEFATOS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prompt tem anatomia. E toda decisão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deixa rastro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58368" y="21214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PROMPTS/TRIAGEM.V4.MD  ·  SETE SEÇÕES, SEMPRE NESSA ORDEM</a:t>
            </a:r>
            <a:endParaRPr lang="en-US" sz="850" dirty="0"/>
          </a:p>
        </p:txBody>
      </p:sp>
      <p:sp>
        <p:nvSpPr>
          <p:cNvPr id="5" name="Shape 3"/>
          <p:cNvSpPr/>
          <p:nvPr/>
        </p:nvSpPr>
        <p:spPr>
          <a:xfrm>
            <a:off x="658368" y="2377440"/>
            <a:ext cx="5254600" cy="3520440"/>
          </a:xfrm>
          <a:prstGeom prst="roundRect">
            <a:avLst>
              <a:gd name="adj" fmla="val 2078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22960" y="2505456"/>
            <a:ext cx="4925416" cy="32644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1. Papel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Você tria solicitações de suporte de um bureau.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2. Tarefa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Classifique em UMA categoria e informe a confiança.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3. Dados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{{ticket}}  {{historico_do_cliente}}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4. Regras de decisão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CPF usado por terceiro -&gt; sempre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fraude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- Valor contestado + suspeita -&gt; escalone.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5. Formato de saída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JSON no schema Triagem. Nada fora do JSON.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6. Quando NÃO decidir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Falta histórico ou cabe em duas categorias -&gt;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faltou_contexto: true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 Não chute.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00000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7E779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## 7. Casos de borda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&lt;3 exemplos vindos direto do eval set&gt;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278728" y="21214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20" kern="0" dirty="0">
                <a:solidFill>
                  <a:srgbClr val="E8007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 REGISTRO DE CADA DECISÃO  ·  UMA LINHA POR EXECUÇÃO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6278728" y="2377440"/>
            <a:ext cx="5254600" cy="2286000"/>
          </a:xfrm>
          <a:prstGeom prst="roundRect">
            <a:avLst>
              <a:gd name="adj" fmla="val 3200"/>
            </a:avLst>
          </a:prstGeom>
          <a:solidFill>
            <a:srgbClr val="141A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43320" y="2505456"/>
            <a:ext cx="4925416" cy="20299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{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"ticket"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"T-88421"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"ts"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"2026-07-30T14:02:11Z"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"modelo"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"&lt;id e versão fixados&gt;"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"prompt_v"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"4"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"entrada"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"&lt;hash + referência&gt;"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"saida"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{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"categoria"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"fraude"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 ... },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"confianca"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0.91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"decidiu"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93D3A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"automatico"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"revisado_por"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,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"revertido_em"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: </a:t>
            </a:r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8FB8E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null</a:t>
            </a:r>
            <a:endParaRPr lang="en-US" sz="850" dirty="0"/>
          </a:p>
          <a:p>
            <a:pPr indent="0" marL="0">
              <a:lnSpc>
                <a:spcPts val="1233"/>
              </a:lnSpc>
              <a:buNone/>
            </a:pPr>
            <a:r>
              <a:rPr lang="en-US" sz="850" dirty="0">
                <a:solidFill>
                  <a:srgbClr val="D6D0E6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}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6278728" y="4800600"/>
            <a:ext cx="5254600" cy="1097280"/>
          </a:xfrm>
          <a:prstGeom prst="roundRect">
            <a:avLst>
              <a:gd name="adj" fmla="val 8333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16472" y="4919472"/>
            <a:ext cx="4779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 QUE EXATAMENTE ESSES CAMPOS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6516472" y="5157216"/>
            <a:ext cx="477911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modelo + prompt_v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reproduzir a decisão seis meses depois.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decidiu + revisado_por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= responder ao art. 20 sem arqueologia. </a:t>
            </a:r>
            <a:pPr indent="0" marL="0">
              <a:lnSpc>
                <a:spcPts val="1300"/>
              </a:lnSpc>
              <a:buNone/>
            </a:pPr>
            <a:r>
              <a:rPr lang="en-US" sz="1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revertido_em</a:t>
            </a:r>
            <a:pPr indent="0" marL="0">
              <a:lnSpc>
                <a:spcPts val="1300"/>
              </a:lnSpc>
              <a:buNone/>
            </a:pPr>
            <a:r>
              <a:rPr lang="en-US" sz="10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sempre null = ou está perfeito, ou ninguém está olhando.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Ferramentas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PORTÃO ANTES DE PRODUÇÃO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Doze itens. Desmarcado é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assumido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esquecimento.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2768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1005840" y="22494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 set no repo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20 casos, rodando no CI e bloqueando merge.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58368" y="282549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005840" y="279806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 do modelo fixada.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Atualizar é deploy: eval antes, rollback previsto.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658368" y="337413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1005840" y="334670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Prompt versionado em arquivo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revisado em PR. Não mora em Google Doc.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58368" y="3922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1005840" y="38953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Saída estruturada com schema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validado no código, não texto livre.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658368" y="447141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005840" y="44439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Caminho de “não sei”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existe, é permitido no prompt e é medido.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658368" y="50200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005840" y="49926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Conta feita em código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não pedida ao modelo. Ferramenta antes de aritmética.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370168" y="22768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17640" y="22494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Registro por execução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com modelo, versão do prompt e quem decidiu.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370168" y="282549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17640" y="279806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Retry e idempotência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na orquestração. Reprocessar não duplica efeito.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370168" y="337413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717640" y="334670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execução medido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multiplicado pelo volume do canvas.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370168" y="392277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717640" y="389534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Você sabe qual campo de dado sai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da empresa — o campo, não a ferramenta.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6370168" y="447141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6717640" y="444398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Undo existe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onde o padrão é supervisão. Sem undo, não é supervisão.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370168" y="5020056"/>
            <a:ext cx="201168" cy="201168"/>
          </a:xfrm>
          <a:prstGeom prst="roundRect">
            <a:avLst>
              <a:gd name="adj" fmla="val 18182"/>
            </a:avLst>
          </a:prstGeom>
          <a:solidFill>
            <a:srgbClr val="FFFFFF"/>
          </a:solidFill>
          <a:ln w="22225">
            <a:solidFill>
              <a:srgbClr val="E8007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717640" y="4992624"/>
            <a:ext cx="48156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450"/>
              </a:lnSpc>
              <a:buNone/>
            </a:pPr>
            <a:r>
              <a:rPr lang="en-US" sz="11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 dono com nome</a:t>
            </a:r>
            <a:pPr indent="0" marL="0">
              <a:lnSpc>
                <a:spcPts val="1450"/>
              </a:lnSpc>
              <a:buNone/>
            </a:pPr>
            <a:r>
              <a:rPr lang="en-US" sz="110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e data de revisão na agenda. Não nome de squad.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658368" y="5577840"/>
            <a:ext cx="10874959" cy="749808"/>
          </a:xfrm>
          <a:prstGeom prst="roundRect">
            <a:avLst>
              <a:gd name="adj" fmla="val 12195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914400" y="56692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USAR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914400" y="5870448"/>
            <a:ext cx="103628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Não é lista de boas intenções, é </a:t>
            </a:r>
            <a:pPr indent="0" marL="0">
              <a:lnSpc>
                <a:spcPts val="1600"/>
              </a:lnSpc>
              <a:buNone/>
            </a:pPr>
            <a:r>
              <a:rPr lang="en-US" sz="12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portão de produção</a:t>
            </a:r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 Rode antes de ligar o fluxo, e trate item desmarcado como risco aceito conscientemente — com nome e data ao lado.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· Práticas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O PROCESSO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meu fluxo, na mesma notação — 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quem executa cada caixa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66750" y="2857500"/>
            <a:ext cx="114300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Início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2286000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1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2274570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1809750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4333875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2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322445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3857625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1" name="Text 9"/>
          <p:cNvSpPr/>
          <p:nvPr/>
        </p:nvSpPr>
        <p:spPr>
          <a:xfrm>
            <a:off x="6381750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EE3F4"/>
          </a:solidFill>
          <a:ln w="15875">
            <a:solidFill>
              <a:srgbClr val="6D2077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3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6370320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HUMANO APROVA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5905500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4" name="Text 12"/>
          <p:cNvSpPr/>
          <p:nvPr/>
        </p:nvSpPr>
        <p:spPr>
          <a:xfrm>
            <a:off x="8429625" y="2857500"/>
            <a:ext cx="1714500" cy="666750"/>
          </a:xfrm>
          <a:prstGeom prst="roundRect">
            <a:avLst>
              <a:gd name="adj" fmla="val 13714"/>
            </a:avLst>
          </a:prstGeom>
          <a:solidFill>
            <a:srgbClr val="E4EDF8"/>
          </a:solidFill>
          <a:ln w="15875">
            <a:solidFill>
              <a:srgbClr val="1D4F91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 4</a:t>
            </a:r>
            <a:endParaRPr lang="en-US" sz="1100" dirty="0"/>
          </a:p>
          <a:p>
            <a:pPr algn="ctr" indent="0" marL="0">
              <a:lnSpc>
                <a:spcPts val="1375"/>
              </a:lnSpc>
              <a:buNone/>
            </a:pPr>
            <a:r>
              <a:rPr lang="en-US" sz="11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(preencher)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8418195" y="3661410"/>
            <a:ext cx="17373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b="1" spc="80" kern="0" dirty="0">
                <a:solidFill>
                  <a:srgbClr val="1D4F9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AUTOMÁTICO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7953375" y="3190875"/>
            <a:ext cx="419100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7" name="Text 15"/>
          <p:cNvSpPr/>
          <p:nvPr/>
        </p:nvSpPr>
        <p:spPr>
          <a:xfrm>
            <a:off x="10477500" y="2857500"/>
            <a:ext cx="1047750" cy="666750"/>
          </a:xfrm>
          <a:prstGeom prst="roundRect">
            <a:avLst>
              <a:gd name="adj" fmla="val 68571"/>
            </a:avLst>
          </a:prstGeom>
          <a:solidFill>
            <a:srgbClr val="EFEAF5"/>
          </a:solidFill>
          <a:ln w="15875">
            <a:solidFill>
              <a:srgbClr val="CFC3DE"/>
            </a:solidFill>
            <a:prstDash val="solid"/>
          </a:ln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75"/>
              </a:lnSpc>
              <a:buNone/>
            </a:pPr>
            <a:r>
              <a:rPr lang="en-US" sz="1100" b="1" dirty="0">
                <a:solidFill>
                  <a:srgbClr val="6D207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Fim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9763125" y="3190875"/>
            <a:ext cx="657225" cy="0"/>
          </a:xfrm>
          <a:prstGeom prst="line">
            <a:avLst/>
          </a:prstGeom>
          <a:noFill/>
          <a:ln w="22225">
            <a:solidFill>
              <a:srgbClr val="8E86A0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658368" y="4892040"/>
            <a:ext cx="10874959" cy="1005840"/>
          </a:xfrm>
          <a:prstGeom prst="roundRect">
            <a:avLst>
              <a:gd name="adj" fmla="val 9091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914400" y="49834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PREENCHER COM O SEU CASO</a:t>
            </a:r>
            <a:endParaRPr lang="en-US" sz="950" dirty="0"/>
          </a:p>
        </p:txBody>
      </p:sp>
      <p:sp>
        <p:nvSpPr>
          <p:cNvPr id="21" name="Text 19"/>
          <p:cNvSpPr/>
          <p:nvPr/>
        </p:nvSpPr>
        <p:spPr>
          <a:xfrm>
            <a:off x="914400" y="5184648"/>
            <a:ext cx="1036289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Troque as quatro caixas pelo fluxo real e pinte cada uma como no slide 6: azul = código, rosa = IA, lavanda = humano. Se o seu fluxo tem decisão, use losango e escreva a regra embaixo. O contraste de cor precisa deixar óbvio, de longe, onde você continuou na alça.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58368" y="457200"/>
            <a:ext cx="1087495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CASO PRÁTICO · RESULTADO E CICATRIZES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658368" y="777240"/>
            <a:ext cx="10874959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ganhei, o que 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quebrou</a:t>
            </a:r>
            <a:pPr indent="0" marL="0">
              <a:lnSpc>
                <a:spcPts val="3400"/>
              </a:lnSpc>
              <a:buNone/>
            </a:pPr>
            <a:r>
              <a:rPr lang="en-US" sz="3000" b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, e o que eu faria diferente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58368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5" name="Text 3"/>
          <p:cNvSpPr/>
          <p:nvPr/>
        </p:nvSpPr>
        <p:spPr>
          <a:xfrm>
            <a:off x="932688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 → DEPOIS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932688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por execução: de X para Y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que passou a caber: Z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 por execução: R$ —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número que você consiga defender vale mais que três estimados.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4489704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8" name="Text 6"/>
          <p:cNvSpPr/>
          <p:nvPr/>
        </p:nvSpPr>
        <p:spPr>
          <a:xfrm>
            <a:off x="4764024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QUEBROU</a:t>
            </a:r>
            <a:endParaRPr lang="en-US" sz="950" dirty="0"/>
          </a:p>
        </p:txBody>
      </p:sp>
      <p:sp>
        <p:nvSpPr>
          <p:cNvPr id="9" name="Text 7"/>
          <p:cNvSpPr/>
          <p:nvPr/>
        </p:nvSpPr>
        <p:spPr>
          <a:xfrm>
            <a:off x="4764024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falha mais interessante do projeto — de preferência uma em que o modelo errou com confiança e você só descobriu depois.</a:t>
            </a: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endParaRPr lang="en-US" sz="115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detectou, e qual guarda-corpo entrou depois.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8321040" y="2423160"/>
            <a:ext cx="3538728" cy="2514600"/>
          </a:xfrm>
          <a:prstGeom prst="roundRect">
            <a:avLst>
              <a:gd name="adj" fmla="val 3636"/>
            </a:avLst>
          </a:prstGeom>
          <a:solidFill>
            <a:srgbClr val="FEF6FA"/>
          </a:solidFill>
          <a:ln w="12700">
            <a:solidFill>
              <a:srgbClr val="E80070"/>
            </a:solidFill>
            <a:prstDash val="dash"/>
          </a:ln>
        </p:spPr>
      </p:sp>
      <p:sp>
        <p:nvSpPr>
          <p:cNvPr id="11" name="Text 9"/>
          <p:cNvSpPr/>
          <p:nvPr/>
        </p:nvSpPr>
        <p:spPr>
          <a:xfrm>
            <a:off x="8595360" y="2660904"/>
            <a:ext cx="29900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5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QUE EU FARIA DIFERENTE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8595360" y="2990088"/>
            <a:ext cx="2990088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150" dirty="0">
                <a:solidFill>
                  <a:srgbClr val="4A557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Uma coisa concreta. Normalmente: “teria escrito o eval antes do prompt” ou “teria começado por uma etapa menor”.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658368" y="5349240"/>
            <a:ext cx="10874959" cy="841248"/>
          </a:xfrm>
          <a:prstGeom prst="roundRect">
            <a:avLst>
              <a:gd name="adj" fmla="val 10870"/>
            </a:avLst>
          </a:prstGeom>
          <a:solidFill>
            <a:srgbClr val="F4F0F9"/>
          </a:solidFill>
          <a:ln w="12700">
            <a:solidFill>
              <a:srgbClr val="F4F0F9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914400" y="5440680"/>
            <a:ext cx="6400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E800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ONDE O HUMANO FICOU — E POR QUÊ</a:t>
            </a:r>
            <a:endParaRPr lang="en-US" sz="950" dirty="0"/>
          </a:p>
        </p:txBody>
      </p:sp>
      <p:sp>
        <p:nvSpPr>
          <p:cNvPr id="15" name="Text 13"/>
          <p:cNvSpPr/>
          <p:nvPr/>
        </p:nvSpPr>
        <p:spPr>
          <a:xfrm>
            <a:off x="914400" y="5641848"/>
            <a:ext cx="10362895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i="1" dirty="0">
                <a:solidFill>
                  <a:srgbClr val="1622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Amarre à árvore do slide 7: qual folha classificou cada etapa, e o que aconteceu quando você tentou tirar o humano de onde ele era necessário.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Automação de processos com IA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6961327" y="6327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A93A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· Caso prático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4E0E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10424160" y="-822960"/>
            <a:ext cx="2560320" cy="2560320"/>
          </a:xfrm>
          <a:prstGeom prst="roundRect">
            <a:avLst>
              <a:gd name="adj" fmla="val 10714"/>
            </a:avLst>
          </a:prstGeom>
          <a:solidFill>
            <a:srgbClr val="FFFFFF">
              <a:alpha val="7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58368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2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 LEVAR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658368" y="114300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Três frases e </a:t>
            </a:r>
            <a:pPr indent="0" marL="0">
              <a:buNone/>
            </a:pPr>
            <a:r>
              <a:rPr lang="en-US" sz="26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um desafio de uma semana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658368" y="2148840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225296" y="2148840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Desenhe o fluxo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antes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de escolher a ferramenta.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658368" y="289864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1225296" y="2898648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Pinte cada caixa: código, IA ou humano.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desenho pintado é a arquitetura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58368" y="3648456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1225296" y="3648456"/>
            <a:ext cx="9692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eval e sem dono, nenhuma automação sobrevive ao </a:t>
            </a:r>
            <a:pPr indent="0" marL="0">
              <a:lnSpc>
                <a:spcPts val="2300"/>
              </a:lnSpc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terceiro mês</a:t>
            </a:r>
            <a:pPr indent="0" marL="0">
              <a:lnSpc>
                <a:spcPts val="2300"/>
              </a:lnSpc>
              <a:buNone/>
            </a:pPr>
            <a:r>
              <a:rPr lang="en-US" sz="17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658368" y="4663440"/>
            <a:ext cx="10874959" cy="1234440"/>
          </a:xfrm>
          <a:prstGeom prst="roundRect">
            <a:avLst>
              <a:gd name="adj" fmla="val 7407"/>
            </a:avLst>
          </a:prstGeom>
          <a:solidFill>
            <a:srgbClr val="FFFFFF">
              <a:alpha val="10000"/>
            </a:srgbClr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969264" y="4828032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180" kern="0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DESAFIO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969264" y="5084064"/>
            <a:ext cx="10253167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Escolha um processo que você executa toda semana. Desenhe o fluxo numa folha. Pinte as caixas. Automatize </a:t>
            </a:r>
            <a:pPr indent="0" marL="0">
              <a:lnSpc>
                <a:spcPts val="1900"/>
              </a:lnSpc>
              <a:buNone/>
            </a:pPr>
            <a:r>
              <a:rPr lang="en-US" sz="13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só a mais azul</a:t>
            </a:r>
            <a:pPr indent="0" marL="0">
              <a:lnSpc>
                <a:spcPts val="1900"/>
              </a:lnSpc>
              <a:buNone/>
            </a:pPr>
            <a:r>
              <a:rPr lang="en-US" sz="135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— a mais determinística. Escreva os 20 casos de eval antes do prompt. Meça. Depois volte para a segunda caixa.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658368" y="6080760"/>
            <a:ext cx="7315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8FC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Obrigado — perguntas?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Automação de processos com IA</dc:title>
  <dc:subject>PptxGenJS Presentation</dc:subject>
  <dc:creator>Gabriel Corrêa</dc:creator>
  <cp:lastModifiedBy>Gabriel Corrêa</cp:lastModifiedBy>
  <cp:revision>1</cp:revision>
  <dcterms:created xsi:type="dcterms:W3CDTF">2026-07-31T17:53:45Z</dcterms:created>
  <dcterms:modified xsi:type="dcterms:W3CDTF">2026-07-31T17:53:45Z</dcterms:modified>
</cp:coreProperties>
</file>