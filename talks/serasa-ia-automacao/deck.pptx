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 e a promessa em uma frase: vocês vão sair com um roteiro de entrevista, uma notação de fluxograma e uma regra de decisão. Prometa o kit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 em 30 segundos, não currículo. A frase do painel escuro é a tese da palestra inteira: script / IA / pessoa. Ela volta no slide 8.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pontuação. Encene o diálogo: faça a pergunta errada em voz alta e dê a resposta que sempre vem. A linha de baixo é o roteiro — aponte pra ela.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artefato do slide. Leia as sete em voz alta, rápido, e pare na 2 e na 3 — são as duas destacadas. Diga que este slide está no kit.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Ensine a notação inteira aqui — são só quatro formas. A regra 2 (losango sem regra escrita) é a que mais gera pergunta; guarde um exemplo na manga.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Aponte cada fala e a caixa que ela virou. O ponto alto é a quinta: losango + regra de graça. Diga que nada aqui é sobre IA ainda.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Distinção central da palestra. Pergunte quem já usa IA no dia a dia (muitas mãos) e quem tem IA rodando sem supervisão em produção (poucas). A diferença entre as duas mãos é este slide.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slide que a plateia fotografa. As três frases entre aspas são o gancho: elas vêm da entrevista do slide 4, então o método fecha aqui. Termine lendo a ordem de perguntar.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alto da primeira metade: a arquitetura apareceu sem ninguém escrever documento. Fale o placar em voz alta — 3 de 6 caixas viraram Python.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o código linha a linha, devagar. O campo faltou_contexto é o detalhe que ninguém espera — sem ele o modelo nunca diz 'não sei'. O limiar sai do eval, não do chute.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consulta — não leia linha por linha. Fale as duas rosas (orquestração e eval) e as três confusões do rodapé. Se precisar cortar tempo, este é o slide que encurta.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substituir pelos slides do caso real. Três blocos, na ordem: processo + a fala que virou losango; o fluxo pintado com placar; o resultado e o que quebrou. ~4 min quando estiver pronto.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PENDENTE: publicar o repositório e trocar a caixa tracejada por link + QR. Diga que o kit é o motivo de ninguém precisar anotar nada durante a palestra.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Fecho. As três frases são o resumo da palestra inteira — leia devagar. O desafio de uma hora é o call to action: não é 'automatize um processo', é 'faça uma entrevista'.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a IA ajuda — e onde um script resolve melhor.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ESTÁ FALANDO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371600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Bruno Prata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58368" y="21945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Especialista em Dados no </a:t>
            </a:r>
            <a:pPr indent="0" marL="0">
              <a:buNone/>
            </a:pPr>
            <a:r>
              <a:rPr lang="en-US" sz="1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Nubank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58368" y="2834640"/>
            <a:ext cx="16916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Grupo Boticário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478024" y="2834640"/>
            <a:ext cx="86868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iFood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474720" y="2834640"/>
            <a:ext cx="100584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EBANX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608576" y="2834640"/>
            <a:ext cx="1051560" cy="329184"/>
          </a:xfrm>
          <a:prstGeom prst="roundRect">
            <a:avLst>
              <a:gd name="adj" fmla="val 16667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Nubank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58368" y="3346704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Administração — UFPR  ·  6+ anos entre análise de dados, BI e decisão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7040880" y="1325880"/>
            <a:ext cx="4480560" cy="2377440"/>
          </a:xfrm>
          <a:prstGeom prst="roundRect">
            <a:avLst>
              <a:gd name="adj" fmla="val 5000"/>
            </a:avLst>
          </a:prstGeom>
          <a:solidFill>
            <a:srgbClr val="4E0E6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536192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EU FAÇO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6912" y="1810512"/>
            <a:ext cx="396849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últimos anos foram automatizando processo de decisão: entender como ele acontece hoje e devolver a parte repetitiva pra máquina — </a:t>
            </a:r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script quando dá, IA quando é linguagem, pessoa quando o erro custa caro</a:t>
            </a:r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EDE4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58368" y="4160520"/>
            <a:ext cx="10874959" cy="914400"/>
          </a:xfrm>
          <a:prstGeom prst="roundRect">
            <a:avLst>
              <a:gd name="adj" fmla="val 1000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160520"/>
            <a:ext cx="45720" cy="91440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42519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COMBINADO DESTA PALESTRA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4471416"/>
            <a:ext cx="10362895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demo de ferramenta. Em 25 minutos você sai com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roteiro de entrevista, uma notação de fluxograma e uma regra de decisão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dá pra aplicar no seu processo amanhã de manhã — mais um kit de arquivos pra baixar no fim.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ISSO COMEÇA ERRADO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pergunta é sempre </a:t>
            </a:r>
            <a:pPr indent="0" marL="0">
              <a:buNone/>
            </a:pPr>
            <a:r>
              <a:rPr lang="en-US" sz="3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errada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58368" y="2340864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C9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PERGUNTA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807208" y="22860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vocês querem automatizar?”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58368" y="2999232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C9B6D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PESSOA RESPONDE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807208" y="2944368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“Queria um bot que respondesse os chamados.”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2807208" y="3621024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Isso não é o processo. É um palpite de solução — e quem constrói em cima dele automatiza o que alguém imaginou, não o trabalho que existe.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" y="4526280"/>
            <a:ext cx="1920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PERGUNTE ASSIM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807208" y="4471416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58368" y="57150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CAMINHO DE HOJE   </a:t>
            </a:r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conversar → desenhar → decidir quem faz cada caixa → ferramentas → um caso → </a:t>
            </a:r>
            <a:pPr indent="0" marL="0">
              <a:lnSpc>
                <a:spcPts val="17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pra baixar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1 · A CONVERSA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 que arrancam o processo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inteiro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meia hora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00784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79222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225296" y="18105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“Me conta o que você fez ontem, na ordem.”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184648" y="1810512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etapas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reais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não a versão oficial do gestor.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235708"/>
            <a:ext cx="10874959" cy="534924"/>
          </a:xfrm>
          <a:prstGeom prst="roundRect">
            <a:avLst>
              <a:gd name="adj" fmla="val 10256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8096" y="232714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225296" y="234543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te faz parar e perguntar pra alguém?”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184648" y="2345436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resposta é um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vem com a regra junto.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2770632"/>
            <a:ext cx="10874959" cy="534924"/>
          </a:xfrm>
          <a:prstGeom prst="roundRect">
            <a:avLst>
              <a:gd name="adj" fmla="val 10256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68096" y="2862072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25296" y="288036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você copia de um lugar pro outro?”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5184648" y="2880360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Digitação pura.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primeira caixa que vira script.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58368" y="3305556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68096" y="3396996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225296" y="341528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“Quando isso dá errado, como você descobre?”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5184648" y="3415284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resposta aqui,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automatize ainda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58368" y="3840480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68096" y="3931920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225296" y="395020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“Qual é o caso chato que sempre aparece?”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184648" y="3950208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exceções. Viram os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casos de teste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depois.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58368" y="4375404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466844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1225296" y="448513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“Quantas vezes você faz isso por dia?”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5184648" y="4485132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Frequência.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rara não paga automação.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58368" y="4910328"/>
            <a:ext cx="10874959" cy="9144"/>
          </a:xfrm>
          <a:prstGeom prst="rect">
            <a:avLst/>
          </a:prstGeom>
          <a:solidFill>
            <a:srgbClr val="E3DCE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8096" y="5001768"/>
            <a:ext cx="3840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9AF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225296" y="502005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você errar aqui, o que acontece?”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5184648" y="5020056"/>
            <a:ext cx="6263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do erro. Decide se a etapa </a:t>
            </a:r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rodar sozinha.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658368" y="5559552"/>
            <a:ext cx="10874959" cy="603504"/>
          </a:xfrm>
          <a:prstGeom prst="roundRect">
            <a:avLst>
              <a:gd name="adj" fmla="val 15152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8368" y="5559552"/>
            <a:ext cx="45720" cy="603504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14400" y="565099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 DELAS FAZEM 70% DO TRABALHO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14400" y="5870448"/>
            <a:ext cx="1036289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te entrega os losangos; 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as caixas que viram script. Grave a conversa e desenhe em cima da transcrição — não da memória.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Conversar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O DESENHO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 e três regras. </a:t>
            </a:r>
            <a:pPr indent="0" marL="0">
              <a:lnSpc>
                <a:spcPts val="3400"/>
              </a:lnSpc>
              <a:buNone/>
            </a:pPr>
            <a:r>
              <a:rPr lang="en-US" sz="29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BPMN.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658368" y="1874520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8368" y="18745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1847088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o nome da caixa tem “e”, são duas caixas. “Registrar e classificar” esconde exatamente a etapa que você ia automatizar.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679192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8368" y="26791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97280" y="265176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a regra escrita embaixo.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Losango sem regra é decisão que ninguém revisou — e é onde a automação quebra três meses depois.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58368" y="3483864"/>
            <a:ext cx="292608" cy="292608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34838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097280" y="3456432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as duas saídas.</a:t>
            </a:r>
            <a:pPr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Seta sem rótulo esconde o caminho que ninguém tratou. Na dúvida entre ação e decisão, é decisão.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8368" y="4370832"/>
            <a:ext cx="5486400" cy="914400"/>
          </a:xfrm>
          <a:prstGeom prst="roundRect">
            <a:avLst>
              <a:gd name="adj" fmla="val 9000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" y="4370832"/>
            <a:ext cx="45720" cy="91440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446227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QUE DESENHAR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77824" y="4663440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Papel, na frente da pessoa, na hora. Depois passe pra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Mermaid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draw.io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Mermaid é texto, então versiona no repo e o diff mostra quando o processo mudou.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856694" y="151790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999340" y="1971446"/>
            <a:ext cx="1528354" cy="529829"/>
          </a:xfrm>
          <a:prstGeom prst="roundRect">
            <a:avLst>
              <a:gd name="adj" fmla="val 86292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5"/>
              </a:lnSpc>
              <a:buNone/>
            </a:pPr>
            <a:r>
              <a:rPr lang="en-US" sz="1444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444" dirty="0"/>
          </a:p>
        </p:txBody>
      </p:sp>
      <p:sp>
        <p:nvSpPr>
          <p:cNvPr id="20" name="Text 18"/>
          <p:cNvSpPr/>
          <p:nvPr/>
        </p:nvSpPr>
        <p:spPr>
          <a:xfrm>
            <a:off x="8731475" y="2124282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284" dirty="0"/>
          </a:p>
        </p:txBody>
      </p:sp>
      <p:sp>
        <p:nvSpPr>
          <p:cNvPr id="21" name="Text 19"/>
          <p:cNvSpPr/>
          <p:nvPr/>
        </p:nvSpPr>
        <p:spPr>
          <a:xfrm>
            <a:off x="6999340" y="2827325"/>
            <a:ext cx="1528354" cy="529829"/>
          </a:xfrm>
          <a:prstGeom prst="roundRect">
            <a:avLst>
              <a:gd name="adj" fmla="val 15533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524" dirty="0"/>
          </a:p>
        </p:txBody>
      </p:sp>
      <p:sp>
        <p:nvSpPr>
          <p:cNvPr id="22" name="Text 20"/>
          <p:cNvSpPr/>
          <p:nvPr/>
        </p:nvSpPr>
        <p:spPr>
          <a:xfrm>
            <a:off x="8731475" y="289864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284" dirty="0"/>
          </a:p>
        </p:txBody>
      </p:sp>
      <p:sp>
        <p:nvSpPr>
          <p:cNvPr id="23" name="Text 21"/>
          <p:cNvSpPr/>
          <p:nvPr/>
        </p:nvSpPr>
        <p:spPr>
          <a:xfrm>
            <a:off x="8731475" y="3122807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284" dirty="0"/>
          </a:p>
        </p:txBody>
      </p:sp>
      <p:sp>
        <p:nvSpPr>
          <p:cNvPr id="24" name="Text 22"/>
          <p:cNvSpPr/>
          <p:nvPr/>
        </p:nvSpPr>
        <p:spPr>
          <a:xfrm>
            <a:off x="6999340" y="3683203"/>
            <a:ext cx="1528354" cy="69285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5"/>
              </a:lnSpc>
              <a:buNone/>
            </a:pPr>
            <a:r>
              <a:rPr lang="en-US" sz="1524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524" dirty="0"/>
          </a:p>
        </p:txBody>
      </p:sp>
      <p:sp>
        <p:nvSpPr>
          <p:cNvPr id="25" name="Text 23"/>
          <p:cNvSpPr/>
          <p:nvPr/>
        </p:nvSpPr>
        <p:spPr>
          <a:xfrm>
            <a:off x="8731475" y="3815661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284" dirty="0"/>
          </a:p>
        </p:txBody>
      </p:sp>
      <p:sp>
        <p:nvSpPr>
          <p:cNvPr id="26" name="Text 24"/>
          <p:cNvSpPr/>
          <p:nvPr/>
        </p:nvSpPr>
        <p:spPr>
          <a:xfrm>
            <a:off x="8731475" y="403981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284" dirty="0"/>
          </a:p>
        </p:txBody>
      </p:sp>
      <p:sp>
        <p:nvSpPr>
          <p:cNvPr id="27" name="Shape 25"/>
          <p:cNvSpPr/>
          <p:nvPr/>
        </p:nvSpPr>
        <p:spPr>
          <a:xfrm>
            <a:off x="6999340" y="4885509"/>
            <a:ext cx="1385708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8" name="Text 26"/>
          <p:cNvSpPr/>
          <p:nvPr/>
        </p:nvSpPr>
        <p:spPr>
          <a:xfrm>
            <a:off x="7264255" y="4610405"/>
            <a:ext cx="407561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64"/>
              </a:lnSpc>
              <a:buNone/>
            </a:pPr>
            <a:r>
              <a:rPr lang="en-US" sz="120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1203" dirty="0"/>
          </a:p>
        </p:txBody>
      </p:sp>
      <p:sp>
        <p:nvSpPr>
          <p:cNvPr id="29" name="Text 27"/>
          <p:cNvSpPr/>
          <p:nvPr/>
        </p:nvSpPr>
        <p:spPr>
          <a:xfrm>
            <a:off x="8731475" y="4671539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284" dirty="0"/>
          </a:p>
        </p:txBody>
      </p:sp>
      <p:sp>
        <p:nvSpPr>
          <p:cNvPr id="30" name="Text 28"/>
          <p:cNvSpPr/>
          <p:nvPr/>
        </p:nvSpPr>
        <p:spPr>
          <a:xfrm>
            <a:off x="8731475" y="4895698"/>
            <a:ext cx="2547257" cy="2241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69"/>
              </a:lnSpc>
              <a:buNone/>
            </a:pPr>
            <a:r>
              <a:rPr lang="en-US" sz="1284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284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2 · NA PRÁTICA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 fala ao desenho: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frases viram um fluxo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78308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58368" y="178308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1837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“Chega um e-mail, ou o cliente abre pelo formulário.”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59536" y="222199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início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58368" y="251460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" y="251460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9536" y="256946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“Aí eu jogo no sistema: copio nome, CPF e o texto do chamado.”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9536" y="295351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registrar chamado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58368" y="324612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8368" y="324612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9536" y="330098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“Leio e vejo do que se trata — cobrança, fraude, cadastro.”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59536" y="368503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classificar assunto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58368" y="397764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977640"/>
            <a:ext cx="41148" cy="676656"/>
          </a:xfrm>
          <a:prstGeom prst="rect">
            <a:avLst/>
          </a:prstGeom>
          <a:solidFill>
            <a:srgbClr val="EAE3F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403250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“Escrevo a resposta. Geralmente é parecida com outras que já mandei.”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59536" y="441655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ação · redigir resposta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58368" y="4709160"/>
            <a:ext cx="5257800" cy="676656"/>
          </a:xfrm>
          <a:prstGeom prst="roundRect">
            <a:avLst>
              <a:gd name="adj" fmla="val 9459"/>
            </a:avLst>
          </a:prstGeom>
          <a:solidFill>
            <a:srgbClr val="FEF6F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8368" y="4709160"/>
            <a:ext cx="41148" cy="676656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47640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“Se for desconto acima de 10%, eu paro e mando pro meu gestor.”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59536" y="5148072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losango + a regra, na mesma frase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7279767" y="1774393"/>
            <a:ext cx="1419606" cy="308610"/>
          </a:xfrm>
          <a:prstGeom prst="roundRect">
            <a:avLst>
              <a:gd name="adj" fmla="val 148148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875" dirty="0"/>
          </a:p>
        </p:txBody>
      </p:sp>
      <p:sp>
        <p:nvSpPr>
          <p:cNvPr id="26" name="Text 24"/>
          <p:cNvSpPr/>
          <p:nvPr/>
        </p:nvSpPr>
        <p:spPr>
          <a:xfrm>
            <a:off x="7279767" y="2280514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923" dirty="0"/>
          </a:p>
        </p:txBody>
      </p:sp>
      <p:sp>
        <p:nvSpPr>
          <p:cNvPr id="27" name="Text 25"/>
          <p:cNvSpPr/>
          <p:nvPr/>
        </p:nvSpPr>
        <p:spPr>
          <a:xfrm>
            <a:off x="7279767" y="2798978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923" dirty="0"/>
          </a:p>
        </p:txBody>
      </p:sp>
      <p:sp>
        <p:nvSpPr>
          <p:cNvPr id="28" name="Text 26"/>
          <p:cNvSpPr/>
          <p:nvPr/>
        </p:nvSpPr>
        <p:spPr>
          <a:xfrm>
            <a:off x="7279767" y="331744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923" dirty="0"/>
          </a:p>
        </p:txBody>
      </p:sp>
      <p:sp>
        <p:nvSpPr>
          <p:cNvPr id="29" name="Text 27"/>
          <p:cNvSpPr/>
          <p:nvPr/>
        </p:nvSpPr>
        <p:spPr>
          <a:xfrm>
            <a:off x="7279767" y="3860597"/>
            <a:ext cx="1419606" cy="592531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826" dirty="0"/>
          </a:p>
          <a:p>
            <a:pPr algn="ctr" indent="0" marL="0">
              <a:lnSpc>
                <a:spcPts val="1033"/>
              </a:lnSpc>
              <a:buNone/>
            </a:pPr>
            <a:r>
              <a:rPr lang="en-US" sz="82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826" dirty="0"/>
          </a:p>
        </p:txBody>
      </p:sp>
      <p:sp>
        <p:nvSpPr>
          <p:cNvPr id="30" name="Text 28"/>
          <p:cNvSpPr/>
          <p:nvPr/>
        </p:nvSpPr>
        <p:spPr>
          <a:xfrm>
            <a:off x="9007983" y="3996385"/>
            <a:ext cx="1296162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923" dirty="0"/>
          </a:p>
        </p:txBody>
      </p:sp>
      <p:sp>
        <p:nvSpPr>
          <p:cNvPr id="31" name="Text 29"/>
          <p:cNvSpPr/>
          <p:nvPr/>
        </p:nvSpPr>
        <p:spPr>
          <a:xfrm>
            <a:off x="7279767" y="4662983"/>
            <a:ext cx="1419606" cy="320954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154"/>
              </a:lnSpc>
              <a:buNone/>
            </a:pPr>
            <a:r>
              <a:rPr lang="en-US" sz="923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923" dirty="0"/>
          </a:p>
        </p:txBody>
      </p:sp>
      <p:sp>
        <p:nvSpPr>
          <p:cNvPr id="32" name="Text 30"/>
          <p:cNvSpPr/>
          <p:nvPr/>
        </p:nvSpPr>
        <p:spPr>
          <a:xfrm>
            <a:off x="9810369" y="4662983"/>
            <a:ext cx="617220" cy="320954"/>
          </a:xfrm>
          <a:prstGeom prst="roundRect">
            <a:avLst>
              <a:gd name="adj" fmla="val 142450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093"/>
              </a:lnSpc>
              <a:buNone/>
            </a:pPr>
            <a:r>
              <a:rPr lang="en-US" sz="875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875" dirty="0"/>
          </a:p>
        </p:txBody>
      </p:sp>
      <p:sp>
        <p:nvSpPr>
          <p:cNvPr id="33" name="Shape 31"/>
          <p:cNvSpPr/>
          <p:nvPr/>
        </p:nvSpPr>
        <p:spPr>
          <a:xfrm>
            <a:off x="7989570" y="208300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7989570" y="2601468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7989570" y="3119933"/>
            <a:ext cx="0" cy="16047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7989570" y="3638398"/>
            <a:ext cx="0" cy="185166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8699373" y="4156862"/>
            <a:ext cx="27157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7989570" y="4453128"/>
            <a:ext cx="0" cy="172822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9656064" y="4317340"/>
            <a:ext cx="0" cy="19751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H="1">
            <a:off x="8390763" y="4514850"/>
            <a:ext cx="1265301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390763" y="4514850"/>
            <a:ext cx="0" cy="11110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2" name="Shape 40"/>
          <p:cNvSpPr/>
          <p:nvPr/>
        </p:nvSpPr>
        <p:spPr>
          <a:xfrm>
            <a:off x="8699373" y="4823460"/>
            <a:ext cx="1073963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8748751" y="3990213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729" dirty="0"/>
          </a:p>
        </p:txBody>
      </p:sp>
      <p:sp>
        <p:nvSpPr>
          <p:cNvPr id="44" name="Text 42"/>
          <p:cNvSpPr/>
          <p:nvPr/>
        </p:nvSpPr>
        <p:spPr>
          <a:xfrm>
            <a:off x="8057464" y="4471645"/>
            <a:ext cx="246888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948"/>
              </a:lnSpc>
              <a:buNone/>
            </a:pPr>
            <a:r>
              <a:rPr lang="en-US" sz="729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729" dirty="0"/>
          </a:p>
        </p:txBody>
      </p:sp>
      <p:sp>
        <p:nvSpPr>
          <p:cNvPr id="45" name="Text 43"/>
          <p:cNvSpPr/>
          <p:nvPr/>
        </p:nvSpPr>
        <p:spPr>
          <a:xfrm>
            <a:off x="7279767" y="5107381"/>
            <a:ext cx="203682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11"/>
              </a:lnSpc>
              <a:buNone/>
            </a:pPr>
            <a:r>
              <a:rPr lang="en-US" sz="778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778" dirty="0"/>
          </a:p>
        </p:txBody>
      </p:sp>
      <p:sp>
        <p:nvSpPr>
          <p:cNvPr id="46" name="Text 44"/>
          <p:cNvSpPr/>
          <p:nvPr/>
        </p:nvSpPr>
        <p:spPr>
          <a:xfrm>
            <a:off x="7279767" y="5255514"/>
            <a:ext cx="2345436" cy="1357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074"/>
              </a:lnSpc>
              <a:buNone/>
            </a:pPr>
            <a:r>
              <a:rPr lang="en-US" sz="826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826" dirty="0"/>
          </a:p>
        </p:txBody>
      </p:sp>
      <p:sp>
        <p:nvSpPr>
          <p:cNvPr id="47" name="Shape 45"/>
          <p:cNvSpPr/>
          <p:nvPr/>
        </p:nvSpPr>
        <p:spPr>
          <a:xfrm>
            <a:off x="658368" y="5614416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58368" y="5614416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5742432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quinta frase entregou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e a regra na mesma respiração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 repare: até aqui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foi dito sobre 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Desenhar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ONDE A IA ENTRA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escolher modelo: você quer a IA como 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como 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solução</a:t>
            </a:r>
            <a:pPr indent="0" marL="0">
              <a:lnSpc>
                <a:spcPts val="31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65836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ferramenta — um copiloto seu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está no meio.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Cada uso é uma decisão sua, e você vê a saída antes de qualquer coisa acontecer.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5097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Escrever o script · entender uma base nova · gerar o SQL · revisar um texto · virar 40 páginas de PDF em resumo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5097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precisa de eval, log nem dono.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Precisa de você prestando atenção. Começa hoje, sem projeto e sem aprovação.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8728" y="1920240"/>
            <a:ext cx="5254600" cy="3200400"/>
          </a:xfrm>
          <a:prstGeom prst="roundRect">
            <a:avLst>
              <a:gd name="adj" fmla="val 285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71336" y="2139696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como solução — dentro do processo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71336" y="2523744"/>
            <a:ext cx="4669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Roda sem você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 vezes por dia, e o resultado vai direto pro cliente ou pro sistema seguinte.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71336" y="3145536"/>
            <a:ext cx="46693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 todo chamado que entra · extrair campo de documento · redigir a primeira versão da resposta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571336" y="4114800"/>
            <a:ext cx="4669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 de tudo que um sistema precisa: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saída com schema, limiar de confiança, log por execução, dono com nome e um conjunto de casos de teste.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58368" y="5285232"/>
            <a:ext cx="10874959" cy="804672"/>
          </a:xfrm>
          <a:prstGeom prst="roundRect">
            <a:avLst>
              <a:gd name="adj" fmla="val 11364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285232"/>
            <a:ext cx="45720" cy="80467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376672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CONFUSÃO QUE MATA PROJETO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596128"/>
            <a:ext cx="10362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Quase todo piloto que morre no terceiro mês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solução tratada como se fosse ferramenta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funcionou lindo no chat de quem construiu, e ninguém desenhou o que acontece quando erra às 3 da manhã sem ninguém olhando.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demo é ferramenta. Produção é solução.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CLASSIFICAÇÃO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caixa do fluxo vira uma de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2F7FC"/>
          </a:solidFill>
          <a:ln w="12700">
            <a:solidFill>
              <a:srgbClr val="1D4F9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tradicional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914400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545336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1970532" y="2414016"/>
            <a:ext cx="35204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395728" y="2414016"/>
            <a:ext cx="48920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regex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958084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DCE8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cron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914400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914400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fixa, a entrada é estruturada e a saída é sempre a mesma.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914400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“eu copio daqui pra lá” · “rodo esse relatório toda segunda”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14400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1D4F9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POR QUE NÃO IA AQUI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914400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Mais barato, determinístico e testável.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 e confia pra sempre.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74794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0826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4630826" y="2414016"/>
            <a:ext cx="96926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+ schema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673242" y="2414016"/>
            <a:ext cx="55778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limiar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304178" y="2414016"/>
            <a:ext cx="420624" cy="237744"/>
          </a:xfrm>
          <a:prstGeom prst="roundRect">
            <a:avLst>
              <a:gd name="adj" fmla="val 15385"/>
            </a:avLst>
          </a:prstGeom>
          <a:solidFill>
            <a:srgbClr val="FBDCE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630826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4630826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entrada é linguagem, a regra é ambígua, e verificar custa menos que fazer.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630826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630826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“depende do que tá escrito” · “eu leio e decido na hora”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630826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PREÇO QUE VEM JUNTO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630826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determinística. Sem casos de teste, limiar e um caminho de “não sei”, você trocou trabalho por risco.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091221" y="1828800"/>
            <a:ext cx="3442106" cy="3246120"/>
          </a:xfrm>
          <a:prstGeom prst="roundRect">
            <a:avLst>
              <a:gd name="adj" fmla="val 2817"/>
            </a:avLst>
          </a:prstGeom>
          <a:solidFill>
            <a:srgbClr val="F4F0F9"/>
          </a:solidFill>
          <a:ln w="12700">
            <a:solidFill>
              <a:srgbClr val="6D207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347253" y="2029968"/>
            <a:ext cx="293004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450" dirty="0"/>
          </a:p>
        </p:txBody>
      </p:sp>
      <p:sp>
        <p:nvSpPr>
          <p:cNvPr id="31" name="Text 29"/>
          <p:cNvSpPr/>
          <p:nvPr/>
        </p:nvSpPr>
        <p:spPr>
          <a:xfrm>
            <a:off x="8347253" y="2414016"/>
            <a:ext cx="832104" cy="237744"/>
          </a:xfrm>
          <a:prstGeom prst="roundRect">
            <a:avLst>
              <a:gd name="adj" fmla="val 15385"/>
            </a:avLst>
          </a:prstGeom>
          <a:solidFill>
            <a:srgbClr val="E6D8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julgamento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8347253" y="2798064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QUANDO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8347253" y="2980944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 e irreversível — ou a regra ainda nem existe.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347253" y="3511296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COMO APARECE NA ENTREVISTA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347253" y="3694176"/>
            <a:ext cx="293004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“isso aí eu levo pro meu gestor” · “cada caso é um caso”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8347253" y="4224528"/>
            <a:ext cx="29300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100" kern="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BOA NOTÍCIA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8347253" y="4407408"/>
            <a:ext cx="29300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Costuma ser pouco volume.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Manter gente ali é barato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é o que te deixa automatizar o resto sem medo.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58368" y="5257800"/>
            <a:ext cx="10874959" cy="822960"/>
          </a:xfrm>
          <a:prstGeom prst="roundRect">
            <a:avLst>
              <a:gd name="adj" fmla="val 1111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58368" y="5257800"/>
            <a:ext cx="45720" cy="82296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53492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ORDEM DE PERGUNTAR — UMA VEZ POR CAIXA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914400" y="5568696"/>
            <a:ext cx="1036289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Dá pra fazer com um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Se dá, faça com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 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não dá, o erro é caro e irreversível? Se é, humano decide (ou a IA propõe e o humano aprova).  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não é, IA com revisão por amostragem.  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IA é a terceira pergunta, nunca a primeira.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O ENTREGÁVEL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pronto: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1146850" y="1917834"/>
            <a:ext cx="1660358" cy="360947"/>
          </a:xfrm>
          <a:prstGeom prst="roundRect">
            <a:avLst>
              <a:gd name="adj" fmla="val 126667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Chamado chega</a:t>
            </a:r>
            <a:endParaRPr lang="en-US" sz="1023" dirty="0"/>
          </a:p>
        </p:txBody>
      </p:sp>
      <p:sp>
        <p:nvSpPr>
          <p:cNvPr id="6" name="Text 4"/>
          <p:cNvSpPr/>
          <p:nvPr/>
        </p:nvSpPr>
        <p:spPr>
          <a:xfrm>
            <a:off x="1146850" y="2509787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chamado</a:t>
            </a:r>
            <a:endParaRPr lang="en-US" sz="1080" dirty="0"/>
          </a:p>
        </p:txBody>
      </p:sp>
      <p:sp>
        <p:nvSpPr>
          <p:cNvPr id="7" name="Text 5"/>
          <p:cNvSpPr/>
          <p:nvPr/>
        </p:nvSpPr>
        <p:spPr>
          <a:xfrm>
            <a:off x="1146850" y="3116179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 assunto</a:t>
            </a:r>
            <a:endParaRPr lang="en-US" sz="1080" dirty="0"/>
          </a:p>
        </p:txBody>
      </p:sp>
      <p:sp>
        <p:nvSpPr>
          <p:cNvPr id="8" name="Text 6"/>
          <p:cNvSpPr/>
          <p:nvPr/>
        </p:nvSpPr>
        <p:spPr>
          <a:xfrm>
            <a:off x="1146850" y="372257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FBE0EE"/>
          </a:solidFill>
          <a:ln w="15875">
            <a:solidFill>
              <a:srgbClr val="E8007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 resposta</a:t>
            </a:r>
            <a:endParaRPr lang="en-US" sz="1080" dirty="0"/>
          </a:p>
        </p:txBody>
      </p:sp>
      <p:sp>
        <p:nvSpPr>
          <p:cNvPr id="9" name="Text 7"/>
          <p:cNvSpPr/>
          <p:nvPr/>
        </p:nvSpPr>
        <p:spPr>
          <a:xfrm>
            <a:off x="1146850" y="4357838"/>
            <a:ext cx="1660358" cy="693019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</a:t>
            </a:r>
            <a:endParaRPr lang="en-US" sz="966" dirty="0"/>
          </a:p>
          <a:p>
            <a:pPr algn="ctr" indent="0" marL="0">
              <a:lnSpc>
                <a:spcPts val="1208"/>
              </a:lnSpc>
              <a:buNone/>
            </a:pPr>
            <a:r>
              <a:rPr lang="en-US" sz="966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acima de 10%?</a:t>
            </a:r>
            <a:endParaRPr lang="en-US" sz="966" dirty="0"/>
          </a:p>
        </p:txBody>
      </p:sp>
      <p:sp>
        <p:nvSpPr>
          <p:cNvPr id="10" name="Text 8"/>
          <p:cNvSpPr/>
          <p:nvPr/>
        </p:nvSpPr>
        <p:spPr>
          <a:xfrm>
            <a:off x="3168155" y="4516655"/>
            <a:ext cx="1515979" cy="375385"/>
          </a:xfrm>
          <a:prstGeom prst="roundRect">
            <a:avLst>
              <a:gd name="adj" fmla="val 21923"/>
            </a:avLst>
          </a:prstGeom>
          <a:solidFill>
            <a:srgbClr val="EEE3F4"/>
          </a:solidFill>
          <a:ln w="15875">
            <a:solidFill>
              <a:srgbClr val="6D207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aprova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1146850" y="5296301"/>
            <a:ext cx="1660358" cy="375385"/>
          </a:xfrm>
          <a:prstGeom prst="roundRect">
            <a:avLst>
              <a:gd name="adj" fmla="val 21923"/>
            </a:avLst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08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 resposta</a:t>
            </a:r>
            <a:endParaRPr lang="en-US" sz="1080" dirty="0"/>
          </a:p>
        </p:txBody>
      </p:sp>
      <p:sp>
        <p:nvSpPr>
          <p:cNvPr id="12" name="Text 10"/>
          <p:cNvSpPr/>
          <p:nvPr/>
        </p:nvSpPr>
        <p:spPr>
          <a:xfrm>
            <a:off x="4106619" y="5296301"/>
            <a:ext cx="721895" cy="375385"/>
          </a:xfrm>
          <a:prstGeom prst="roundRect">
            <a:avLst>
              <a:gd name="adj" fmla="val 121795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79"/>
              </a:lnSpc>
              <a:buNone/>
            </a:pPr>
            <a:r>
              <a:rPr lang="en-US" sz="1023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023" dirty="0"/>
          </a:p>
        </p:txBody>
      </p:sp>
      <p:sp>
        <p:nvSpPr>
          <p:cNvPr id="13" name="Shape 11"/>
          <p:cNvSpPr/>
          <p:nvPr/>
        </p:nvSpPr>
        <p:spPr>
          <a:xfrm>
            <a:off x="1977029" y="2278781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1977029" y="2885173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977029" y="3491564"/>
            <a:ext cx="0" cy="187693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977029" y="4097956"/>
            <a:ext cx="0" cy="216568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2807208" y="4704347"/>
            <a:ext cx="31763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977029" y="5050857"/>
            <a:ext cx="0" cy="202131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3926145" y="4892040"/>
            <a:ext cx="0" cy="27432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H="1">
            <a:off x="2446261" y="5166360"/>
            <a:ext cx="1479884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446261" y="5166360"/>
            <a:ext cx="0" cy="86627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2807208" y="5483994"/>
            <a:ext cx="1256097" cy="0"/>
          </a:xfrm>
          <a:prstGeom prst="line">
            <a:avLst/>
          </a:prstGeom>
          <a:noFill/>
          <a:ln w="19050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2864960" y="4509436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3" dirty="0"/>
          </a:p>
        </p:txBody>
      </p:sp>
      <p:sp>
        <p:nvSpPr>
          <p:cNvPr id="24" name="Text 22"/>
          <p:cNvSpPr/>
          <p:nvPr/>
        </p:nvSpPr>
        <p:spPr>
          <a:xfrm>
            <a:off x="2056437" y="5072514"/>
            <a:ext cx="288758" cy="1588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08"/>
              </a:lnSpc>
              <a:buNone/>
            </a:pPr>
            <a:r>
              <a:rPr lang="en-US" sz="853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3" dirty="0"/>
          </a:p>
        </p:txBody>
      </p:sp>
      <p:sp>
        <p:nvSpPr>
          <p:cNvPr id="25" name="Text 23"/>
          <p:cNvSpPr/>
          <p:nvPr/>
        </p:nvSpPr>
        <p:spPr>
          <a:xfrm>
            <a:off x="2893835" y="2596415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 · API do sistema</a:t>
            </a:r>
            <a:endParaRPr lang="en-US" sz="796" dirty="0"/>
          </a:p>
        </p:txBody>
      </p:sp>
      <p:sp>
        <p:nvSpPr>
          <p:cNvPr id="26" name="Text 24"/>
          <p:cNvSpPr/>
          <p:nvPr/>
        </p:nvSpPr>
        <p:spPr>
          <a:xfrm>
            <a:off x="2893835" y="3202806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</a:t>
            </a:r>
            <a:endParaRPr lang="en-US" sz="796" dirty="0"/>
          </a:p>
        </p:txBody>
      </p:sp>
      <p:sp>
        <p:nvSpPr>
          <p:cNvPr id="27" name="Text 25"/>
          <p:cNvSpPr/>
          <p:nvPr/>
        </p:nvSpPr>
        <p:spPr>
          <a:xfrm>
            <a:off x="2893835" y="3809198"/>
            <a:ext cx="1371600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alto volume + revisão</a:t>
            </a:r>
            <a:endParaRPr lang="en-US" sz="796" dirty="0"/>
          </a:p>
        </p:txBody>
      </p:sp>
      <p:sp>
        <p:nvSpPr>
          <p:cNvPr id="28" name="Text 26"/>
          <p:cNvSpPr/>
          <p:nvPr/>
        </p:nvSpPr>
        <p:spPr>
          <a:xfrm>
            <a:off x="4741886" y="4603282"/>
            <a:ext cx="1515979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baixo volume</a:t>
            </a:r>
            <a:endParaRPr lang="en-US" sz="796" dirty="0"/>
          </a:p>
        </p:txBody>
      </p:sp>
      <p:sp>
        <p:nvSpPr>
          <p:cNvPr id="29" name="Text 27"/>
          <p:cNvSpPr/>
          <p:nvPr/>
        </p:nvSpPr>
        <p:spPr>
          <a:xfrm>
            <a:off x="1146850" y="5722219"/>
            <a:ext cx="721895" cy="2021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96" b="1" spc="5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796" dirty="0"/>
          </a:p>
        </p:txBody>
      </p:sp>
      <p:sp>
        <p:nvSpPr>
          <p:cNvPr id="30" name="Shape 28"/>
          <p:cNvSpPr/>
          <p:nvPr/>
        </p:nvSpPr>
        <p:spPr>
          <a:xfrm>
            <a:off x="6675120" y="1965960"/>
            <a:ext cx="4846320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31152" y="213969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placar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6931152" y="2432304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ações + 1 decisão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→ 3 viram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 viram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continua </a:t>
            </a:r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humana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6931152" y="2816352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Metade do processo foi resolvida sem IA nenhuma. Isso é bom sinal, não fracasso.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675120" y="3429000"/>
            <a:ext cx="4846320" cy="1874520"/>
          </a:xfrm>
          <a:prstGeom prst="roundRect">
            <a:avLst>
              <a:gd name="adj" fmla="val 4878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931152" y="3602736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desenho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931152" y="38953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rosas são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em alto volume, com erro tolerável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ali que a IA se paga.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931152" y="4352544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lavanda são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poucos julgamentos, todos irreversíveis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continua humana, e é barato que continue.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6931152" y="4809744"/>
            <a:ext cx="43891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losango </a:t>
            </a:r>
            <a:pPr indent="0" marL="0">
              <a:lnSpc>
                <a:spcPts val="1400"/>
              </a:lnSpc>
              <a:buNone/>
            </a:pPr>
            <a:r>
              <a:rPr lang="en-US" sz="110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decisão de IA e não é — é 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desconto &gt; 0.10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69340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91286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797356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19302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070848" y="5504688"/>
            <a:ext cx="155448" cy="155448"/>
          </a:xfrm>
          <a:prstGeom prst="roundRect">
            <a:avLst>
              <a:gd name="adj" fmla="val 17647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9290304" y="54681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ONDE A IA VIRA SOLUÇÃO DE VERDADE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humano na alça são 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linhas</a:t>
            </a:r>
            <a:pPr indent="0" marL="0">
              <a:lnSpc>
                <a:spcPts val="3000"/>
              </a:lnSpc>
              <a:buNone/>
            </a:pPr>
            <a:r>
              <a:rPr lang="en-US" sz="26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um teste pra ver se ele é real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18836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658368" y="2121408"/>
            <a:ext cx="6720840" cy="3063240"/>
          </a:xfrm>
          <a:prstGeom prst="roundRect">
            <a:avLst>
              <a:gd name="adj" fmla="val 238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249424"/>
            <a:ext cx="6391656" cy="2807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"cobranca"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"cadastro"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"outro"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estruturada, não texto livre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(chamado.id, r, modelo=MODELO, prompt_v=PROMPT_V)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635240" y="2121408"/>
            <a:ext cx="388620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863840" y="22860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checkpoint é real? Três perguntas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863840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revisor tem tempo e informação pra discordar?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7863840" y="29992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 registro de quando ele discordou? Rejeição de 0% é alarme, não é qualidade.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863840" y="34015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 revisar por amostragem daria o mesmo, revisar item a item é teatro — e custa uma pessoa.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635240" y="3950208"/>
            <a:ext cx="3886200" cy="1234440"/>
          </a:xfrm>
          <a:prstGeom prst="roundRect">
            <a:avLst>
              <a:gd name="adj" fmla="val 7407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863840" y="411480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LGPD, art. 20.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 titular pode pedir revisão de decisão tomada </a:t>
            </a:r>
            <a:pPr indent="0" marL="0">
              <a:lnSpc>
                <a:spcPts val="1350"/>
              </a:lnSpc>
              <a:buNone/>
            </a:pPr>
            <a:r>
              <a:rPr lang="en-US" sz="1050" i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unicamente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forma automatizada. Em serviço financeiro isso define quais caixas </a:t>
            </a:r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saber qual versão do modelo decidiu o quê.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58368" y="5349240"/>
            <a:ext cx="10874959" cy="777240"/>
          </a:xfrm>
          <a:prstGeom prst="roundRect">
            <a:avLst>
              <a:gd name="adj" fmla="val 11765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58368" y="5349240"/>
            <a:ext cx="45720" cy="777240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4406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QUASE TODO MUNDO ESQUECE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4400" y="5660136"/>
            <a:ext cx="10362895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faltou_contexto, o modelo nunca diz “não sei” — ele chuta com confiança alta.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“Não sei” precisa ser saída válida e explicitamente permitida no prompt. E escalone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a sugestão junto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fila que chega em branco custa o mesmo que não ter automação.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PANORAMA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camadas — e as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pra produção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658368" y="175564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9536" y="189280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24128" y="184708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2944368" y="1865376"/>
            <a:ext cx="111008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Opus 5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127602" y="186537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Sonnet 5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4954219" y="1865376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Haiku 4.5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852160" y="186537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GPT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22162" y="1865376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 2.5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291426" y="1865376"/>
            <a:ext cx="1894637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Llama / Qwen self-hosted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9295790" y="1865376"/>
            <a:ext cx="205465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motor, não o produto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58368" y="227685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9536" y="241401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24128" y="236829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944368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3628339" y="2386584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383634" y="2386584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Gemini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104181" y="2386584"/>
            <a:ext cx="62462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aqui a IA é ferramenta: você no meio, sem log e sem eval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58368" y="27980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59536" y="2935224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24128" y="2889504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Agentes de código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44368" y="2907792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Code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3984955" y="2907792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Cursor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4668926" y="2907792"/>
            <a:ext cx="539496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Codex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281574" y="2907792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Copilot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73445" y="2907792"/>
            <a:ext cx="527700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leem e escrevem no seu repo, rodam comando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658368" y="3319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59536" y="3456432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24128" y="3410712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e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44368" y="3429000"/>
            <a:ext cx="61081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Skills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3628339" y="3429000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134917" y="3429000"/>
            <a:ext cx="721553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instrução reutilizável · MCP = um protocolo no lugar de N integrações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58368" y="384048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59536" y="3977640"/>
            <a:ext cx="45720" cy="201168"/>
          </a:xfrm>
          <a:prstGeom prst="roundRect">
            <a:avLst>
              <a:gd name="adj" fmla="val 40000"/>
            </a:avLst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24128" y="3931920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SDK / API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2944368" y="3950208"/>
            <a:ext cx="1324051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Claude Agent SDK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341571" y="3950208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API direta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5310835" y="3950208"/>
            <a:ext cx="824789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LangGraph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6208776" y="3950208"/>
            <a:ext cx="967435" cy="256032"/>
          </a:xfrm>
          <a:prstGeom prst="roundRect">
            <a:avLst>
              <a:gd name="adj" fmla="val 14286"/>
            </a:avLst>
          </a:prstGeom>
          <a:solidFill>
            <a:srgbClr val="F4F0F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D207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Pydantic AI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7285939" y="3950208"/>
            <a:ext cx="4064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4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vira produto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58368" y="436168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59536" y="4498848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24128" y="4453128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2944368" y="4471416"/>
            <a:ext cx="39685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n8n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414370" y="4471416"/>
            <a:ext cx="68214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Airflow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4169664" y="4471416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Temporal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4996282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Step Functions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6250838" y="4471416"/>
            <a:ext cx="1181405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 Actions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7541971" y="4471416"/>
            <a:ext cx="38084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retry, idempotência, estado, quem dispara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658368" y="488289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9536" y="5020056"/>
            <a:ext cx="45720" cy="201168"/>
          </a:xfrm>
          <a:prstGeom prst="roundRect">
            <a:avLst>
              <a:gd name="adj" fmla="val 40000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4128" y="4974336"/>
            <a:ext cx="1783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2944368" y="4992624"/>
            <a:ext cx="1965960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casos versionados no repo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4983480" y="4992624"/>
            <a:ext cx="753466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Langfuse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5810098" y="4992624"/>
            <a:ext cx="896112" cy="256032"/>
          </a:xfrm>
          <a:prstGeom prst="roundRect">
            <a:avLst>
              <a:gd name="adj" fmla="val 14286"/>
            </a:avLst>
          </a:prstGeom>
          <a:solidFill>
            <a:srgbClr val="FBE0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Braintrust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6815938" y="4992624"/>
            <a:ext cx="45345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070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isso, o terceiro mês te pega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658368" y="5559552"/>
            <a:ext cx="10874959" cy="530352"/>
          </a:xfrm>
          <a:prstGeom prst="roundRect">
            <a:avLst>
              <a:gd name="adj" fmla="val 17241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58368" y="5559552"/>
            <a:ext cx="45720" cy="53035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14400" y="5687568"/>
            <a:ext cx="103628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não é modelo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agente.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não é orquestrador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editor com agente.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é gatilho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orquestrador.</a:t>
            </a:r>
            <a:endParaRPr lang="en-US" sz="1200" dirty="0"/>
          </a:p>
        </p:txBody>
      </p:sp>
      <p:sp>
        <p:nvSpPr>
          <p:cNvPr id="63" name="Text 6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64" name="Text 6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5 · O CASO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processo real,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mesma notação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914400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PROCESSO E A CONVERSA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914400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 era o processo, quem executava, quantas vezes por mês.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914400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frase literal de quem executava — a fala que virou losango. É o que amarra este slide ao slide 6.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4794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630826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FLUXO PINTADO + O PLACAR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630826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desenho do slide 9, com as caixas reais.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30826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 caixas → X Python · Y IA · Z humano”. Se a maioria virou Python, diga isso em voz alta: é o ponto da palestra.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91221" y="1965960"/>
            <a:ext cx="3442106" cy="2286000"/>
          </a:xfrm>
          <a:prstGeom prst="roundRect">
            <a:avLst>
              <a:gd name="adj" fmla="val 4000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14" name="Text 12"/>
          <p:cNvSpPr/>
          <p:nvPr/>
        </p:nvSpPr>
        <p:spPr>
          <a:xfrm>
            <a:off x="8347253" y="2176272"/>
            <a:ext cx="29300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QUE QUEBROU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8347253" y="2432304"/>
            <a:ext cx="293004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de antes → depois que você defenda no Q&amp;A.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347253" y="3017520"/>
            <a:ext cx="293004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 falha: de preferência uma em que o modelo errou com confiança e você só descobriu depois. Como detectou e qual guarda-corpo entrou.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" y="4846320"/>
            <a:ext cx="10874959" cy="804672"/>
          </a:xfrm>
          <a:prstGeom prst="roundRect">
            <a:avLst>
              <a:gd name="adj" fmla="val 11364"/>
            </a:avLst>
          </a:prstGeom>
          <a:solidFill>
            <a:srgbClr val="F4F0F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4846320"/>
            <a:ext cx="45720" cy="804672"/>
          </a:xfrm>
          <a:prstGeom prst="rect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49377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A PREENCHER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14400" y="5157216"/>
            <a:ext cx="10362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slide vira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ou três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quando o caso estiver definido: um do processo e da conversa, um do fluxo pintado, um do resultado e das cicatrizes. A estrutura já está de pé — falta o conteúdo.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O caso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5156"/>
          </a:xfrm>
          <a:prstGeom prst="rect">
            <a:avLst/>
          </a:prstGeom>
          <a:solidFill>
            <a:srgbClr val="1D4F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6 · PRA LEVAR EMBORA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777240"/>
            <a:ext cx="1087495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kit — os arquivos que eu usei </a:t>
            </a:r>
            <a:pPr indent="0" marL="0">
              <a:lnSpc>
                <a:spcPts val="3400"/>
              </a:lnSpc>
              <a:buNone/>
            </a:pPr>
            <a:r>
              <a:rPr lang="en-US" sz="28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 montar tudo isso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58368" y="181051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91109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7-perguntas.md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47288" y="1856232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roteiro de entrevista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 slide 4, com o que anotar em cada resposta.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58368" y="234086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4414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notacao.mmd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447288" y="2386584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fluxograma em Mermaid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copia, troca os nomes das caixas, versiona no repo.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58368" y="2871216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29718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canvas.md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7288" y="2916936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frequência, exceções, custo do erro.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8368" y="3401568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350215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classificar.md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47288" y="3447288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perguntas do slide 8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em forma de checklist — rode uma vez por caixa.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58368" y="3931920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4032504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prompt.template.md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47288" y="3977640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sete seções de um prompt de produção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papel, tarefa, dados, regras, formato de saída, quando NÃO decidir, casos de borda.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58368" y="4462272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456285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evals/exemplo.yaml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447288" y="4507992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casos, cinco de borda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mais o comando que roda no CI e bloqueia o merge.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58368" y="4992624"/>
            <a:ext cx="10874959" cy="4572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50932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checklist-producao.md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47288" y="5038344"/>
            <a:ext cx="781171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 antes de ligar o fluxo.</a:t>
            </a:r>
            <a:pPr indent="0" marL="0">
              <a:lnSpc>
                <a:spcPts val="1350"/>
              </a:lnSpc>
              <a:buNone/>
            </a:pPr>
            <a:r>
              <a:rPr lang="en-US" sz="10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Item desmarcado é risco aceito, com nome e data ao lado.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74959" cy="658368"/>
          </a:xfrm>
          <a:prstGeom prst="roundRect">
            <a:avLst>
              <a:gd name="adj" fmla="val 13889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</p:sp>
      <p:sp>
        <p:nvSpPr>
          <p:cNvPr id="27" name="Text 25"/>
          <p:cNvSpPr/>
          <p:nvPr/>
        </p:nvSpPr>
        <p:spPr>
          <a:xfrm>
            <a:off x="914400" y="5705856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/ QR A DEFINIR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172968" y="5614416"/>
            <a:ext cx="80860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A08B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Repositório público ou pasta compartilhada. Definir também se vai junto a versão instalável como skills, ou só os arquivos em Markdown — que funcionam com qualquer ferramenta.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O kit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2344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hora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58368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225296" y="21031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 vem antes do desenho. O desenho vem antes da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658368" y="286207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25296" y="2816352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dá pra fazer com um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faça com um if. IA é a terceira pergunta.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58368" y="3575304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8F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529584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Mantenha a pessoa onde </a:t>
            </a:r>
            <a:pPr indent="0" marL="0">
              <a:lnSpc>
                <a:spcPts val="24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errar é caro</a:t>
            </a:r>
            <a:pPr indent="0" marL="0">
              <a:lnSpc>
                <a:spcPts val="24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prove que ela consegue discordar.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8368" y="461772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58368" y="4617720"/>
            <a:ext cx="45720" cy="1234440"/>
          </a:xfrm>
          <a:prstGeom prst="rect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14400" y="473659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 DE UMA HORA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14400" y="49834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Pegue alguém do seu time que executa um processo toda semana. Faça as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 perguntas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Desenhe o fluxo na frente da pessoa. Marque a única caixa que é pura digitação — e automatize </a:t>
            </a:r>
            <a:pPr indent="0" marL="0">
              <a:lnSpc>
                <a:spcPts val="18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ela</a:t>
            </a:r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Depois volte pra segunda.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Bruno Prata</dc:creator>
  <cp:lastModifiedBy>Bruno Prata</cp:lastModifiedBy>
  <cp:revision>1</cp:revision>
  <dcterms:created xsi:type="dcterms:W3CDTF">2026-08-12T23:17:33Z</dcterms:created>
  <dcterms:modified xsi:type="dcterms:W3CDTF">2026-08-12T23:17:33Z</dcterms:modified>
</cp:coreProperties>
</file>