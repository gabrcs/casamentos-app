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curta. Nome, o que faço, e a promessa da palestra em uma frase: ao final vocês vão sair com um método de uma página para decidir o que automatizar. Prometa o caso prático do fim — planta a recompensa.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depois da pergunta errada. Deixe o silêncio trabalhar. Essa é a tese da palestra: automação é desenho de processo, não escolha de modelo.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Contrato com a plateia. Aponte que a parada 4 (ferramentas) é onde todo mundo começa — e é por isso que dá errado.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 rápida, 10 segundos. Não leia 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levantada de mão: quem sabe a taxa de exceção do processo que quer automatizar? Costuma levantar pouca mão — é o ponto.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SLIDE-CHAVE — dê tempo, a plateia vai fotografar. Percorra as colunas 'É decisão?' e 'Custo do erro' e mostre que elas sozinhas dão a arquitetura. Diga que o canvas cabe em qualquer processo, e que preencher leva uma hora.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Transição. 10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quadrante que a plateia subestima é 'baixo · reversível' — é onde está o ganho rápido. O erro comum é atacar direto 'alto · irreversível' porque é o processo mais visível. Feche pelo filtro: se dá pra fazer com SQL, não use LLM.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coluna da direita é a que ganha credibilidade com engenheiro. Insista: dar a calculadora ao modelo em vez de pedir a conta. A última linha de cada coluna é a heurística que resume tudo.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Transição. 10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Núcleo da palestra. Amarre cada padrão a uma linha do canvas do slide 6: linha 2 → escalonamento por confiança, linha 4 → aprovação, linha 5 → humano decide. Recomende começar por copiloto: é o de menor risco e ganho imediato.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mais relevante para o contexto Serasa. Taxa de rejeição de 0% como alarme é o insight que gera pergunta na plateia. No art. 20 seja preciso: o direito é à revisão, e o gatilho é a decisão tomada UNICAMENTE por tratamento automatizado.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Transição. 10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venda ferramenta. As duas linhas destacadas são o recado: orquestração e eval. Sobre banco vetorial, seja direto: na maioria dos casos a busca que a empresa já tem resolve, e o vetorial entra só quando ela falha.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1 é a que trava projeto em empresa regulada — trate como primeira, não última. A pergunta 4 é a que mais gera concordância silenciosa na plateia.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as dez. Escolha três para falar — 1, 6 e 10 são as que mais doem — e diga que o resto está no material. Se o tempo apertar, este é o slide para acelerar.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Mude o tom aqui: menos método, mais história. A plateia relaxa e presta mais atenção.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PREENCHER. Conte o fluxo como história, não como lista. O contraste verde/lavanda deve deixar óbvio, de longe, onde você continuou na alça.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PREENCHER. O quadro do meio é o mais valioso: plateia técnica confia em quem mostra a falha. Feche amarrando aos quatro padrões da parada 03.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pelo desafio, não pelo agradecimento — dá algo para a plateia fazer na segunda-feira. Deixe este slide no telão durante o Q&amp;A: as três frases sustentam a discussão.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05840"/>
            <a:ext cx="3108960" cy="3108960"/>
          </a:xfrm>
          <a:prstGeom prst="roundRect">
            <a:avLst>
              <a:gd name="adj" fmla="val 88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2377440" cy="2377440"/>
          </a:xfrm>
          <a:prstGeom prst="roundRect">
            <a:avLst>
              <a:gd name="adj" fmla="val 11538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2834640"/>
            <a:ext cx="457200" cy="457200"/>
          </a:xfrm>
          <a:prstGeom prst="ellipse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 EXPERIAN · TECNOLOGIA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9052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com 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58368" y="384048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mapear, decidir o que automatizar e onde manter o humano na alça — sem virar mais um piloto abandonado.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 Corrêa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Palestra técnica · 25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78308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errada é </a:t>
            </a:r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a IA consegue fazer aqui?”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342900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certa é: </a:t>
            </a:r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neste processo, o que é decisão e o que é digitação?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429768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com IA é 80% desenho de processo e 20% modelo. Quem inverte essa conta entrega uma demo bonita que ninguém usa em produção.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paradas, uma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ordem que importa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664208"/>
            <a:ext cx="95947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parada só faz sentido depois da anterior. A maioria dos projetos falha porque começa na parada 4.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58368" y="2423160"/>
            <a:ext cx="2615184" cy="310896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  <a:effectLst>
            <a:outerShdw sx="100000" sy="100000" kx="0" ky="0" algn="bl" rotWithShape="0" blurRad="127000" dist="25400" dir="5400000">
              <a:srgbClr val="16224E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715768"/>
            <a:ext cx="566928" cy="56692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715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344728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2688" y="3995928"/>
            <a:ext cx="20665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Desenhar o processo como ele é de verdade — com volume, exceções e custo do erro.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29584" y="2423160"/>
            <a:ext cx="2615184" cy="310896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  <a:effectLst>
            <a:outerShdw sx="100000" sy="100000" kx="0" ky="0" algn="bl" rotWithShape="0" blurRad="127000" dist="25400" dir="5400000">
              <a:srgbClr val="16224E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03904" y="2715768"/>
            <a:ext cx="566928" cy="56692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3904" y="2715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03904" y="344728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03904" y="3995928"/>
            <a:ext cx="20665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o que vira código, o que vira IA e o que continua humano.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2423160"/>
            <a:ext cx="2615184" cy="3108960"/>
          </a:xfrm>
          <a:prstGeom prst="roundRect">
            <a:avLst>
              <a:gd name="adj" fmla="val 4196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  <a:effectLst>
            <a:outerShdw sx="100000" sy="100000" kx="0" ky="0" algn="bl" rotWithShape="0" blurRad="127000" dist="25400" dir="5400000">
              <a:srgbClr val="16224E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75120" y="2715768"/>
            <a:ext cx="566928" cy="56692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2715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75120" y="344728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o humano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75120" y="3995928"/>
            <a:ext cx="20665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Escolher o padrão de supervisão certo para cada etapa — e provar que ele é real.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272016" y="2423160"/>
            <a:ext cx="2615184" cy="3108960"/>
          </a:xfrm>
          <a:prstGeom prst="roundRect">
            <a:avLst>
              <a:gd name="adj" fmla="val 4196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  <a:effectLst>
            <a:outerShdw sx="100000" sy="100000" kx="0" ky="0" algn="bl" rotWithShape="0" blurRad="127000" dist="25400" dir="5400000">
              <a:srgbClr val="16224E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546336" y="2715768"/>
            <a:ext cx="566928" cy="566928"/>
          </a:xfrm>
          <a:prstGeom prst="ellipse">
            <a:avLst/>
          </a:prstGeom>
          <a:solidFill>
            <a:srgbClr val="6D2077"/>
          </a:solidFill>
          <a:ln w="12700">
            <a:solidFill>
              <a:srgbClr val="6D20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46336" y="2715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546336" y="344728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546336" y="3995928"/>
            <a:ext cx="20665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por camada, práticas que sustentam produção, e o caso prático.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0848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9848" y="208483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o processo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56032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69848" y="256032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o que automatizar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30358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69848" y="30358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na alça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351129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" y="351129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e práticas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39867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398678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prático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4528" y="1417320"/>
            <a:ext cx="0" cy="4023360"/>
          </a:xfrm>
          <a:prstGeom prst="line">
            <a:avLst/>
          </a:prstGeom>
          <a:noFill/>
          <a:ln w="12700">
            <a:solidFill>
              <a:srgbClr val="E3DC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 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63440" y="2331720"/>
            <a:ext cx="686988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antes de </a:t>
            </a:r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automatizar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663440" y="3840480"/>
            <a:ext cx="63212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não pode automatizar o que não conseguiu descrever em uma tabela.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Nº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Automatizar um processo que ninguém mapeou não gera eficiência — gera o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caos, mais rápido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377440"/>
            <a:ext cx="353872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  <a:effectLst>
            <a:outerShdw sx="100000" sy="100000" kx="0" ky="0" algn="bl" rotWithShape="0" blurRad="127000" dist="25400" dir="5400000">
              <a:srgbClr val="16224E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50976" y="2651760"/>
            <a:ext cx="530352" cy="530352"/>
          </a:xfrm>
          <a:prstGeom prst="ellipse">
            <a:avLst/>
          </a:prstGeom>
          <a:solidFill>
            <a:srgbClr val="E80070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6517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50976" y="3310128"/>
            <a:ext cx="2953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Sintoma 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50976" y="3675888"/>
            <a:ext cx="29535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sabe dizer a taxa de exceção do processo. Se você não sabe quanto ele já erra hoje, não tem como definir o que o modelo precisa acertar.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89704" y="2377440"/>
            <a:ext cx="353872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  <a:effectLst>
            <a:outerShdw sx="100000" sy="100000" kx="0" ky="0" algn="bl" rotWithShape="0" blurRad="127000" dist="25400" dir="5400000">
              <a:srgbClr val="16224E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82312" y="2651760"/>
            <a:ext cx="530352" cy="530352"/>
          </a:xfrm>
          <a:prstGeom prst="ellipse">
            <a:avLst/>
          </a:prstGeom>
          <a:solidFill>
            <a:srgbClr val="E80070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82312" y="26517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82312" y="3310128"/>
            <a:ext cx="2953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Sintoma 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82312" y="3675888"/>
            <a:ext cx="29535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 existe em quatro versões — uma por pessoa que executa. Automatizar aqui significa escolher a versão de alguém e chamar de padrão.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321040" y="2377440"/>
            <a:ext cx="353872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  <a:effectLst>
            <a:outerShdw sx="100000" sy="100000" kx="0" ky="0" algn="bl" rotWithShape="0" blurRad="127000" dist="25400" dir="5400000">
              <a:srgbClr val="16224E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13648" y="2651760"/>
            <a:ext cx="530352" cy="530352"/>
          </a:xfrm>
          <a:prstGeom prst="ellipse">
            <a:avLst/>
          </a:prstGeom>
          <a:solidFill>
            <a:srgbClr val="E80070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13648" y="26517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13648" y="3310128"/>
            <a:ext cx="2953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Sintoma 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13648" y="3675888"/>
            <a:ext cx="29535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pergunta da reunião é sobre ferramenta — “vamos usar n8n?” — e não sobre o fluxo. A ferramenta é consequência, não ponto de partida.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" y="5074920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1755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PRÁTICA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4400" y="5376672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processo não cabe numa tabela de uma página, ele não é um processo —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três processos que ninguém separou ainda.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Mapear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FERRAMENTA QUE RESOLVE 80% DO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canvas de mapeamento —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por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664208"/>
            <a:ext cx="95947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Exemplo: triagem de solicitações de suporte. As duas colunas destacadas decidem tudo.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286000"/>
          <a:ext cx="1087495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600200"/>
                <a:gridCol w="1234440"/>
                <a:gridCol w="1600200"/>
                <a:gridCol w="1691640"/>
                <a:gridCol w="914400"/>
                <a:gridCol w="1051560"/>
                <a:gridCol w="44805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Entrada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Saída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É decisão?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00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 do erro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00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Exceções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Volume/mês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Receber e registrar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e-mail, formulário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 criado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7A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Classificar assunto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texto livre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ambígua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7A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Verificar elegibilidade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dados do cliente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/ não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regra fixa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0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Redigir resposta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+ histórico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ambígua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462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Aprovar exceção comercial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julgamento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0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alto, irreversível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58368" y="513892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523951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14400" y="54406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Linha 1 é digitação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Linhas 2 e 4 são decisão ambígua com erro tolerável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Linha 3 é regra fixa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nunca LLM. Linha 5 é julgamento irreversível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 mapa dá a arquitetura antes de você escrever uma linha.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Mapear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0848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9848" y="208483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o processo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56032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69848" y="256032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o que automatizar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30358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69848" y="30358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na alça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351129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" y="351129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e práticas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39867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398678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prático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4528" y="1417320"/>
            <a:ext cx="0" cy="4023360"/>
          </a:xfrm>
          <a:prstGeom prst="line">
            <a:avLst/>
          </a:prstGeom>
          <a:noFill/>
          <a:ln w="12700">
            <a:solidFill>
              <a:srgbClr val="E3DC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 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63440" y="2331720"/>
            <a:ext cx="686988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automatizar — e com </a:t>
            </a:r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quê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663440" y="3840480"/>
            <a:ext cx="63212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perguntar qual modelo, pergunte se precisa de modelo.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DECISÃO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do erro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reversibilidade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5568" y="2240280"/>
            <a:ext cx="5071720" cy="1417320"/>
          </a:xfrm>
          <a:prstGeom prst="roundRect">
            <a:avLst>
              <a:gd name="adj" fmla="val 6452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53312" y="2368296"/>
            <a:ext cx="459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 · REVERSÍVEL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353312" y="2587752"/>
            <a:ext cx="459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supervisiona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2916936"/>
            <a:ext cx="4596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executa sozinha, o humano acompanha e reverte. Exige undo real e alerta — painel que ninguém abre não é supervisão.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61608" y="2240280"/>
            <a:ext cx="5071720" cy="1417320"/>
          </a:xfrm>
          <a:prstGeom prst="roundRect">
            <a:avLst>
              <a:gd name="adj" fmla="val 6452"/>
            </a:avLst>
          </a:prstGeom>
          <a:solidFill>
            <a:srgbClr val="FBE0EE"/>
          </a:solidFill>
          <a:ln w="12700">
            <a:solidFill>
              <a:srgbClr val="FBE0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9352" y="2368296"/>
            <a:ext cx="459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 · IRREVERSÍVEL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99352" y="2587752"/>
            <a:ext cx="459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aprova antes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99352" y="2916936"/>
            <a:ext cx="4596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acontece sem clique. Pagamento, comunicação ao cliente, alteração de cadastro, decisão que afeta crédito.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15568" y="3858768"/>
            <a:ext cx="5071720" cy="1417320"/>
          </a:xfrm>
          <a:prstGeom prst="roundRect">
            <a:avLst>
              <a:gd name="adj" fmla="val 6452"/>
            </a:avLst>
          </a:prstGeom>
          <a:solidFill>
            <a:srgbClr val="E6F1EC"/>
          </a:solidFill>
          <a:ln w="12700">
            <a:solidFill>
              <a:srgbClr val="E6F1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53312" y="3986784"/>
            <a:ext cx="459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BAIXO · REVERSÍVEL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353312" y="4206240"/>
            <a:ext cx="459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Automatize e siga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4535424"/>
            <a:ext cx="4596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completo + revisão por amostragem. Aqui está o ganho fácil que quase ninguém colhe porque foi direto para o quadrante difícil.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61608" y="3858768"/>
            <a:ext cx="5071720" cy="1417320"/>
          </a:xfrm>
          <a:prstGeom prst="roundRect">
            <a:avLst>
              <a:gd name="adj" fmla="val 6452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99352" y="3986784"/>
            <a:ext cx="459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B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BAIXO · IRREVERSÍVEL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699352" y="4206240"/>
            <a:ext cx="459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Automatize com rede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99352" y="4535424"/>
            <a:ext cx="4596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dry-run, ambiente de teste, janela de cancelamento. Torne reversível e o problema muda de quadrante.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55448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ALTO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 rot="16200000">
            <a:off x="155448" y="4315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20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BAIXO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115568" y="1947672"/>
            <a:ext cx="507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40" kern="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REVERSÍVEL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61608" y="1947672"/>
            <a:ext cx="507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40" kern="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IRREVERSÍVEL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58368" y="5376672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47725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ANTERIOR À MATRIZ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14400" y="567842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etapa é determinística e estável? Então é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é IA. LLM em cima de regra fixa é caro, lento e não-determinístico — três defeitos onde antes havia zero.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MODELO É A FERRAMENTA CERTA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ganha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onde LLM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457200" cy="457200"/>
          </a:xfrm>
          <a:prstGeom prst="ellipse">
            <a:avLst/>
          </a:prstGeom>
          <a:solidFill>
            <a:srgbClr val="E80070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80160" y="228600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8368" y="2871216"/>
            <a:ext cx="5254600" cy="0"/>
          </a:xfrm>
          <a:prstGeom prst="line">
            <a:avLst/>
          </a:prstGeom>
          <a:noFill/>
          <a:ln w="25400">
            <a:solidFill>
              <a:srgbClr val="E800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3035808"/>
            <a:ext cx="5254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Não-estruturado → estruturado: e-mail, PDF, transcrição, chamado virando JSON confiável.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de borda confusa — onde a regra já tem 40 exceções e cresce todo mês.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Rascunho que um humano revisa: resposta, resumo, código, documento, especificação.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em linguagem natural sobre um sistema que já existe.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caro de especificar, barato de verificar — a assinatura de um bom caso de uso.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8728" y="2286000"/>
            <a:ext cx="457200" cy="457200"/>
          </a:xfrm>
          <a:prstGeom prst="ellipse">
            <a:avLst/>
          </a:prstGeom>
          <a:solidFill>
            <a:srgbClr val="1D4F91"/>
          </a:solidFill>
          <a:ln w="12700">
            <a:solidFill>
              <a:srgbClr val="1D4F9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78728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00520" y="228600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use 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78728" y="2871216"/>
            <a:ext cx="5254600" cy="0"/>
          </a:xfrm>
          <a:prstGeom prst="line">
            <a:avLst/>
          </a:prstGeom>
          <a:noFill/>
          <a:ln w="25400">
            <a:solidFill>
              <a:srgbClr val="1D4F9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78728" y="3035808"/>
            <a:ext cx="5254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Aritmética exata, conciliação, soma de valores. Dê a calculadora ao modelo, não a conta.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determinística e estável — isso é um if, e um if você testa.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Qualquer etapa que precise de 100% de recall e não tenha rede de segurança.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que precisa ser explicada juridicamente sem rastro de como foi tomada.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 onde verificar custa mais que executar — a automação vira trabalho novo.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0848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9848" y="208483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o processo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56032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69848" y="256032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o que automatizar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30358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69848" y="30358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na alça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351129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" y="351129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e práticas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39867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398678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prático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4528" y="1417320"/>
            <a:ext cx="0" cy="4023360"/>
          </a:xfrm>
          <a:prstGeom prst="line">
            <a:avLst/>
          </a:prstGeom>
          <a:noFill/>
          <a:ln w="12700">
            <a:solidFill>
              <a:srgbClr val="E3DC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 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63440" y="2331720"/>
            <a:ext cx="686988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in the loop</a:t>
            </a:r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não é um checkbox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663440" y="3840480"/>
            <a:ext cx="63212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quatro padrões diferentes, com custos diferentes. Escolher errado custa caro nas duas direções.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QUATRO PADRÕES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humano pode estar em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posições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diferentes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331720"/>
            <a:ext cx="2615184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  <a:effectLst>
            <a:outerShdw sx="100000" sy="100000" kx="0" ky="0" algn="bl" rotWithShape="0" blurRad="127000" dist="25400" dir="5400000">
              <a:srgbClr val="16224E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587752"/>
            <a:ext cx="493776" cy="49377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58775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319125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32688" y="353872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propõe, humano decide.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tem efeito sem clique.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32688" y="417880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Para: ação irreversível ou regulada.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Custo: latência e gargalo humano.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29584" y="2331720"/>
            <a:ext cx="2615184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  <a:effectLst>
            <a:outerShdw sx="100000" sy="100000" kx="0" ky="0" algn="bl" rotWithShape="0" blurRad="127000" dist="25400" dir="5400000">
              <a:srgbClr val="16224E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03904" y="2587752"/>
            <a:ext cx="493776" cy="49377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3904" y="258775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03904" y="319125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Supervisão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803904" y="353872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executa, humano monitora.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pode reverter.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803904" y="417880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Para: volume alto e reversível.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Exige: undo e alerta ativo, não painel.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0" y="2331720"/>
            <a:ext cx="2615184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  <a:effectLst>
            <a:outerShdw sx="100000" sy="100000" kx="0" ky="0" algn="bl" rotWithShape="0" blurRad="127000" dist="25400" dir="5400000">
              <a:srgbClr val="16224E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75120" y="2587752"/>
            <a:ext cx="493776" cy="49377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258775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319125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675120" y="353872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conduz, IA acelera.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Código, análise, redação.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75120" y="417880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Para: trabalho de especialista.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Ganho imediato, risco baixo. Comece aqui.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272016" y="2331720"/>
            <a:ext cx="2615184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  <a:effectLst>
            <a:outerShdw sx="100000" sy="100000" kx="0" ky="0" algn="bl" rotWithShape="0" blurRad="127000" dist="25400" dir="5400000">
              <a:srgbClr val="16224E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546336" y="2587752"/>
            <a:ext cx="493776" cy="49377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46336" y="258775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546336" y="319125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Escalonamento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546336" y="353872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resolve o claro,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encaminha o ambíguo.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546336" y="4178808"/>
            <a:ext cx="20665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Exige: caminho explícito para “não sei” — e que ele seja recompensado.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58368" y="5257800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3583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DETALHE QUE MUDA O PROJETO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14400" y="5559552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padrão não é escolhido por processo, é escolhido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linha do canvas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Um fluxo real normalmente usa três dos quatro ao mesmo tempo.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Humano na alça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ANTI-PADRÃO QUE PASSA EM TODA AUDITORIA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humano aprova 400 itens por dia, não existe humano na alça — existe um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ritual de aprovação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514600"/>
            <a:ext cx="52546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  <a:effectLst>
            <a:outerShdw sx="100000" sy="100000" kx="0" ky="0" algn="bl" rotWithShape="0" blurRad="127000" dist="25400" dir="5400000">
              <a:srgbClr val="16224E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9264" y="278892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perguntas para saber se o checkpoint é real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9264" y="3429000"/>
            <a:ext cx="4632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revisor tem tempo e informação suficientes para discordar?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" y="4032504"/>
            <a:ext cx="4632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 registro de quando ele discordou? Taxa de rejeição de 0% é alarme, não é qualidade.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9264" y="4636008"/>
            <a:ext cx="4632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revisão por amostragem daria o mesmo resultado, a revisão item a item é teatro — e está custando uma pessoa.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8728" y="2514600"/>
            <a:ext cx="5254600" cy="2743200"/>
          </a:xfrm>
          <a:prstGeom prst="roundRect">
            <a:avLst>
              <a:gd name="adj" fmla="val 400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  <a:effectLst>
            <a:outerShdw sx="100000" sy="100000" kx="0" ky="0" algn="bl" rotWithShape="0" blurRad="127000" dist="25400" dir="5400000">
              <a:srgbClr val="16224E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9624" y="278892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lado regulatório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9624" y="3172968"/>
            <a:ext cx="4632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LGPD, art. 20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garante ao titular o direito de solicitar revisão de decisões tomadas unicamente com base em tratamento automatizado que afetem seus interesses.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9624" y="3995928"/>
            <a:ext cx="4632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serviço financeiro isso não é rodapé jurídico: é o que define quais etapas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 100% automáticas — e obriga rastro de qual versão do modelo decidiu o quê, quando.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9624" y="4800600"/>
            <a:ext cx="463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Consequência prática: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desenhe o log de decisão junto com o fluxo, não depois da primeira solicitação de revisão.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Humano na alça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0848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9848" y="208483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o processo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56032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69848" y="256032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o que automatizar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30358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69848" y="30358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na alça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351129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" y="351129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e práticas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39867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398678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prático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4528" y="1417320"/>
            <a:ext cx="0" cy="4023360"/>
          </a:xfrm>
          <a:prstGeom prst="line">
            <a:avLst/>
          </a:prstGeom>
          <a:noFill/>
          <a:ln w="12700">
            <a:solidFill>
              <a:srgbClr val="E3DC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 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63440" y="2331720"/>
            <a:ext cx="686988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Ferramentas: um </a:t>
            </a:r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</a:t>
            </a:r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um desfile de logos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663440" y="3840480"/>
            <a:ext cx="63212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 muda a cada seis meses. As camadas, não.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STACK POR CAMADA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camadas — e as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decidem se vai para produção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212848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128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47288" y="2212848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· GPT · Gemini · modelo aberto self-hosted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2743200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e código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447288" y="2743200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· Claude Agent SDK · Cursor · LangGraph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3273552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735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47288" y="3273552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· Airflow · Step Functions · n8n — retry, idempotência, estado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3803904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039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47288" y="3803904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· APIs internas — um protocolo no lugar de N integrações sob medida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" y="4334256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33425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e dados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447288" y="4334256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busca que você já tem · banco vetorial só quando a busca simples falhar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" y="4864608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8646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 observabilidade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447288" y="4864608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 de casos versionado · Langfuse · Braintrust · traço com input, output e versão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" y="541324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55138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SEPARA PILOTO DE PRODUÇÃO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14400" y="571500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piloto tem a camada de modelo. O que quase nenhum tem é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são exatamente as duas que decidem se aquilo sobrevive ao terceiro mês.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CRITÉRIO DE ESCOLHA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perguntas antes de adotar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qualquer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ferramenta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414016"/>
            <a:ext cx="512064" cy="51206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4140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2377440"/>
            <a:ext cx="101617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dado sai da empresa?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724912"/>
            <a:ext cx="100519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“a ferramenta é segura?”, mas qual campo exatamente atravessa a fronteira. A resposta muda contrato, base legal e, muitas vezes, a arquitetura.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8368" y="3374136"/>
            <a:ext cx="512064" cy="51206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3741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3337560"/>
            <a:ext cx="101617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custa uma execução — e dez mil?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3685032"/>
            <a:ext cx="100519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token é linha de orçamento, não detalhe técnico. Faça a conta com o volume do canvas antes do piloto, não depois da fatura.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" y="4334256"/>
            <a:ext cx="512064" cy="51206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334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71600" y="4297680"/>
            <a:ext cx="101617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ferramenta dobrar de preço ou morrer, o que acontece?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645152"/>
            <a:ext cx="100519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Trocar de modelo deve ser configuração, não reescrita. Isole a chamada atrás de uma interface sua desde o primeiro dia.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5294376"/>
            <a:ext cx="512064" cy="51206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5294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5257800"/>
            <a:ext cx="101617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mantém isso em seis meses?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5605272"/>
            <a:ext cx="100519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sem dono apodrece — em silêncio, e normalmente só se descobre pelo cliente. Nome de pessoa, não nome de squad.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 PRÁTICAS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dez que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doem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quando você ignora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235000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78992" y="2331720"/>
            <a:ext cx="478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Defina o “certo” antes do prompt.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Vinte casos reais com resposta esperada. Sem isso não é automação, é aposta.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58368" y="31363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3118104"/>
            <a:ext cx="478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é código.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Versionado, revisado em PR, testado no CI. Não mora num Google Doc.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58368" y="392277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78992" y="3904488"/>
            <a:ext cx="478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 a versão do modelo.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modelo é deploy — com eval antes e rollback previsto.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58368" y="47091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78992" y="4690872"/>
            <a:ext cx="478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e ferramenta antes de modelo maior.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maioria das falhas é falta de acesso, não de inteligência.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" y="549554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5477256"/>
            <a:ext cx="478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Dê a ferramenta determinística.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decide quando usar; o código faz a conta.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24448" y="235000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45072" y="2331720"/>
            <a:ext cx="478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Projete a falha explícita.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Pior que errar é errar com confiança e em silêncio. “Não sei” é saída válida.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324448" y="31363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5072" y="3118104"/>
            <a:ext cx="478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Registre input, output, versão e quem decidiu.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não é opcional — e não é reconstruível depois.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324448" y="392277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45072" y="3904488"/>
            <a:ext cx="478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e latência são requisitos.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Definidos no começo, medidos sempre, não descobertos no fim do trimestre.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24448" y="47091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45072" y="4690872"/>
            <a:ext cx="478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→ medir → escalar.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processo, uma etapa, uma métrica. Nunca big bang.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24448" y="549554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5072" y="5477256"/>
            <a:ext cx="478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automação tem dono e data de revisão.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 muda; a automação não muda sozinha.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Práticas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0848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069848" y="208483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o processo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56032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69848" y="256032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o que automatizar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303580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69848" y="30358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na alça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351129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" y="351129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e práticas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398678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398678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prático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4528" y="1417320"/>
            <a:ext cx="0" cy="4023360"/>
          </a:xfrm>
          <a:prstGeom prst="line">
            <a:avLst/>
          </a:prstGeom>
          <a:noFill/>
          <a:ln w="12700">
            <a:solidFill>
              <a:srgbClr val="E3DC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PARADA 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63440" y="2331720"/>
            <a:ext cx="686988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eu fiz — </a:t>
            </a:r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prática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663440" y="3840480"/>
            <a:ext cx="63212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processo real, o mapa antes e depois, e o que quebrou no caminho.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PRÁTICO · O PROCESSO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fluxo, etapa por etapa — e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executa cada uma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514600"/>
            <a:ext cx="2048256" cy="2148840"/>
          </a:xfrm>
          <a:prstGeom prst="roundRect">
            <a:avLst>
              <a:gd name="adj" fmla="val 4464"/>
            </a:avLst>
          </a:prstGeom>
          <a:solidFill>
            <a:srgbClr val="F5FAF7"/>
          </a:solidFill>
          <a:ln w="12700">
            <a:solidFill>
              <a:srgbClr val="BFDDC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697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96112" y="297180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291840"/>
            <a:ext cx="1572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entra e o que sai desta etapa.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" y="4224528"/>
            <a:ext cx="1572768" cy="274320"/>
          </a:xfrm>
          <a:prstGeom prst="roundRect">
            <a:avLst>
              <a:gd name="adj" fmla="val 50000"/>
            </a:avLst>
          </a:prstGeom>
          <a:solidFill>
            <a:srgbClr val="E6F1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422452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automatizado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706624" y="340614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880360" y="2514600"/>
            <a:ext cx="2048256" cy="2148840"/>
          </a:xfrm>
          <a:prstGeom prst="roundRect">
            <a:avLst>
              <a:gd name="adj" fmla="val 4464"/>
            </a:avLst>
          </a:prstGeom>
          <a:solidFill>
            <a:srgbClr val="F5FAF7"/>
          </a:solidFill>
          <a:ln w="12700">
            <a:solidFill>
              <a:srgbClr val="BFDD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18104" y="2697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18104" y="297180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18104" y="3291840"/>
            <a:ext cx="1572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entra e o que sai desta etapa.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118104" y="4224528"/>
            <a:ext cx="1572768" cy="274320"/>
          </a:xfrm>
          <a:prstGeom prst="roundRect">
            <a:avLst>
              <a:gd name="adj" fmla="val 50000"/>
            </a:avLst>
          </a:prstGeom>
          <a:solidFill>
            <a:srgbClr val="E6F1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18104" y="422452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automatizado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28616" y="340614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102352" y="2514600"/>
            <a:ext cx="2048256" cy="2148840"/>
          </a:xfrm>
          <a:prstGeom prst="roundRect">
            <a:avLst>
              <a:gd name="adj" fmla="val 4464"/>
            </a:avLst>
          </a:prstGeom>
          <a:solidFill>
            <a:srgbClr val="F4F0F9"/>
          </a:solidFill>
          <a:ln w="12700">
            <a:solidFill>
              <a:srgbClr val="DDD2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0096" y="2697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40096" y="297180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40096" y="3291840"/>
            <a:ext cx="1572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você entrou na alça — e por quê.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340096" y="4224528"/>
            <a:ext cx="1572768" cy="274320"/>
          </a:xfrm>
          <a:prstGeom prst="roundRect">
            <a:avLst>
              <a:gd name="adj" fmla="val 50000"/>
            </a:avLst>
          </a:prstGeom>
          <a:solidFill>
            <a:srgbClr val="EEE3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40096" y="422452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aprova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150608" y="340614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324344" y="2514600"/>
            <a:ext cx="2048256" cy="2148840"/>
          </a:xfrm>
          <a:prstGeom prst="roundRect">
            <a:avLst>
              <a:gd name="adj" fmla="val 4464"/>
            </a:avLst>
          </a:prstGeom>
          <a:solidFill>
            <a:srgbClr val="F5FAF7"/>
          </a:solidFill>
          <a:ln w="12700">
            <a:solidFill>
              <a:srgbClr val="BFDDC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62088" y="2697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562088" y="297180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562088" y="3291840"/>
            <a:ext cx="1572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entra e o que sai desta etapa.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562088" y="4224528"/>
            <a:ext cx="1572768" cy="274320"/>
          </a:xfrm>
          <a:prstGeom prst="roundRect">
            <a:avLst>
              <a:gd name="adj" fmla="val 50000"/>
            </a:avLst>
          </a:prstGeom>
          <a:solidFill>
            <a:srgbClr val="E6F1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62088" y="422452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automatizado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372600" y="340614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9AF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546336" y="2514600"/>
            <a:ext cx="2048256" cy="2148840"/>
          </a:xfrm>
          <a:prstGeom prst="roundRect">
            <a:avLst>
              <a:gd name="adj" fmla="val 4464"/>
            </a:avLst>
          </a:prstGeom>
          <a:solidFill>
            <a:srgbClr val="F4F0F9"/>
          </a:solidFill>
          <a:ln w="12700">
            <a:solidFill>
              <a:srgbClr val="DDD2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84080" y="2697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784080" y="297180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784080" y="3291840"/>
            <a:ext cx="1572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final que continuou sua.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784080" y="4224528"/>
            <a:ext cx="1572768" cy="274320"/>
          </a:xfrm>
          <a:prstGeom prst="roundRect">
            <a:avLst>
              <a:gd name="adj" fmla="val 50000"/>
            </a:avLst>
          </a:prstGeom>
          <a:solidFill>
            <a:srgbClr val="EEE3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784080" y="422452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decide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58368" y="5074920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1755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PREENCHER COM O SEU CASO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14400" y="5376672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Substitua as cinco etapas pelo fluxo real: nome da etapa, entrada → saída, e o modo (automatizado / humano aprova / humano decide / copiloto). Mantenha o contraste visual: verde = máquina, lavanda = você.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Caso prático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PRÁTICO · RESULTADO E CICATRIZES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ganhei, o que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quebrou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 o que eu faria diferente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423160"/>
            <a:ext cx="3538728" cy="2514600"/>
          </a:xfrm>
          <a:prstGeom prst="roundRect">
            <a:avLst>
              <a:gd name="adj" fmla="val 3636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32688" y="2660904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→ DEPOIS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32688" y="2990088"/>
            <a:ext cx="2990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por execução: de X para Y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que passou a caber: Z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execução: R$ —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número que você consiga defender vale mais que três estimados.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89704" y="2423160"/>
            <a:ext cx="3538728" cy="2514600"/>
          </a:xfrm>
          <a:prstGeom prst="roundRect">
            <a:avLst>
              <a:gd name="adj" fmla="val 3636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4024" y="2660904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QUEBROU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64024" y="2990088"/>
            <a:ext cx="2990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falha mais interessante do projeto — de preferência uma em que o modelo errou com confiança e você só descobriu depois.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você detectou, e qual guarda-corpo entrou depois.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321040" y="2423160"/>
            <a:ext cx="3538728" cy="2514600"/>
          </a:xfrm>
          <a:prstGeom prst="roundRect">
            <a:avLst>
              <a:gd name="adj" fmla="val 3636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8595360" y="2660904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EU FARIA DIFERENTE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595360" y="2990088"/>
            <a:ext cx="2990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coisa concreta. Normalmente: “teria escrito os casos de teste antes do prompt” ou “teria começado por uma etapa menor”.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5349240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44982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HUMANO FICOU — E POR QUÊ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14400" y="5650992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Fechar amarrando à parada 03: qual dos quatro padrões você usou em cada ponto, e o que aconteceu quando tentou tirar o humano de onde ele era necessário.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Caso prático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822960"/>
            <a:ext cx="2560320" cy="2560320"/>
          </a:xfrm>
          <a:prstGeom prst="roundRect">
            <a:avLst>
              <a:gd name="adj" fmla="val 10714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143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e </a:t>
            </a:r>
            <a:pPr indent="0" marL="0">
              <a:buNone/>
            </a:pPr>
            <a:r>
              <a:rPr lang="en-US" sz="26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de uma semana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25296" y="21488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Mapeie o processo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escolher a ferramenta.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28986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Automatize o que é digitação. Mantenha o humano onde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errar é caro</a:t>
            </a:r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" y="36484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25296" y="364845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eval e sem dono, nenhuma automação sobrevive ao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terceiro mês</a:t>
            </a:r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58368" y="4663440"/>
            <a:ext cx="10874959" cy="1234440"/>
          </a:xfrm>
          <a:prstGeom prst="roundRect">
            <a:avLst>
              <a:gd name="adj" fmla="val 740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48280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69264" y="5084064"/>
            <a:ext cx="1025316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um processo que você executa toda semana. Preencha o canvas de uma página. Marque a única linha que é pura digitação. Automatize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ela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Meça. Depois volte para a segunda linha.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8368" y="6080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 — perguntas?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Automatização de processos com IA</dc:title>
  <dc:subject>PptxGenJS Presentation</dc:subject>
  <dc:creator>Gabriel Corrêa</dc:creator>
  <cp:lastModifiedBy>Gabriel Corrêa</cp:lastModifiedBy>
  <cp:revision>1</cp:revision>
  <dcterms:created xsi:type="dcterms:W3CDTF">2026-07-30T11:51:42Z</dcterms:created>
  <dcterms:modified xsi:type="dcterms:W3CDTF">2026-07-30T11:51:42Z</dcterms:modified>
</cp:coreProperties>
</file>