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 e a promessa em uma frase: vocês vão sair com um roteiro de entrevista, uma notação de fluxograma e uma regra de decisão. Prometa o kit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em 30 segundos, não currículo. A frase do painel escuro é a tese da palestra inteira: script / IA / pessoa. Ela volta no slide 8. ~1 min.
PENDENTE: salvar a foto em assets/bruno.jpg e rodar node make_pptx.js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cartas têm a mesma anatomia de propósito: a plateia compara direto o desfecho, 'uma solução' contra 'o processo'. Não é que a pergunta 1 seja proibida — ela pergunta sobre o futuro que a pessoa imagina, e a 2 pergunta sobre o presente que ela executa.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artefato do slide. Leia as sete rápido e pare na 2 e na 3 — são as duas em rosa. Diga que este slide está no kit, então ninguém precisa anotar.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Ensine a notação inteira aqui — são só quatro formas. A regra 2 (losango sem regra escrita) é a que mais gera pergunta; guarde um exemplo na manga.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Aponte cada fala e a caixa que ela virou. O ponto alto é a quinta: losango + regra de graça. Diga que nada aqui é sobre IA ainda.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Distinção central da palestra. Pergunte quem já usa IA no dia a dia (muitas mãos) e quem tem IA rodando sem supervisão em produção (poucas). A diferença entre as duas mãos é este slide.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que a plateia fotografa. As três frases entre aspas são o gancho: elas vêm da entrevista do slide 4, então o método fecha aqui. Termine lendo a ordem de perguntar.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alto da primeira metade: a arquitetura apareceu sem ninguém escrever documento. Fale o placar em voz alta — 3 de 6 caixas viraram Python.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 é a frase inteira: a IA decide quando tem certeza e passa adiante quando não tem. Passe o código devagar. O campo faltou_contexto é o detalhe que ninguém espera.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consulta — não leia linha por linha. Fale as duas rosas (orquestração e eval) e as três confusões do rodapé. Se precisar cortar tempo, este é o slide que encurta.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método, não um case fechado — e é de propósito: o que dá para levar embora é a ordem. Pare na fase 3 e diga que o determinístico vem antes da IA porque é assim que sobra menos IA para escrever, testar e pagar. A fase 4 é a que mais gente pula: apresentar e pegar feedback.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último slide antes do fecho. Diga que a skill é o método da palestra empacotado, e que o que ela NÃO faz é o mais importante: ela não chuta. Mostre o print e prometa o link.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As três frases são o resumo da palestra inteira — leia devagar. O desafio de uma hora é o call to action: não é 'automatize um processo', é 'faça uma entrevista'.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IA ajuda — e onde um script resolve melhor.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FALANDO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A08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foto: salve em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A08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assets/bruno.jpg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813048" y="1536192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81304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-17" kern="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em Dados no </a:t>
            </a:r>
            <a:pPr indent="0" marL="0">
              <a:buNone/>
            </a:pPr>
            <a:r>
              <a:rPr lang="en-US" sz="1700" b="1" spc="-1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Nubank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813048" y="2871216"/>
            <a:ext cx="16916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 Boticário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32704" y="287121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iFood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29400" y="2871216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EBANX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63256" y="2871216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Nubank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13048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 — UFPR  ·  6+ anos entre análise de dados, BI e decisão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813048" y="3950208"/>
            <a:ext cx="7720279" cy="1417320"/>
          </a:xfrm>
          <a:prstGeom prst="roundRect">
            <a:avLst>
              <a:gd name="adj" fmla="val 8387"/>
            </a:avLst>
          </a:prstGeom>
          <a:solidFill>
            <a:srgbClr val="4E0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EU FAÇO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87368" y="4370832"/>
            <a:ext cx="71716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últimos anos foram automatizando processo de decisão: entender como ele acontece hoje e devolver a parte repetitiva pra máquina —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quando dá, IA quando é linguagem, pessoa quando o erro custa caro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ONDE A CONVERSA COMEÇA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perguntas para o </a:t>
            </a:r>
            <a:pPr indent="0" marL="0">
              <a:buNone/>
            </a:pPr>
            <a:r>
              <a:rPr lang="en-US" sz="2900" b="1" spc="-64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processo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58368" y="1965960"/>
            <a:ext cx="5254600" cy="3108960"/>
          </a:xfrm>
          <a:prstGeom prst="roundRect">
            <a:avLst>
              <a:gd name="adj" fmla="val 3235"/>
            </a:avLst>
          </a:prstGeom>
          <a:solidFill>
            <a:srgbClr val="5C2470"/>
          </a:solidFill>
          <a:ln w="12700">
            <a:solidFill>
              <a:srgbClr val="8E6F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203704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B79A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50976" y="2496312"/>
            <a:ext cx="466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vocês querem automatizar?”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50976" y="3410712"/>
            <a:ext cx="4669384" cy="10973"/>
          </a:xfrm>
          <a:prstGeom prst="rect">
            <a:avLst/>
          </a:prstGeom>
          <a:solidFill>
            <a:srgbClr val="8E6F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3557016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9B8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RESPOSTA QUE VEM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50976" y="3758184"/>
            <a:ext cx="466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DCC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“Queria um bot que respondesse os chamados.”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50976" y="4361688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9B8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RECEBE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50976" y="4562856"/>
            <a:ext cx="4669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53" kern="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278728" y="1965960"/>
            <a:ext cx="5254600" cy="3108960"/>
          </a:xfrm>
          <a:prstGeom prst="roundRect">
            <a:avLst>
              <a:gd name="adj" fmla="val 3235"/>
            </a:avLst>
          </a:prstGeom>
          <a:solidFill>
            <a:srgbClr val="6A1350"/>
          </a:solidFill>
          <a:ln w="12700">
            <a:solidFill>
              <a:srgbClr val="FF8F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1336" y="2203704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71336" y="2496312"/>
            <a:ext cx="466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“Como você faz esse processo hoje?”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571336" y="3410712"/>
            <a:ext cx="4669384" cy="10973"/>
          </a:xfrm>
          <a:prstGeom prst="rect">
            <a:avLst/>
          </a:prstGeom>
          <a:solidFill>
            <a:srgbClr val="C26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1336" y="3557016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C98B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RESPOSTA QUE VEM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571336" y="3758184"/>
            <a:ext cx="466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DCC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aí eu jogo no sistema, copio nome e CPF…”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71336" y="4361688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C98B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RECEBE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571336" y="4562856"/>
            <a:ext cx="4669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53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58368" y="525780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segunda não é mais esperta — ela só pergunta sobre o </a:t>
            </a:r>
            <a:pPr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</a:t>
            </a:r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primeira pede um palpite sobre o que deveria mudar; a segunda pede a descrição do que já acontece, e isso qualquer pessoa dá com precisão.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HOJE 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conversar → desenhar → decidir quem faz cada caixa → ferramentas → um caso →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pra baixar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A CONVERSA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 que arrancam o processo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inteiro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5953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“Como você faz esse processo hoje? Me conta na ordem.”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59536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reais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não a versão oficial do gestor.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282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399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2399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te faz parar e perguntar pra alguém?”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2399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399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é um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vem com a regra junto.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728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845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8845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 copia de um lugar pro outro?”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8845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845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Digitação pura.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caixa que vira script.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51747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2915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52915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“Quando isso dá errado, como você descobre?”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52915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52915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resposta aqui,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automatize ainda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“Qual é o caso chato que sempre aparece?”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953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exceções. Viram os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teste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depois.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282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2399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2399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“Quantas vezes você faz isso por dia?”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2399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2399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Frequência.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rara não paga automação.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8728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845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8845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você errar aqui, o que acontece?”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8845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8845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do erro. Decide se a etapa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rodar sozinha.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951747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4F0F9"/>
          </a:solidFill>
          <a:ln w="12700">
            <a:solidFill>
              <a:srgbClr val="EAE3F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52915" y="4379976"/>
            <a:ext cx="21792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DUAS FAZEM 70% DO TRABALHO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152915" y="4654296"/>
            <a:ext cx="21792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 entrega os losangos; 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 caixas que viram script. Grave a conversa e desenhe em cima da transcrição — não da memória.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Conversar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O DESENHO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 e três regras.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BPMN.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184708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o nome da caixa tem “e”, são duas caixas. “Registrar e classificar” esconde exatamente a etapa que você ia automatizar.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752344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752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27249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a regra escrita embaixo.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Losango sem regra é decisão que ninguém revisou — e é onde a automação quebra três meses depois.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630168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97280" y="360273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as duas saídas.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Seta sem rótulo esconde o caminho que ninguém tratou. Na dúvida entre ação e decisão, é decisão.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617720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617720"/>
            <a:ext cx="45720" cy="102412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709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QUE DESENHAR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77824" y="49377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Papel, na frente da pessoa, na hora. Depois passe pro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Miro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todo mundo já tem, dá pra editar junto na chamada, e o quadro vira o documento do processo em vez de virar mais um anexo.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6694" y="15179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99340" y="1971446"/>
            <a:ext cx="1528354" cy="529829"/>
          </a:xfrm>
          <a:prstGeom prst="roundRect">
            <a:avLst>
              <a:gd name="adj" fmla="val 86292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5"/>
              </a:lnSpc>
              <a:buNone/>
            </a:pPr>
            <a:r>
              <a:rPr lang="en-US" sz="144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444" dirty="0"/>
          </a:p>
        </p:txBody>
      </p:sp>
      <p:sp>
        <p:nvSpPr>
          <p:cNvPr id="20" name="Text 18"/>
          <p:cNvSpPr/>
          <p:nvPr/>
        </p:nvSpPr>
        <p:spPr>
          <a:xfrm>
            <a:off x="8731475" y="2124282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284" dirty="0"/>
          </a:p>
        </p:txBody>
      </p:sp>
      <p:sp>
        <p:nvSpPr>
          <p:cNvPr id="21" name="Text 19"/>
          <p:cNvSpPr/>
          <p:nvPr/>
        </p:nvSpPr>
        <p:spPr>
          <a:xfrm>
            <a:off x="6999340" y="2827325"/>
            <a:ext cx="1528354" cy="529829"/>
          </a:xfrm>
          <a:prstGeom prst="roundRect">
            <a:avLst>
              <a:gd name="adj" fmla="val 15533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524" dirty="0"/>
          </a:p>
        </p:txBody>
      </p:sp>
      <p:sp>
        <p:nvSpPr>
          <p:cNvPr id="22" name="Text 20"/>
          <p:cNvSpPr/>
          <p:nvPr/>
        </p:nvSpPr>
        <p:spPr>
          <a:xfrm>
            <a:off x="8731475" y="289864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284" dirty="0"/>
          </a:p>
        </p:txBody>
      </p:sp>
      <p:sp>
        <p:nvSpPr>
          <p:cNvPr id="23" name="Text 21"/>
          <p:cNvSpPr/>
          <p:nvPr/>
        </p:nvSpPr>
        <p:spPr>
          <a:xfrm>
            <a:off x="8731475" y="3122807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284" dirty="0"/>
          </a:p>
        </p:txBody>
      </p:sp>
      <p:sp>
        <p:nvSpPr>
          <p:cNvPr id="24" name="Text 22"/>
          <p:cNvSpPr/>
          <p:nvPr/>
        </p:nvSpPr>
        <p:spPr>
          <a:xfrm>
            <a:off x="6999340" y="3683203"/>
            <a:ext cx="1528354" cy="69285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524" dirty="0"/>
          </a:p>
        </p:txBody>
      </p:sp>
      <p:sp>
        <p:nvSpPr>
          <p:cNvPr id="25" name="Text 23"/>
          <p:cNvSpPr/>
          <p:nvPr/>
        </p:nvSpPr>
        <p:spPr>
          <a:xfrm>
            <a:off x="8731475" y="3815661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284" dirty="0"/>
          </a:p>
        </p:txBody>
      </p:sp>
      <p:sp>
        <p:nvSpPr>
          <p:cNvPr id="26" name="Text 24"/>
          <p:cNvSpPr/>
          <p:nvPr/>
        </p:nvSpPr>
        <p:spPr>
          <a:xfrm>
            <a:off x="8731475" y="403981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284" dirty="0"/>
          </a:p>
        </p:txBody>
      </p:sp>
      <p:sp>
        <p:nvSpPr>
          <p:cNvPr id="27" name="Shape 25"/>
          <p:cNvSpPr/>
          <p:nvPr/>
        </p:nvSpPr>
        <p:spPr>
          <a:xfrm>
            <a:off x="6999340" y="4885509"/>
            <a:ext cx="1385708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264255" y="4610405"/>
            <a:ext cx="407561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120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203" dirty="0"/>
          </a:p>
        </p:txBody>
      </p:sp>
      <p:sp>
        <p:nvSpPr>
          <p:cNvPr id="29" name="Text 27"/>
          <p:cNvSpPr/>
          <p:nvPr/>
        </p:nvSpPr>
        <p:spPr>
          <a:xfrm>
            <a:off x="8731475" y="467153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284" dirty="0"/>
          </a:p>
        </p:txBody>
      </p:sp>
      <p:sp>
        <p:nvSpPr>
          <p:cNvPr id="30" name="Text 28"/>
          <p:cNvSpPr/>
          <p:nvPr/>
        </p:nvSpPr>
        <p:spPr>
          <a:xfrm>
            <a:off x="8731475" y="489569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284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fala ao desenho: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frases viram um fluxo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379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ou o cliente abre pelo formulário.”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2219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início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5694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“Aí eu jogo no sistema: copio nome, CPF e o texto do chamado.”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29535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registrar chamado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24612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24612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3009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“Leio e vejo do que se trata — cobrança, fraude, cadastro.”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36850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classificar assunto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97764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97764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325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“Escrevo a resposta. Geralmente é parecida com outras que já mandei.”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9536" y="44165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redigir resposta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470916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709160"/>
            <a:ext cx="41148" cy="67665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7640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for desconto acima de 10%, eu paro e mando pro meu gestor.”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" y="5148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losango + a regra, na mesma frase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279767" y="1774393"/>
            <a:ext cx="1419606" cy="308610"/>
          </a:xfrm>
          <a:prstGeom prst="roundRect">
            <a:avLst>
              <a:gd name="adj" fmla="val 148148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875" dirty="0"/>
          </a:p>
        </p:txBody>
      </p:sp>
      <p:sp>
        <p:nvSpPr>
          <p:cNvPr id="26" name="Text 24"/>
          <p:cNvSpPr/>
          <p:nvPr/>
        </p:nvSpPr>
        <p:spPr>
          <a:xfrm>
            <a:off x="7279767" y="2280514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923" dirty="0"/>
          </a:p>
        </p:txBody>
      </p:sp>
      <p:sp>
        <p:nvSpPr>
          <p:cNvPr id="27" name="Text 25"/>
          <p:cNvSpPr/>
          <p:nvPr/>
        </p:nvSpPr>
        <p:spPr>
          <a:xfrm>
            <a:off x="7279767" y="2798978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923" dirty="0"/>
          </a:p>
        </p:txBody>
      </p:sp>
      <p:sp>
        <p:nvSpPr>
          <p:cNvPr id="28" name="Text 26"/>
          <p:cNvSpPr/>
          <p:nvPr/>
        </p:nvSpPr>
        <p:spPr>
          <a:xfrm>
            <a:off x="7279767" y="331744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923" dirty="0"/>
          </a:p>
        </p:txBody>
      </p:sp>
      <p:sp>
        <p:nvSpPr>
          <p:cNvPr id="29" name="Text 27"/>
          <p:cNvSpPr/>
          <p:nvPr/>
        </p:nvSpPr>
        <p:spPr>
          <a:xfrm>
            <a:off x="7279767" y="3860597"/>
            <a:ext cx="1419606" cy="592531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826" dirty="0"/>
          </a:p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826" dirty="0"/>
          </a:p>
        </p:txBody>
      </p:sp>
      <p:sp>
        <p:nvSpPr>
          <p:cNvPr id="30" name="Text 28"/>
          <p:cNvSpPr/>
          <p:nvPr/>
        </p:nvSpPr>
        <p:spPr>
          <a:xfrm>
            <a:off x="9007983" y="3996385"/>
            <a:ext cx="1296162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923" dirty="0"/>
          </a:p>
        </p:txBody>
      </p:sp>
      <p:sp>
        <p:nvSpPr>
          <p:cNvPr id="31" name="Text 29"/>
          <p:cNvSpPr/>
          <p:nvPr/>
        </p:nvSpPr>
        <p:spPr>
          <a:xfrm>
            <a:off x="7279767" y="466298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923" dirty="0"/>
          </a:p>
        </p:txBody>
      </p:sp>
      <p:sp>
        <p:nvSpPr>
          <p:cNvPr id="32" name="Text 30"/>
          <p:cNvSpPr/>
          <p:nvPr/>
        </p:nvSpPr>
        <p:spPr>
          <a:xfrm>
            <a:off x="9810369" y="4662983"/>
            <a:ext cx="617220" cy="320954"/>
          </a:xfrm>
          <a:prstGeom prst="roundRect">
            <a:avLst>
              <a:gd name="adj" fmla="val 142450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875" dirty="0"/>
          </a:p>
        </p:txBody>
      </p:sp>
      <p:sp>
        <p:nvSpPr>
          <p:cNvPr id="33" name="Shape 31"/>
          <p:cNvSpPr/>
          <p:nvPr/>
        </p:nvSpPr>
        <p:spPr>
          <a:xfrm>
            <a:off x="7989570" y="208300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989570" y="2601468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89570" y="311993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89570" y="3638398"/>
            <a:ext cx="0" cy="18516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99373" y="4156862"/>
            <a:ext cx="27157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989570" y="4453128"/>
            <a:ext cx="0" cy="172822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656064" y="4317340"/>
            <a:ext cx="0" cy="19751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8390763" y="4514850"/>
            <a:ext cx="1265301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90763" y="4514850"/>
            <a:ext cx="0" cy="11110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699373" y="4823460"/>
            <a:ext cx="1073963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8748751" y="3990213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729" dirty="0"/>
          </a:p>
        </p:txBody>
      </p:sp>
      <p:sp>
        <p:nvSpPr>
          <p:cNvPr id="44" name="Text 42"/>
          <p:cNvSpPr/>
          <p:nvPr/>
        </p:nvSpPr>
        <p:spPr>
          <a:xfrm>
            <a:off x="8057464" y="4471645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729" dirty="0"/>
          </a:p>
        </p:txBody>
      </p:sp>
      <p:sp>
        <p:nvSpPr>
          <p:cNvPr id="45" name="Text 43"/>
          <p:cNvSpPr/>
          <p:nvPr/>
        </p:nvSpPr>
        <p:spPr>
          <a:xfrm>
            <a:off x="7279767" y="5107381"/>
            <a:ext cx="203682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11"/>
              </a:lnSpc>
              <a:buNone/>
            </a:pPr>
            <a:r>
              <a:rPr lang="en-US" sz="778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778" dirty="0"/>
          </a:p>
        </p:txBody>
      </p:sp>
      <p:sp>
        <p:nvSpPr>
          <p:cNvPr id="46" name="Text 44"/>
          <p:cNvSpPr/>
          <p:nvPr/>
        </p:nvSpPr>
        <p:spPr>
          <a:xfrm>
            <a:off x="7279767" y="5255514"/>
            <a:ext cx="234543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74"/>
              </a:lnSpc>
              <a:buNone/>
            </a:pPr>
            <a:r>
              <a:rPr lang="en-US" sz="826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826" dirty="0"/>
          </a:p>
        </p:txBody>
      </p:sp>
      <p:sp>
        <p:nvSpPr>
          <p:cNvPr id="47" name="Shape 45"/>
          <p:cNvSpPr/>
          <p:nvPr/>
        </p:nvSpPr>
        <p:spPr>
          <a:xfrm>
            <a:off x="658368" y="5614416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8368" y="5614416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742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quinta frase entregou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e a regra na mesma respiração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repare: até aqui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foi dito sobre IA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ONDE A IA ENTRA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escolher modelo: você quer a IA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ferramenta — um copiloto seu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meio.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uso é uma decisão sua, e você vê a saída antes de qualquer coisa acontecer.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Escrever o script · entender uma base nova · gerar o SQL · revisar um texto · virar 40 páginas de PDF em resumo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5097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eval, log nem dono.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Precisa de você prestando atenção. Começa hoje, sem projeto e sem aprovação.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133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solução — dentro do processo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7133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sem você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 vezes por dia, e o resultado vai direto pro cliente ou pro sistema seguinte.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7133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 todo chamado que entra · extrair campo de documento · redigir a primeira versão da resposta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7133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tudo que um sistema precisa: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saída com schema, limiar de confiança, log por execução, dono com nome e um conjunto de casos de teste.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285232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7667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CONFUSÃO QUE MATA PROJETO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59612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todo piloto que morre no terceiro mês é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tratada como se fosse ferramenta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funcionou lindo no chat de quem construiu, e ninguém desenhou o que acontece quando erra às 3 da manhã sem ninguém olhando.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é ferramenta. Produção é solução.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CLASSIFICAÇÃO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caixa do fluxo vira uma de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D6E6F8"/>
          </a:solidFill>
          <a:ln w="12700">
            <a:solidFill>
              <a:srgbClr val="1D4F9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tradicional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BFD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45336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BFD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0532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BFD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14016"/>
            <a:ext cx="489204" cy="237744"/>
          </a:xfrm>
          <a:prstGeom prst="roundRect">
            <a:avLst>
              <a:gd name="adj" fmla="val 15385"/>
            </a:avLst>
          </a:prstGeom>
          <a:solidFill>
            <a:srgbClr val="BFD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58084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BFD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fixa, a entrada é estruturada e a saída é sempre a mesma.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“eu copio daqui pra lá” · “rodo esse relatório toda segunda”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QUE NÃO IA AQUI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determinístico e testável.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 e confia pra sempre.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4794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DEDF6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0826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30826" y="2414016"/>
            <a:ext cx="969264" cy="237744"/>
          </a:xfrm>
          <a:prstGeom prst="roundRect">
            <a:avLst>
              <a:gd name="adj" fmla="val 15385"/>
            </a:avLst>
          </a:prstGeom>
          <a:solidFill>
            <a:srgbClr val="F8D3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+ schema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73242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F8D3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limiar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04178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8D3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30826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0826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entrada é linguagem, a regra é ambígua, e verificar custa menos que fazer.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30826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30826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“depende do que tá escrito” · “eu leio e decido na hora”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30826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PREÇO QUE VEM JUNTO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30826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determinística. Sem casos de teste, limiar e um caminho de “não sei”, você trocou trabalho por risco.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91221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9E8CD"/>
          </a:solidFill>
          <a:ln w="12700">
            <a:solidFill>
              <a:srgbClr val="B46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47253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B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347253" y="2414016"/>
            <a:ext cx="832104" cy="237744"/>
          </a:xfrm>
          <a:prstGeom prst="roundRect">
            <a:avLst>
              <a:gd name="adj" fmla="val 15385"/>
            </a:avLst>
          </a:prstGeom>
          <a:solidFill>
            <a:srgbClr val="EDD1A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462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julgamento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47253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62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347253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 — ou a regra ainda nem existe.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7253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62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347253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“isso aí eu levo pro meu gestor” · “cada caso é um caso”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47253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62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BOA NOTÍCIA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347253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Costuma ser pouco volume.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gente ali é barato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é o que te deixa automatizar o resto sem medo.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5321808"/>
            <a:ext cx="10874959" cy="868680"/>
          </a:xfrm>
          <a:prstGeom prst="roundRect">
            <a:avLst>
              <a:gd name="adj" fmla="val 1052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8368" y="5321808"/>
            <a:ext cx="45720" cy="86868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5046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ORDEM DE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1945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945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5237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pra fazer com um if?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dá, faça com if.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091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383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é, a pessoa decide.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2237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237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529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dos dois?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 revisão por amostragem.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601200" y="5486400"/>
            <a:ext cx="10973" cy="548640"/>
          </a:xfrm>
          <a:prstGeom prst="rect">
            <a:avLst/>
          </a:prstGeom>
          <a:solidFill>
            <a:srgbClr val="E7C9D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802368" y="55229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é a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pergunta,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a primeira.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 ENTREGÁVEL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pronto: </a:t>
            </a:r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6850" y="1917834"/>
            <a:ext cx="1660358" cy="360947"/>
          </a:xfrm>
          <a:prstGeom prst="roundRect">
            <a:avLst>
              <a:gd name="adj" fmla="val 126667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1023" dirty="0"/>
          </a:p>
        </p:txBody>
      </p:sp>
      <p:sp>
        <p:nvSpPr>
          <p:cNvPr id="6" name="Text 4"/>
          <p:cNvSpPr/>
          <p:nvPr/>
        </p:nvSpPr>
        <p:spPr>
          <a:xfrm>
            <a:off x="1146850" y="2509787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9CC0EA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46850" y="3116179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DEDF6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1146850" y="372257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DEDF6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1146850" y="4357838"/>
            <a:ext cx="1660358" cy="693019"/>
          </a:xfrm>
          <a:prstGeom prst="diamond">
            <a:avLst/>
          </a:prstGeom>
          <a:solidFill>
            <a:srgbClr val="9CC0EA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966" dirty="0"/>
          </a:p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966" dirty="0"/>
          </a:p>
        </p:txBody>
      </p:sp>
      <p:sp>
        <p:nvSpPr>
          <p:cNvPr id="10" name="Text 8"/>
          <p:cNvSpPr/>
          <p:nvPr/>
        </p:nvSpPr>
        <p:spPr>
          <a:xfrm>
            <a:off x="3168155" y="4516655"/>
            <a:ext cx="1515979" cy="375385"/>
          </a:xfrm>
          <a:prstGeom prst="roundRect">
            <a:avLst>
              <a:gd name="adj" fmla="val 21923"/>
            </a:avLst>
          </a:prstGeom>
          <a:solidFill>
            <a:srgbClr val="EFCB8F"/>
          </a:solidFill>
          <a:ln w="15875">
            <a:solidFill>
              <a:srgbClr val="B4620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46850" y="529630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9CC0EA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4106619" y="5296301"/>
            <a:ext cx="721895" cy="375385"/>
          </a:xfrm>
          <a:prstGeom prst="roundRect">
            <a:avLst>
              <a:gd name="adj" fmla="val 121795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023" dirty="0"/>
          </a:p>
        </p:txBody>
      </p:sp>
      <p:sp>
        <p:nvSpPr>
          <p:cNvPr id="13" name="Shape 11"/>
          <p:cNvSpPr/>
          <p:nvPr/>
        </p:nvSpPr>
        <p:spPr>
          <a:xfrm>
            <a:off x="1977029" y="2278781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7029" y="2885173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77029" y="3491564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77029" y="4097956"/>
            <a:ext cx="0" cy="21656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07208" y="4704347"/>
            <a:ext cx="31763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977029" y="5050857"/>
            <a:ext cx="0" cy="202131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926145" y="4892040"/>
            <a:ext cx="0" cy="27432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446261" y="5166360"/>
            <a:ext cx="147988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261" y="5166360"/>
            <a:ext cx="0" cy="8662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07208" y="5483994"/>
            <a:ext cx="125609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864960" y="4509436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3" dirty="0"/>
          </a:p>
        </p:txBody>
      </p:sp>
      <p:sp>
        <p:nvSpPr>
          <p:cNvPr id="24" name="Text 22"/>
          <p:cNvSpPr/>
          <p:nvPr/>
        </p:nvSpPr>
        <p:spPr>
          <a:xfrm>
            <a:off x="2056437" y="5072514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3" dirty="0"/>
          </a:p>
        </p:txBody>
      </p:sp>
      <p:sp>
        <p:nvSpPr>
          <p:cNvPr id="25" name="Text 23"/>
          <p:cNvSpPr/>
          <p:nvPr/>
        </p:nvSpPr>
        <p:spPr>
          <a:xfrm>
            <a:off x="2893835" y="2596415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API do sistema</a:t>
            </a:r>
            <a:endParaRPr lang="en-US" sz="796" dirty="0"/>
          </a:p>
        </p:txBody>
      </p:sp>
      <p:sp>
        <p:nvSpPr>
          <p:cNvPr id="26" name="Text 24"/>
          <p:cNvSpPr/>
          <p:nvPr/>
        </p:nvSpPr>
        <p:spPr>
          <a:xfrm>
            <a:off x="2893835" y="3202806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</a:t>
            </a:r>
            <a:endParaRPr lang="en-US" sz="796" dirty="0"/>
          </a:p>
        </p:txBody>
      </p:sp>
      <p:sp>
        <p:nvSpPr>
          <p:cNvPr id="27" name="Text 25"/>
          <p:cNvSpPr/>
          <p:nvPr/>
        </p:nvSpPr>
        <p:spPr>
          <a:xfrm>
            <a:off x="2893835" y="3809198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 + revisão</a:t>
            </a:r>
            <a:endParaRPr lang="en-US" sz="796" dirty="0"/>
          </a:p>
        </p:txBody>
      </p:sp>
      <p:sp>
        <p:nvSpPr>
          <p:cNvPr id="28" name="Text 26"/>
          <p:cNvSpPr/>
          <p:nvPr/>
        </p:nvSpPr>
        <p:spPr>
          <a:xfrm>
            <a:off x="4741886" y="4603282"/>
            <a:ext cx="1515979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B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baixo volume</a:t>
            </a:r>
            <a:endParaRPr lang="en-US" sz="796" dirty="0"/>
          </a:p>
        </p:txBody>
      </p:sp>
      <p:sp>
        <p:nvSpPr>
          <p:cNvPr id="29" name="Text 27"/>
          <p:cNvSpPr/>
          <p:nvPr/>
        </p:nvSpPr>
        <p:spPr>
          <a:xfrm>
            <a:off x="1146850" y="5722219"/>
            <a:ext cx="721895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96" dirty="0"/>
          </a:p>
        </p:txBody>
      </p:sp>
      <p:sp>
        <p:nvSpPr>
          <p:cNvPr id="30" name="Shape 28"/>
          <p:cNvSpPr/>
          <p:nvPr/>
        </p:nvSpPr>
        <p:spPr>
          <a:xfrm>
            <a:off x="6675120" y="1965960"/>
            <a:ext cx="4846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2139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placar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245059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 + 1 decisão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3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continua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B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296265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Metade do processo foi resolvida sem IA nenhuma. Isso é bom sinal, não fracasso.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75120" y="3547872"/>
            <a:ext cx="4846320" cy="1874520"/>
          </a:xfrm>
          <a:prstGeom prst="roundRect">
            <a:avLst>
              <a:gd name="adj" fmla="val 4878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703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13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desenho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402336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rosas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em alto volume, com erro tolerável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ali que a IA se paga.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31152" y="4498848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lavanda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poucos julgamentos, todos irreversíveis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continua humana, e é barato que continue.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31152" y="497433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decisão de IA e não é — é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desconto &gt; 0.10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9340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9CC0EA"/>
          </a:solidFill>
          <a:ln w="15875">
            <a:solidFill>
              <a:srgbClr val="1D4F9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1286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7356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FDEDF6"/>
          </a:solidFill>
          <a:ln w="15875">
            <a:solidFill>
              <a:srgbClr val="E800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7084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FCB8F"/>
          </a:solidFill>
          <a:ln w="15875">
            <a:solidFill>
              <a:srgbClr val="B4620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9030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COMO IA E PESSOA DIVIDEM O TRABALHO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IA não tem certeza,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passa pra uma pessoa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58368" y="188366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 · A REGRA DO REPASSE, EM DOZE LINHAS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2121408"/>
            <a:ext cx="6720840" cy="3063240"/>
          </a:xfrm>
          <a:prstGeom prst="roundRect">
            <a:avLst>
              <a:gd name="adj" fmla="val 238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6391656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"cobranca"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"cadastro"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"outro"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estruturada, não texto livre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(chamado.id, r, modelo=MODELO, prompt_v=PROMPT_V)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35240" y="2121408"/>
            <a:ext cx="38862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1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pessoa revisa mesmo? Três perguntas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revisor tem tempo e informação pra discordar?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0" y="29992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 registro de quando ele discordou? Rejeição de 0% é alarme, não é qualidade.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34015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revisar por amostragem daria o mesmo, revisar item a item é teatro — e custa uma pessoa.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35240" y="3931920"/>
            <a:ext cx="3886200" cy="1353312"/>
          </a:xfrm>
          <a:prstGeom prst="roundRect">
            <a:avLst>
              <a:gd name="adj" fmla="val 67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4069080"/>
            <a:ext cx="3474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LGPD, art. 20.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titular pode pedir revisão de decisão tomada </a:t>
            </a:r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unicamente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forma automatizada. Em serviço financeiro isso define quais caixas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saber qual versão do modelo decidiu o quê.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536752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367528"/>
            <a:ext cx="45720" cy="84124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5896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DETALHES QUE DECIDEM SE ISSO FUNCIONA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67842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 o campo faltou_contexto, o modelo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diz “não sei”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ele chuta com confiança alta. “Não sei” precisa ser uma saída permitida no prompt.  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Mande a sugestão junto com o caso: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que chega em branco custa o mesmo que não ter automação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PANORAMA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camadas — e as 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pra produção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89280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44368" y="1865376"/>
            <a:ext cx="111008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Opus 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27602" y="186537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54219" y="1865376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Haiku 4.5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852160" y="186537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22162" y="1865376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2.5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1426" y="1865376"/>
            <a:ext cx="1894637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 / Qwen self-hosted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295790" y="1865376"/>
            <a:ext cx="20546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motor, não o produto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227685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241401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368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944368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28339" y="2386584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3634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04181" y="2386584"/>
            <a:ext cx="6246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 a IA é ferramenta: você no meio, sem log e sem eval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27980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2935224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288950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de código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44368" y="2907792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84955" y="2907792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68926" y="2907792"/>
            <a:ext cx="53949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281574" y="2907792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73445" y="2907792"/>
            <a:ext cx="5277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leem e escrevem no seu repo, rodam comando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" y="3319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" y="3456432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34107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e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44368" y="3429000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628339" y="3429000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34917" y="3429000"/>
            <a:ext cx="721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instrução reutilizável · MCP = um protocolo no lugar de N integrações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58368" y="384048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9536" y="3977640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4128" y="39319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API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944368" y="3950208"/>
            <a:ext cx="1324051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Agent SDK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41571" y="3950208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direta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10835" y="3950208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08776" y="3950208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Pydantic AI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285939" y="3950208"/>
            <a:ext cx="4064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vira produto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8368" y="436168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" y="449884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4128" y="4453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944368" y="447141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414370" y="4471416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169664" y="447141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Temporal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96282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Functions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250838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41971" y="4471416"/>
            <a:ext cx="3808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idempotência, estado, quem dispara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" y="488289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9536" y="502005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4128" y="4974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944368" y="4992624"/>
            <a:ext cx="1965960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casos versionados no repo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983480" y="4992624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Langfuse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10098" y="4992624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Braintrust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815938" y="4992624"/>
            <a:ext cx="4534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isso, o terceiro mês te pega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58368" y="5559552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368" y="5559552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568756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não é modelo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não é orquestrador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editor com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é gatilho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orquestrador.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eu monto um projeto desses,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ordem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14400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32688" y="282549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Mapeio o processo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é feito hoje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" y="364845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a informação vem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planilha, ferramenta, base de dados, Slack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41116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97148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97148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15436" y="282549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0028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Crio 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715436" y="364845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80028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Escrevo o código que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pluga a fonte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informação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23864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9896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79896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Dividir o trabalho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98184" y="2825496"/>
            <a:ext cx="64008" cy="640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62776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Codo as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determinísticas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as de sim/não, conforme o fluxo se comporta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98184" y="3648456"/>
            <a:ext cx="64008" cy="640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62776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só onde precisa interpretação e saída qualitativa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98184" y="4471416"/>
            <a:ext cx="64008" cy="640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2776" y="440740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Defino 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e o lugar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output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06611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262643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o ciclo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280931" y="282549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45523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Implemento e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280931" y="364845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45523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Apresento e pego feedback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resolve mesmo a necessidade?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280931" y="447141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45523" y="440740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Ajusto se precisar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58368" y="5321808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8368" y="5321808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4132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DENTRO DA FASE 3 NÃO É ACASO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14400" y="5632704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determinístico vem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IA. É a mesma cascata do slide 8, agora com as mãos no teclado: eu escrevo os if primeiro e só depois olho o que sobrou. O que sobra costuma ser bem menos do que parecia no começo.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Na prática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6 · PRA LEVAR EMBORA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spc="-55" kern="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mapear-processo</a:t>
            </a:r>
            <a:pPr indent="0" marL="0">
              <a:lnSpc>
                <a:spcPts val="2700"/>
              </a:lnSpc>
              <a:buNone/>
            </a:pPr>
            <a:r>
              <a:rPr lang="en-US" sz="2500" b="1" spc="-55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indent="0" marL="0">
              <a:lnSpc>
                <a:spcPts val="2700"/>
              </a:lnSpc>
              <a:buNone/>
            </a:pPr>
            <a:r>
              <a:rPr lang="en-US" sz="2500" b="1" spc="-55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 desta palestra, instalável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5394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descreve um processo em português corrido. Ela devolve o fluxo desenhado, com </a:t>
            </a:r>
            <a:pPr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etapa classificada</a:t>
            </a:r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o motivo de cada classificação.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28254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865376" y="2798064"/>
            <a:ext cx="4187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interativo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abre sem internet · um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pra outro agente consumir · 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placar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processo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364845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FAZ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65376" y="3621024"/>
            <a:ext cx="4187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chuta. Quando a descrição não diz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custa errar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falha é percebida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ela marca a etapa como indefinida e devolve a pergunta.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454456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INSTALAR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65376" y="4443984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-r mapear-processo ~/.claude/skills/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5010912"/>
            <a:ext cx="5394960" cy="566928"/>
          </a:xfrm>
          <a:prstGeom prst="roundRect">
            <a:avLst>
              <a:gd name="adj" fmla="val 16129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512978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/ QR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12848" y="5129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endereço do repositório entra aqui antes da palestra.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1874520"/>
            <a:ext cx="5132527" cy="3977640"/>
          </a:xfrm>
          <a:prstGeom prst="roundRect">
            <a:avLst>
              <a:gd name="adj" fmla="val 2069"/>
            </a:avLst>
          </a:prstGeom>
          <a:solidFill>
            <a:srgbClr val="0F1117"/>
          </a:solidFill>
          <a:ln w="12700">
            <a:solidFill>
              <a:srgbClr val="2A2F3D"/>
            </a:solidFill>
            <a:prstDash val="solid"/>
          </a:ln>
        </p:spPr>
      </p:sp>
      <p:pic>
        <p:nvPicPr>
          <p:cNvPr id="16" name="Image 0" descr="/home/user/casamentos-app/talks/serasa-ia-automacao/assets/skill-pre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10528" y="1984248"/>
            <a:ext cx="4913071" cy="375818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O kit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spc="-5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spc="-57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hora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25296" y="2103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 vem antes do desenho. O desenho vem antes da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28163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 pra fazer com um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faça com um if. IA é a terceira pergunta.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5295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pessoa onde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errar é caro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prove que ela consegue discordar.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461772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4617720"/>
            <a:ext cx="45720" cy="1234440"/>
          </a:xfrm>
          <a:prstGeom prst="rect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73659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DE UMA HORA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9834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Pegue alguém do seu time que executa um processo toda semana. Faça as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Desenhe o fluxo na frente da pessoa. Marque a única caixa que é pura digitação — e automatize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ela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Depois volte pra segunda.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Bruno Prata</dc:creator>
  <cp:lastModifiedBy>Bruno Prata</cp:lastModifiedBy>
  <cp:revision>1</cp:revision>
  <dcterms:created xsi:type="dcterms:W3CDTF">2026-08-14T10:48:10Z</dcterms:created>
  <dcterms:modified xsi:type="dcterms:W3CDTF">2026-08-14T10:48:10Z</dcterms:modified>
</cp:coreProperties>
</file>