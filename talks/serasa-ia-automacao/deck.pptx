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curta. Nome e a promessa em uma frase: vocês vão sair com um roteiro de entrevista, uma notação de fluxograma e uma regra de decisão. Prometa o kit do fim.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Credencial em 30 segundos, não currículo. A frase do painel escuro é a tese da palestra inteira: script / IA / pessoa. Ela volta no slide 8.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pontuação. Encene o diálogo: faça a pergunta errada em voz alta e dê a resposta que sempre vem. A linha de baixo é o roteiro — aponte pra ela. ~1,5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artefato do slide. Leia as sete em voz alta, rápido, e pare na 2 e na 3 — são as duas destacadas. Diga que este slide está no kit.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Ensine a notação inteira aqui — são só quatro formas. A regra 2 (losango sem regra escrita) é a que mais gera pergunta; guarde um exemplo na manga. ~2,5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Aponte cada fala e a caixa que ela virou. O ponto alto é a quinta: losango + regra de graça. Diga que nada aqui é sobre IA ainda. ~2,5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Distinção central da palestra. Pergunte quem já usa IA no dia a dia (muitas mãos) e quem tem IA rodando sem supervisão em produção (poucas). A diferença entre as duas mãos é este slide.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slide que a plateia fotografa. As três frases entre aspas são o gancho: elas vêm da entrevista do slide 4, então o método fecha aqui. Termine lendo a ordem de perguntar.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alto da primeira metade: a arquitetura apareceu sem ninguém escrever documento. Fale o placar em voz alta — 3 de 6 caixas viraram Python. ~2,5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 o código linha a linha, devagar. O campo faltou_contexto é o detalhe que ninguém espera — sem ele o modelo nunca diz 'não sei'. O limiar sai do eval, não do chute.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consulta — não leia linha por linha. Fale as duas rosas (orquestração e eval) e as três confusões do rodapé. Se precisar cortar tempo, este é o slide que encurta. ~1,5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PENDENTE: substituir pelos slides do caso real. Três blocos, na ordem: processo + a fala que virou losango; o fluxo pintado com placar; o resultado e o que quebrou. ~4 min quando estiver pronto.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PENDENTE: publicar o repositório e trocar a caixa tracejada por link + QR. Diga que o kit é o motivo de ninguém precisar anotar nada durante a palestra.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Fecho. As três frases são o resumo da palestra inteira — leia devagar. O desafio de uma hora é o call to action: não é 'automatize um processo', é 'faça uma entrevista'. ~1,5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0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05840"/>
            <a:ext cx="3108960" cy="3108960"/>
          </a:xfrm>
          <a:prstGeom prst="roundRect">
            <a:avLst>
              <a:gd name="adj" fmla="val 882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42062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E800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2834640"/>
            <a:ext cx="457200" cy="457200"/>
          </a:xfrm>
          <a:prstGeom prst="ellipse">
            <a:avLst/>
          </a:prstGeom>
          <a:solidFill>
            <a:srgbClr val="FF8F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FF8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SERASA EXPERIAN · TECNOLOGIA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810512"/>
            <a:ext cx="9052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00"/>
              </a:lnSpc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de</a:t>
            </a:r>
            <a:endParaRPr lang="en-US" sz="4200" dirty="0"/>
          </a:p>
          <a:p>
            <a:pPr indent="0" marL="0">
              <a:lnSpc>
                <a:spcPts val="4300"/>
              </a:lnSpc>
              <a:buNone/>
            </a:pPr>
            <a:r>
              <a:rPr lang="en-US" sz="4200" b="1" spc="-12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 com </a:t>
            </a:r>
            <a:endParaRPr lang="en-US" sz="4200" dirty="0"/>
          </a:p>
          <a:p>
            <a:pPr indent="0" marL="0">
              <a:lnSpc>
                <a:spcPts val="4300"/>
              </a:lnSpc>
              <a:buNone/>
            </a:pPr>
            <a:r>
              <a:rPr lang="en-US" sz="4200" b="1" spc="-126" kern="0" dirty="0">
                <a:solidFill>
                  <a:srgbClr val="FF8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58368" y="38404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E7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IA ajuda — e onde um script resolve melhor.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5623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Bruno Prata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Palestra técnica · 25 minutos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1D4F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ESTÁ FALANDO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13716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20" kern="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Bruno Prata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58368" y="2194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-17" kern="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 em Dados no </a:t>
            </a:r>
            <a:pPr indent="0" marL="0">
              <a:buNone/>
            </a:pPr>
            <a:r>
              <a:rPr lang="en-US" sz="1700" b="1" spc="-17" kern="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Nubank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58368" y="2834640"/>
            <a:ext cx="1691640" cy="329184"/>
          </a:xfrm>
          <a:prstGeom prst="roundRect">
            <a:avLst>
              <a:gd name="adj" fmla="val 16667"/>
            </a:avLst>
          </a:prstGeom>
          <a:solidFill>
            <a:srgbClr val="F4F0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 Boticário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78024" y="2834640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4F0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iFood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74720" y="2834640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F4F0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EBANX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08576" y="283464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F4F0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Nubank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334670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8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Administração — UFPR  ·  6+ anos entre análise de dados, BI e decisão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040880" y="1325880"/>
            <a:ext cx="4480560" cy="2377440"/>
          </a:xfrm>
          <a:prstGeom prst="roundRect">
            <a:avLst>
              <a:gd name="adj" fmla="val 5000"/>
            </a:avLst>
          </a:prstGeom>
          <a:solidFill>
            <a:srgbClr val="4E0E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96912" y="15361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FF8F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EU FAÇO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296912" y="1810512"/>
            <a:ext cx="39684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D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últimos anos foram automatizando processo de decisão: entender como ele acontece hoje e devolver a parte repetitiva pra máquina — </a:t>
            </a:r>
            <a:pPr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quando dá, IA quando é linguagem, pessoa quando o erro custa caro</a:t>
            </a:r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DE4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4160520"/>
            <a:ext cx="10874959" cy="914400"/>
          </a:xfrm>
          <a:prstGeom prst="roundRect">
            <a:avLst>
              <a:gd name="adj" fmla="val 10000"/>
            </a:avLst>
          </a:prstGeom>
          <a:solidFill>
            <a:srgbClr val="F4F0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4160520"/>
            <a:ext cx="45720" cy="914400"/>
          </a:xfrm>
          <a:prstGeom prst="rect">
            <a:avLst/>
          </a:prstGeom>
          <a:solidFill>
            <a:srgbClr val="E800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2519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COMBINADO DESTA PALESTRA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4471416"/>
            <a:ext cx="103628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demo de ferramenta. Em 25 minutos você sai com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roteiro de entrevista, uma notação de fluxograma e uma regra de decisão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dá pra aplicar no seu processo amanhã de manhã — mais um kit de arquivos pra baixar no fim.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de processos com 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61327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E0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F8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ISSO COMEÇA ERRADO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9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primeira pergunta é sempre </a:t>
            </a:r>
            <a:pPr indent="0" marL="0">
              <a:buNone/>
            </a:pPr>
            <a:r>
              <a:rPr lang="en-US" sz="3200" b="1" spc="-96" kern="0" dirty="0">
                <a:solidFill>
                  <a:srgbClr val="FF8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errada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23408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C9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 PERGUNTA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07208" y="2286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spc="-1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 que vocês querem automatizar?”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58368" y="29992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C9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PESSOA RESPONDE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07208" y="29443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spc="-1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“Queria um bot que respondesse os chamados.”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807208" y="3621024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7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não é o processo. É um palpite de solução — e quem constrói em cima dele automatiza o que alguém imaginou, não o trabalho que existe.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45262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8F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PERGUNTE ASSIM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807208" y="447141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spc="-1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“Me conta o que você fez ontem, na ordem.”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8368" y="5715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8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CAMINHO DE HOJE  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conversar → desenhar → decidir quem faz cada caixa → ferramentas → um caso →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kit pra baixar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1D4F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1 · A CONVERSA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87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2700" b="1" spc="-59" kern="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 perguntas que arrancam o processo </a:t>
            </a:r>
            <a:pPr indent="0" marL="0">
              <a:lnSpc>
                <a:spcPts val="3100"/>
              </a:lnSpc>
              <a:buNone/>
            </a:pPr>
            <a:r>
              <a:rPr lang="en-US" sz="2700" b="1" spc="-59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inteiro</a:t>
            </a:r>
            <a:pPr indent="0" marL="0">
              <a:lnSpc>
                <a:spcPts val="3100"/>
              </a:lnSpc>
              <a:buNone/>
            </a:pPr>
            <a:r>
              <a:rPr lang="en-US" sz="2700" b="1" spc="-59" kern="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 meia hora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58368" y="1700784"/>
            <a:ext cx="10874959" cy="9144"/>
          </a:xfrm>
          <a:prstGeom prst="rect">
            <a:avLst/>
          </a:prstGeom>
          <a:solidFill>
            <a:srgbClr val="E3DC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79222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AF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25296" y="18105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“Me conta o que você fez ontem, na ordem.”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184648" y="1810512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etapas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reais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não a versão oficial do gestor.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8368" y="2235708"/>
            <a:ext cx="10874959" cy="534924"/>
          </a:xfrm>
          <a:prstGeom prst="roundRect">
            <a:avLst>
              <a:gd name="adj" fmla="val 10256"/>
            </a:avLst>
          </a:prstGeom>
          <a:solidFill>
            <a:srgbClr val="FEF6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3271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25296" y="23454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 que te faz parar e perguntar pra alguém?”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184648" y="234543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resposta é um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losango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 vem com a regra junto.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2770632"/>
            <a:ext cx="10874959" cy="534924"/>
          </a:xfrm>
          <a:prstGeom prst="roundRect">
            <a:avLst>
              <a:gd name="adj" fmla="val 10256"/>
            </a:avLst>
          </a:prstGeom>
          <a:solidFill>
            <a:srgbClr val="FEF6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86207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25296" y="2880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 que você copia de um lugar pro outro?”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184648" y="288036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Digitação pura.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primeira caixa que vira script.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3305556"/>
            <a:ext cx="10874959" cy="9144"/>
          </a:xfrm>
          <a:prstGeom prst="rect">
            <a:avLst/>
          </a:prstGeom>
          <a:solidFill>
            <a:srgbClr val="E3DC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39699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AF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25296" y="34152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“Quando isso dá errado, como você descobre?”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84648" y="3415284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resposta aqui,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automatize ainda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" y="3840480"/>
            <a:ext cx="10874959" cy="9144"/>
          </a:xfrm>
          <a:prstGeom prst="rect">
            <a:avLst/>
          </a:prstGeom>
          <a:solidFill>
            <a:srgbClr val="E3DC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9319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AF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25296" y="39502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“Qual é o caso chato que sempre aparece?”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184648" y="3950208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exceções. Viram os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teste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depois.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8368" y="4375404"/>
            <a:ext cx="10874959" cy="9144"/>
          </a:xfrm>
          <a:prstGeom prst="rect">
            <a:avLst/>
          </a:prstGeom>
          <a:solidFill>
            <a:srgbClr val="E3DC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446684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AF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25296" y="44851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“Quantas vezes você faz isso por dia?”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184648" y="4485132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Frequência.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rara não paga automação.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" y="4910328"/>
            <a:ext cx="10874959" cy="9144"/>
          </a:xfrm>
          <a:prstGeom prst="rect">
            <a:avLst/>
          </a:prstGeom>
          <a:solidFill>
            <a:srgbClr val="E3DC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500176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AF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25296" y="50200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 você errar aqui, o que acontece?”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184648" y="502005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do erro. Decide se a etapa 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rodar sozinha.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8368" y="5559552"/>
            <a:ext cx="10874959" cy="603504"/>
          </a:xfrm>
          <a:prstGeom prst="roundRect">
            <a:avLst>
              <a:gd name="adj" fmla="val 15152"/>
            </a:avLst>
          </a:prstGeom>
          <a:solidFill>
            <a:srgbClr val="F4F0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" y="5559552"/>
            <a:ext cx="45720" cy="603504"/>
          </a:xfrm>
          <a:prstGeom prst="rect">
            <a:avLst/>
          </a:prstGeom>
          <a:solidFill>
            <a:srgbClr val="E800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6509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DELAS FAZEM 70% DO TRABALHO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14400" y="5870448"/>
            <a:ext cx="103628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 entrega os losangos; a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as caixas que viram script. Grave a conversa e desenhe em cima da transcrição — não da memória.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8368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de processos com IA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61327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Conversar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1D4F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2 · O DESENHO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8749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2900" b="1" spc="-64" kern="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formas e três regras. </a:t>
            </a:r>
            <a:pPr indent="0" marL="0">
              <a:lnSpc>
                <a:spcPts val="3100"/>
              </a:lnSpc>
              <a:buNone/>
            </a:pPr>
            <a:r>
              <a:rPr lang="en-US" sz="2900" b="1" spc="-64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precisa de BPMN.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292608" cy="292608"/>
          </a:xfrm>
          <a:prstGeom prst="ellipse">
            <a:avLst/>
          </a:prstGeom>
          <a:solidFill>
            <a:srgbClr val="E800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97280" y="1847088"/>
            <a:ext cx="5029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caixa = uma ação.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o nome da caixa tem “e”, são duas caixas. “Registrar e classificar” esconde exatamente a etapa que você ia automatizar.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2752344"/>
            <a:ext cx="292608" cy="292608"/>
          </a:xfrm>
          <a:prstGeom prst="ellipse">
            <a:avLst/>
          </a:prstGeom>
          <a:solidFill>
            <a:srgbClr val="E800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752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97280" y="2724912"/>
            <a:ext cx="5029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losango tem a regra escrita embaixo.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Losango sem regra é decisão que ninguém revisou — e é onde a automação quebra três meses depois.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3630168"/>
            <a:ext cx="292608" cy="292608"/>
          </a:xfrm>
          <a:prstGeom prst="ellipse">
            <a:avLst/>
          </a:prstGeom>
          <a:solidFill>
            <a:srgbClr val="E800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97280" y="3602736"/>
            <a:ext cx="5029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Rotule as duas saídas.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Seta sem rótulo esconde o caminho que ninguém tratou. Na dúvida entre ação e decisão, é decisão.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4617720"/>
            <a:ext cx="5486400" cy="1024128"/>
          </a:xfrm>
          <a:prstGeom prst="roundRect">
            <a:avLst>
              <a:gd name="adj" fmla="val 8036"/>
            </a:avLst>
          </a:prstGeom>
          <a:solidFill>
            <a:srgbClr val="F4F0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4617720"/>
            <a:ext cx="45720" cy="1024128"/>
          </a:xfrm>
          <a:prstGeom prst="rect">
            <a:avLst/>
          </a:prstGeom>
          <a:solidFill>
            <a:srgbClr val="E800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7091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QUE DESENHAR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77824" y="49377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Papel, na frente da pessoa, na hora. Depois passe pra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Mermaid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draw.io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Mermaid é texto, então versiona no repo e o diff mostra quando o processo mudou.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6694" y="15179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NOTAÇÃO INTEIRA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99340" y="1971446"/>
            <a:ext cx="1528354" cy="529829"/>
          </a:xfrm>
          <a:prstGeom prst="roundRect">
            <a:avLst>
              <a:gd name="adj" fmla="val 86292"/>
            </a:avLst>
          </a:prstGeom>
          <a:solidFill>
            <a:srgbClr val="EFEAF5"/>
          </a:solidFill>
          <a:ln w="15875">
            <a:solidFill>
              <a:srgbClr val="CFC3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5"/>
              </a:lnSpc>
              <a:buNone/>
            </a:pPr>
            <a:r>
              <a:rPr lang="en-US" sz="1444" b="1" dirty="0">
                <a:solidFill>
                  <a:srgbClr val="6D2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 / fim</a:t>
            </a:r>
            <a:endParaRPr lang="en-US" sz="1444" dirty="0"/>
          </a:p>
        </p:txBody>
      </p:sp>
      <p:sp>
        <p:nvSpPr>
          <p:cNvPr id="20" name="Text 18"/>
          <p:cNvSpPr/>
          <p:nvPr/>
        </p:nvSpPr>
        <p:spPr>
          <a:xfrm>
            <a:off x="8731475" y="2124282"/>
            <a:ext cx="2547257" cy="224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69"/>
              </a:lnSpc>
              <a:buNone/>
            </a:pPr>
            <a:r>
              <a:rPr lang="en-US" sz="1284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processo começa e termina</a:t>
            </a:r>
            <a:endParaRPr lang="en-US" sz="1284" dirty="0"/>
          </a:p>
        </p:txBody>
      </p:sp>
      <p:sp>
        <p:nvSpPr>
          <p:cNvPr id="21" name="Text 19"/>
          <p:cNvSpPr/>
          <p:nvPr/>
        </p:nvSpPr>
        <p:spPr>
          <a:xfrm>
            <a:off x="6999340" y="2827325"/>
            <a:ext cx="1528354" cy="529829"/>
          </a:xfrm>
          <a:prstGeom prst="roundRect">
            <a:avLst>
              <a:gd name="adj" fmla="val 15533"/>
            </a:avLst>
          </a:prstGeom>
          <a:solidFill>
            <a:srgbClr val="FFFFFF"/>
          </a:solidFill>
          <a:ln w="15875">
            <a:solidFill>
              <a:srgbClr val="E3DC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5"/>
              </a:lnSpc>
              <a:buNone/>
            </a:pPr>
            <a:r>
              <a:rPr lang="en-US" sz="1524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</a:t>
            </a:r>
            <a:endParaRPr lang="en-US" sz="1524" dirty="0"/>
          </a:p>
        </p:txBody>
      </p:sp>
      <p:sp>
        <p:nvSpPr>
          <p:cNvPr id="22" name="Text 20"/>
          <p:cNvSpPr/>
          <p:nvPr/>
        </p:nvSpPr>
        <p:spPr>
          <a:xfrm>
            <a:off x="8731475" y="2898648"/>
            <a:ext cx="2547257" cy="224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69"/>
              </a:lnSpc>
              <a:buNone/>
            </a:pPr>
            <a:r>
              <a:rPr lang="en-US" sz="1284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caixa = uma ação.</a:t>
            </a:r>
            <a:endParaRPr lang="en-US" sz="1284" dirty="0"/>
          </a:p>
        </p:txBody>
      </p:sp>
      <p:sp>
        <p:nvSpPr>
          <p:cNvPr id="23" name="Text 21"/>
          <p:cNvSpPr/>
          <p:nvPr/>
        </p:nvSpPr>
        <p:spPr>
          <a:xfrm>
            <a:off x="8731475" y="3122807"/>
            <a:ext cx="2547257" cy="224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69"/>
              </a:lnSpc>
              <a:buNone/>
            </a:pPr>
            <a:r>
              <a:rPr lang="en-US" sz="1284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tem “e” no nome, são duas.</a:t>
            </a:r>
            <a:endParaRPr lang="en-US" sz="1284" dirty="0"/>
          </a:p>
        </p:txBody>
      </p:sp>
      <p:sp>
        <p:nvSpPr>
          <p:cNvPr id="24" name="Text 22"/>
          <p:cNvSpPr/>
          <p:nvPr/>
        </p:nvSpPr>
        <p:spPr>
          <a:xfrm>
            <a:off x="6999340" y="3683203"/>
            <a:ext cx="1528354" cy="69285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E3DC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5"/>
              </a:lnSpc>
              <a:buNone/>
            </a:pPr>
            <a:r>
              <a:rPr lang="en-US" sz="1524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</a:t>
            </a:r>
            <a:endParaRPr lang="en-US" sz="1524" dirty="0"/>
          </a:p>
        </p:txBody>
      </p:sp>
      <p:sp>
        <p:nvSpPr>
          <p:cNvPr id="25" name="Text 23"/>
          <p:cNvSpPr/>
          <p:nvPr/>
        </p:nvSpPr>
        <p:spPr>
          <a:xfrm>
            <a:off x="8731475" y="3815661"/>
            <a:ext cx="2547257" cy="224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69"/>
              </a:lnSpc>
              <a:buNone/>
            </a:pPr>
            <a:r>
              <a:rPr lang="en-US" sz="1284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losango tem que ter</a:t>
            </a:r>
            <a:endParaRPr lang="en-US" sz="1284" dirty="0"/>
          </a:p>
        </p:txBody>
      </p:sp>
      <p:sp>
        <p:nvSpPr>
          <p:cNvPr id="26" name="Text 24"/>
          <p:cNvSpPr/>
          <p:nvPr/>
        </p:nvSpPr>
        <p:spPr>
          <a:xfrm>
            <a:off x="8731475" y="4039819"/>
            <a:ext cx="2547257" cy="224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69"/>
              </a:lnSpc>
              <a:buNone/>
            </a:pPr>
            <a:r>
              <a:rPr lang="en-US" sz="1284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regra escrita embaixo</a:t>
            </a:r>
            <a:endParaRPr lang="en-US" sz="1284" dirty="0"/>
          </a:p>
        </p:txBody>
      </p:sp>
      <p:sp>
        <p:nvSpPr>
          <p:cNvPr id="27" name="Shape 25"/>
          <p:cNvSpPr/>
          <p:nvPr/>
        </p:nvSpPr>
        <p:spPr>
          <a:xfrm>
            <a:off x="6999340" y="4885509"/>
            <a:ext cx="1385708" cy="0"/>
          </a:xfrm>
          <a:prstGeom prst="line">
            <a:avLst/>
          </a:prstGeom>
          <a:noFill/>
          <a:ln w="19050">
            <a:solidFill>
              <a:srgbClr val="8E86A0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7264255" y="4610405"/>
            <a:ext cx="407561" cy="224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4"/>
              </a:lnSpc>
              <a:buNone/>
            </a:pPr>
            <a:r>
              <a:rPr lang="en-US" sz="1203" b="1" dirty="0">
                <a:solidFill>
                  <a:srgbClr val="6E6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1203" dirty="0"/>
          </a:p>
        </p:txBody>
      </p:sp>
      <p:sp>
        <p:nvSpPr>
          <p:cNvPr id="29" name="Text 27"/>
          <p:cNvSpPr/>
          <p:nvPr/>
        </p:nvSpPr>
        <p:spPr>
          <a:xfrm>
            <a:off x="8731475" y="4671539"/>
            <a:ext cx="2547257" cy="224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69"/>
              </a:lnSpc>
              <a:buNone/>
            </a:pPr>
            <a:r>
              <a:rPr lang="en-US" sz="1284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seta condicional —</a:t>
            </a:r>
            <a:endParaRPr lang="en-US" sz="1284" dirty="0"/>
          </a:p>
        </p:txBody>
      </p:sp>
      <p:sp>
        <p:nvSpPr>
          <p:cNvPr id="30" name="Text 28"/>
          <p:cNvSpPr/>
          <p:nvPr/>
        </p:nvSpPr>
        <p:spPr>
          <a:xfrm>
            <a:off x="8731475" y="4895698"/>
            <a:ext cx="2547257" cy="224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69"/>
              </a:lnSpc>
              <a:buNone/>
            </a:pPr>
            <a:r>
              <a:rPr lang="en-US" sz="1284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rotule sempre as duas saídas</a:t>
            </a:r>
            <a:endParaRPr lang="en-US" sz="1284" dirty="0"/>
          </a:p>
        </p:txBody>
      </p:sp>
      <p:sp>
        <p:nvSpPr>
          <p:cNvPr id="31" name="Text 29"/>
          <p:cNvSpPr/>
          <p:nvPr/>
        </p:nvSpPr>
        <p:spPr>
          <a:xfrm>
            <a:off x="658368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de processos com IA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61327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Desenhar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1D4F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2 · NA PRÁTICA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8749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800" b="1" spc="-62" kern="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fala ao desenho: </a:t>
            </a:r>
            <a:pPr indent="0" marL="0">
              <a:lnSpc>
                <a:spcPts val="3000"/>
              </a:lnSpc>
              <a:buNone/>
            </a:pPr>
            <a:r>
              <a:rPr lang="en-US" sz="2800" b="1" spc="-62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frases viram um fluxo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5257800" cy="676656"/>
          </a:xfrm>
          <a:prstGeom prst="roundRect">
            <a:avLst>
              <a:gd name="adj" fmla="val 9459"/>
            </a:avLst>
          </a:prstGeom>
          <a:solidFill>
            <a:srgbClr val="F4F0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41148" cy="676656"/>
          </a:xfrm>
          <a:prstGeom prst="rect">
            <a:avLst/>
          </a:prstGeom>
          <a:solidFill>
            <a:srgbClr val="EAE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83794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“Chega um e-mail, ou o cliente abre pelo formulário.”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" y="22219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início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514600"/>
            <a:ext cx="5257800" cy="676656"/>
          </a:xfrm>
          <a:prstGeom prst="roundRect">
            <a:avLst>
              <a:gd name="adj" fmla="val 9459"/>
            </a:avLst>
          </a:prstGeom>
          <a:solidFill>
            <a:srgbClr val="F4F0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514600"/>
            <a:ext cx="41148" cy="676656"/>
          </a:xfrm>
          <a:prstGeom prst="rect">
            <a:avLst/>
          </a:prstGeom>
          <a:solidFill>
            <a:srgbClr val="EAE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5694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“Aí eu jogo no sistema: copio nome, CPF e o texto do chamado.”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9536" y="29535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ação · registrar chamado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8368" y="3246120"/>
            <a:ext cx="5257800" cy="676656"/>
          </a:xfrm>
          <a:prstGeom prst="roundRect">
            <a:avLst>
              <a:gd name="adj" fmla="val 9459"/>
            </a:avLst>
          </a:prstGeom>
          <a:solidFill>
            <a:srgbClr val="F4F0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3246120"/>
            <a:ext cx="41148" cy="676656"/>
          </a:xfrm>
          <a:prstGeom prst="rect">
            <a:avLst/>
          </a:prstGeom>
          <a:solidFill>
            <a:srgbClr val="EAE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330098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“Leio e vejo do que se trata — cobrança, fraude, cadastro.”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9536" y="3685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ação · classificar assunto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" y="3977640"/>
            <a:ext cx="5257800" cy="676656"/>
          </a:xfrm>
          <a:prstGeom prst="roundRect">
            <a:avLst>
              <a:gd name="adj" fmla="val 9459"/>
            </a:avLst>
          </a:prstGeom>
          <a:solidFill>
            <a:srgbClr val="F4F0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977640"/>
            <a:ext cx="41148" cy="676656"/>
          </a:xfrm>
          <a:prstGeom prst="rect">
            <a:avLst/>
          </a:prstGeom>
          <a:solidFill>
            <a:srgbClr val="EAE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403250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“Escrevo a resposta. Geralmente é parecida com outras que já mandei.”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9536" y="441655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ação · redigir resposta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" y="4709160"/>
            <a:ext cx="5257800" cy="676656"/>
          </a:xfrm>
          <a:prstGeom prst="roundRect">
            <a:avLst>
              <a:gd name="adj" fmla="val 9459"/>
            </a:avLst>
          </a:prstGeom>
          <a:solidFill>
            <a:srgbClr val="FEF6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4709160"/>
            <a:ext cx="41148" cy="676656"/>
          </a:xfrm>
          <a:prstGeom prst="rect">
            <a:avLst/>
          </a:prstGeom>
          <a:solidFill>
            <a:srgbClr val="E800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476402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 for desconto acima de 10%, eu paro e mando pro meu gestor.”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9536" y="51480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losango + a regra, na mesma frase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79767" y="1774393"/>
            <a:ext cx="1419606" cy="308610"/>
          </a:xfrm>
          <a:prstGeom prst="roundRect">
            <a:avLst>
              <a:gd name="adj" fmla="val 148148"/>
            </a:avLst>
          </a:prstGeom>
          <a:solidFill>
            <a:srgbClr val="EFEAF5"/>
          </a:solidFill>
          <a:ln w="15875">
            <a:solidFill>
              <a:srgbClr val="CFC3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93"/>
              </a:lnSpc>
              <a:buNone/>
            </a:pPr>
            <a:r>
              <a:rPr lang="en-US" sz="875" b="1" dirty="0">
                <a:solidFill>
                  <a:srgbClr val="6D2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Chamado chega</a:t>
            </a:r>
            <a:endParaRPr lang="en-US" sz="875" dirty="0"/>
          </a:p>
        </p:txBody>
      </p:sp>
      <p:sp>
        <p:nvSpPr>
          <p:cNvPr id="26" name="Text 24"/>
          <p:cNvSpPr/>
          <p:nvPr/>
        </p:nvSpPr>
        <p:spPr>
          <a:xfrm>
            <a:off x="7279767" y="2280514"/>
            <a:ext cx="1419606" cy="320954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5875">
            <a:solidFill>
              <a:srgbClr val="E3DC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4"/>
              </a:lnSpc>
              <a:buNone/>
            </a:pPr>
            <a:r>
              <a:rPr lang="en-US" sz="923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chamado</a:t>
            </a:r>
            <a:endParaRPr lang="en-US" sz="923" dirty="0"/>
          </a:p>
        </p:txBody>
      </p:sp>
      <p:sp>
        <p:nvSpPr>
          <p:cNvPr id="27" name="Text 25"/>
          <p:cNvSpPr/>
          <p:nvPr/>
        </p:nvSpPr>
        <p:spPr>
          <a:xfrm>
            <a:off x="7279767" y="2798978"/>
            <a:ext cx="1419606" cy="320954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5875">
            <a:solidFill>
              <a:srgbClr val="E3DC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4"/>
              </a:lnSpc>
              <a:buNone/>
            </a:pPr>
            <a:r>
              <a:rPr lang="en-US" sz="923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Classificar assunto</a:t>
            </a:r>
            <a:endParaRPr lang="en-US" sz="923" dirty="0"/>
          </a:p>
        </p:txBody>
      </p:sp>
      <p:sp>
        <p:nvSpPr>
          <p:cNvPr id="28" name="Text 26"/>
          <p:cNvSpPr/>
          <p:nvPr/>
        </p:nvSpPr>
        <p:spPr>
          <a:xfrm>
            <a:off x="7279767" y="3317443"/>
            <a:ext cx="1419606" cy="320954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5875">
            <a:solidFill>
              <a:srgbClr val="E3DC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4"/>
              </a:lnSpc>
              <a:buNone/>
            </a:pPr>
            <a:r>
              <a:rPr lang="en-US" sz="923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Redigir resposta</a:t>
            </a:r>
            <a:endParaRPr lang="en-US" sz="923" dirty="0"/>
          </a:p>
        </p:txBody>
      </p:sp>
      <p:sp>
        <p:nvSpPr>
          <p:cNvPr id="29" name="Text 27"/>
          <p:cNvSpPr/>
          <p:nvPr/>
        </p:nvSpPr>
        <p:spPr>
          <a:xfrm>
            <a:off x="7279767" y="3860597"/>
            <a:ext cx="1419606" cy="592531"/>
          </a:xfrm>
          <a:prstGeom prst="diamond">
            <a:avLst/>
          </a:prstGeom>
          <a:solidFill>
            <a:srgbClr val="FFFFFF"/>
          </a:solidFill>
          <a:ln w="15875">
            <a:solidFill>
              <a:srgbClr val="E3DC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33"/>
              </a:lnSpc>
              <a:buNone/>
            </a:pPr>
            <a:r>
              <a:rPr lang="en-US" sz="826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Desconto</a:t>
            </a:r>
            <a:endParaRPr lang="en-US" sz="826" dirty="0"/>
          </a:p>
          <a:p>
            <a:pPr algn="ctr" indent="0" marL="0">
              <a:lnSpc>
                <a:spcPts val="1033"/>
              </a:lnSpc>
              <a:buNone/>
            </a:pPr>
            <a:r>
              <a:rPr lang="en-US" sz="826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acima de 10%?</a:t>
            </a:r>
            <a:endParaRPr lang="en-US" sz="826" dirty="0"/>
          </a:p>
        </p:txBody>
      </p:sp>
      <p:sp>
        <p:nvSpPr>
          <p:cNvPr id="30" name="Text 28"/>
          <p:cNvSpPr/>
          <p:nvPr/>
        </p:nvSpPr>
        <p:spPr>
          <a:xfrm>
            <a:off x="9007983" y="3996385"/>
            <a:ext cx="1296162" cy="320954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5875">
            <a:solidFill>
              <a:srgbClr val="E3DC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4"/>
              </a:lnSpc>
              <a:buNone/>
            </a:pPr>
            <a:r>
              <a:rPr lang="en-US" sz="923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 aprova</a:t>
            </a:r>
            <a:endParaRPr lang="en-US" sz="923" dirty="0"/>
          </a:p>
        </p:txBody>
      </p:sp>
      <p:sp>
        <p:nvSpPr>
          <p:cNvPr id="31" name="Text 29"/>
          <p:cNvSpPr/>
          <p:nvPr/>
        </p:nvSpPr>
        <p:spPr>
          <a:xfrm>
            <a:off x="7279767" y="4662983"/>
            <a:ext cx="1419606" cy="320954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15875">
            <a:solidFill>
              <a:srgbClr val="E3DC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4"/>
              </a:lnSpc>
              <a:buNone/>
            </a:pPr>
            <a:r>
              <a:rPr lang="en-US" sz="923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 resposta</a:t>
            </a:r>
            <a:endParaRPr lang="en-US" sz="923" dirty="0"/>
          </a:p>
        </p:txBody>
      </p:sp>
      <p:sp>
        <p:nvSpPr>
          <p:cNvPr id="32" name="Text 30"/>
          <p:cNvSpPr/>
          <p:nvPr/>
        </p:nvSpPr>
        <p:spPr>
          <a:xfrm>
            <a:off x="9810369" y="4662983"/>
            <a:ext cx="617220" cy="320954"/>
          </a:xfrm>
          <a:prstGeom prst="roundRect">
            <a:avLst>
              <a:gd name="adj" fmla="val 142450"/>
            </a:avLst>
          </a:prstGeom>
          <a:solidFill>
            <a:srgbClr val="EFEAF5"/>
          </a:solidFill>
          <a:ln w="15875">
            <a:solidFill>
              <a:srgbClr val="CFC3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93"/>
              </a:lnSpc>
              <a:buNone/>
            </a:pPr>
            <a:r>
              <a:rPr lang="en-US" sz="875" b="1" dirty="0">
                <a:solidFill>
                  <a:srgbClr val="6D2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</a:t>
            </a:r>
            <a:endParaRPr lang="en-US" sz="875" dirty="0"/>
          </a:p>
        </p:txBody>
      </p:sp>
      <p:sp>
        <p:nvSpPr>
          <p:cNvPr id="33" name="Shape 31"/>
          <p:cNvSpPr/>
          <p:nvPr/>
        </p:nvSpPr>
        <p:spPr>
          <a:xfrm>
            <a:off x="7989570" y="2083003"/>
            <a:ext cx="0" cy="160477"/>
          </a:xfrm>
          <a:prstGeom prst="line">
            <a:avLst/>
          </a:prstGeom>
          <a:noFill/>
          <a:ln w="19050">
            <a:solidFill>
              <a:srgbClr val="8E86A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989570" y="2601468"/>
            <a:ext cx="0" cy="160477"/>
          </a:xfrm>
          <a:prstGeom prst="line">
            <a:avLst/>
          </a:prstGeom>
          <a:noFill/>
          <a:ln w="19050">
            <a:solidFill>
              <a:srgbClr val="8E86A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989570" y="3119933"/>
            <a:ext cx="0" cy="160477"/>
          </a:xfrm>
          <a:prstGeom prst="line">
            <a:avLst/>
          </a:prstGeom>
          <a:noFill/>
          <a:ln w="19050">
            <a:solidFill>
              <a:srgbClr val="8E86A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989570" y="3638398"/>
            <a:ext cx="0" cy="185166"/>
          </a:xfrm>
          <a:prstGeom prst="line">
            <a:avLst/>
          </a:prstGeom>
          <a:noFill/>
          <a:ln w="19050">
            <a:solidFill>
              <a:srgbClr val="8E86A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699373" y="4156862"/>
            <a:ext cx="271577" cy="0"/>
          </a:xfrm>
          <a:prstGeom prst="line">
            <a:avLst/>
          </a:prstGeom>
          <a:noFill/>
          <a:ln w="19050">
            <a:solidFill>
              <a:srgbClr val="8E86A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989570" y="4453128"/>
            <a:ext cx="0" cy="172822"/>
          </a:xfrm>
          <a:prstGeom prst="line">
            <a:avLst/>
          </a:prstGeom>
          <a:noFill/>
          <a:ln w="19050">
            <a:solidFill>
              <a:srgbClr val="8E86A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656064" y="4317340"/>
            <a:ext cx="0" cy="197510"/>
          </a:xfrm>
          <a:prstGeom prst="line">
            <a:avLst/>
          </a:prstGeom>
          <a:noFill/>
          <a:ln w="19050">
            <a:solidFill>
              <a:srgbClr val="8E86A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>
            <a:off x="8390763" y="4514850"/>
            <a:ext cx="1265301" cy="0"/>
          </a:xfrm>
          <a:prstGeom prst="line">
            <a:avLst/>
          </a:prstGeom>
          <a:noFill/>
          <a:ln w="19050">
            <a:solidFill>
              <a:srgbClr val="8E86A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90763" y="4514850"/>
            <a:ext cx="0" cy="111100"/>
          </a:xfrm>
          <a:prstGeom prst="line">
            <a:avLst/>
          </a:prstGeom>
          <a:noFill/>
          <a:ln w="19050">
            <a:solidFill>
              <a:srgbClr val="8E86A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699373" y="4823460"/>
            <a:ext cx="1073963" cy="0"/>
          </a:xfrm>
          <a:prstGeom prst="line">
            <a:avLst/>
          </a:prstGeom>
          <a:noFill/>
          <a:ln w="19050">
            <a:solidFill>
              <a:srgbClr val="8E86A0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8748751" y="3990213"/>
            <a:ext cx="246888" cy="13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48"/>
              </a:lnSpc>
              <a:buNone/>
            </a:pPr>
            <a:r>
              <a:rPr lang="en-US" sz="729" b="1" dirty="0">
                <a:solidFill>
                  <a:srgbClr val="6E6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729" dirty="0"/>
          </a:p>
        </p:txBody>
      </p:sp>
      <p:sp>
        <p:nvSpPr>
          <p:cNvPr id="44" name="Text 42"/>
          <p:cNvSpPr/>
          <p:nvPr/>
        </p:nvSpPr>
        <p:spPr>
          <a:xfrm>
            <a:off x="8057464" y="4471645"/>
            <a:ext cx="246888" cy="13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48"/>
              </a:lnSpc>
              <a:buNone/>
            </a:pPr>
            <a:r>
              <a:rPr lang="en-US" sz="729" b="1" dirty="0">
                <a:solidFill>
                  <a:srgbClr val="6E6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endParaRPr lang="en-US" sz="729" dirty="0"/>
          </a:p>
        </p:txBody>
      </p:sp>
      <p:sp>
        <p:nvSpPr>
          <p:cNvPr id="45" name="Text 43"/>
          <p:cNvSpPr/>
          <p:nvPr/>
        </p:nvSpPr>
        <p:spPr>
          <a:xfrm>
            <a:off x="7279767" y="5107381"/>
            <a:ext cx="2036826" cy="13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11"/>
              </a:lnSpc>
              <a:buNone/>
            </a:pPr>
            <a:r>
              <a:rPr lang="en-US" sz="778" b="1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REGRA DO LOSANGO, ESCRITA:</a:t>
            </a:r>
            <a:endParaRPr lang="en-US" sz="778" dirty="0"/>
          </a:p>
        </p:txBody>
      </p:sp>
      <p:sp>
        <p:nvSpPr>
          <p:cNvPr id="46" name="Text 44"/>
          <p:cNvSpPr/>
          <p:nvPr/>
        </p:nvSpPr>
        <p:spPr>
          <a:xfrm>
            <a:off x="7279767" y="5255514"/>
            <a:ext cx="2345436" cy="13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74"/>
              </a:lnSpc>
              <a:buNone/>
            </a:pPr>
            <a:r>
              <a:rPr lang="en-US" sz="826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desconto &gt; 10% ou exceção contratual</a:t>
            </a:r>
            <a:endParaRPr lang="en-US" sz="826" dirty="0"/>
          </a:p>
        </p:txBody>
      </p:sp>
      <p:sp>
        <p:nvSpPr>
          <p:cNvPr id="47" name="Shape 45"/>
          <p:cNvSpPr/>
          <p:nvPr/>
        </p:nvSpPr>
        <p:spPr>
          <a:xfrm>
            <a:off x="658368" y="5614416"/>
            <a:ext cx="10874959" cy="530352"/>
          </a:xfrm>
          <a:prstGeom prst="roundRect">
            <a:avLst>
              <a:gd name="adj" fmla="val 17241"/>
            </a:avLst>
          </a:prstGeom>
          <a:solidFill>
            <a:srgbClr val="F4F0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8368" y="5614416"/>
            <a:ext cx="45720" cy="530352"/>
          </a:xfrm>
          <a:prstGeom prst="rect">
            <a:avLst/>
          </a:prstGeom>
          <a:solidFill>
            <a:srgbClr val="E800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" y="574243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quinta frase entregou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losango e a regra na mesma respiração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 repare: até aqui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foi dito sobre IA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58368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de processos com IA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961327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Desenhar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1D4F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3 · ONDE A IA ENTRA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2600" b="1" spc="-57" kern="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escolher modelo: você quer a IA como </a:t>
            </a:r>
            <a:pPr indent="0" marL="0">
              <a:lnSpc>
                <a:spcPts val="3100"/>
              </a:lnSpc>
              <a:buNone/>
            </a:pPr>
            <a:r>
              <a:rPr lang="en-US" sz="2600" b="1" spc="-57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</a:t>
            </a:r>
            <a:pPr indent="0" marL="0">
              <a:lnSpc>
                <a:spcPts val="3100"/>
              </a:lnSpc>
              <a:buNone/>
            </a:pPr>
            <a:r>
              <a:rPr lang="en-US" sz="2600" b="1" spc="-57" kern="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 como </a:t>
            </a:r>
            <a:pPr indent="0" marL="0">
              <a:lnSpc>
                <a:spcPts val="3100"/>
              </a:lnSpc>
              <a:buNone/>
            </a:pPr>
            <a:r>
              <a:rPr lang="en-US" sz="2600" b="1" spc="-57" kern="0" dirty="0">
                <a:solidFill>
                  <a:srgbClr val="6D2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</a:t>
            </a:r>
            <a:pPr indent="0" marL="0">
              <a:lnSpc>
                <a:spcPts val="3100"/>
              </a:lnSpc>
              <a:buNone/>
            </a:pPr>
            <a:r>
              <a:rPr lang="en-US" sz="2600" b="1" spc="-57" kern="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52546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D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139696"/>
            <a:ext cx="466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15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como ferramenta — um copiloto seu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0976" y="2523744"/>
            <a:ext cx="466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está no meio.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Cada uso é uma decisão sua, e você vê a saída antes de qualquer coisa acontecer.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0976" y="3145536"/>
            <a:ext cx="4669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62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Escrever o script · entender uma base nova · gerar o SQL · revisar um texto · virar 40 páginas de PDF em resumo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50976" y="4114800"/>
            <a:ext cx="4669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precisa de eval, log nem dono.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Precisa de você prestando atenção. Começa hoje, sem projeto e sem aprovação.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8728" y="1920240"/>
            <a:ext cx="5254600" cy="3200400"/>
          </a:xfrm>
          <a:prstGeom prst="roundRect">
            <a:avLst>
              <a:gd name="adj" fmla="val 2857"/>
            </a:avLst>
          </a:prstGeom>
          <a:solidFill>
            <a:srgbClr val="F4F0F9"/>
          </a:solidFill>
          <a:ln w="12700">
            <a:solidFill>
              <a:srgbClr val="F4F0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71336" y="2139696"/>
            <a:ext cx="466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15" kern="0" dirty="0">
                <a:solidFill>
                  <a:srgbClr val="6D2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como solução — dentro do processo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71336" y="2523744"/>
            <a:ext cx="466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 sem você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 vezes por dia, e o resultado vai direto pro cliente ou pro sistema seguinte.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71336" y="3145536"/>
            <a:ext cx="4669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162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Classificar todo chamado que entra · extrair campo de documento · redigir a primeira versão da resposta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71336" y="4114800"/>
            <a:ext cx="4669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Precisa de tudo que um sistema precisa: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saída com schema, limiar de confiança, log por execução, dono com nome e um conjunto de casos de teste.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5285232"/>
            <a:ext cx="10874959" cy="859536"/>
          </a:xfrm>
          <a:prstGeom prst="roundRect">
            <a:avLst>
              <a:gd name="adj" fmla="val 10638"/>
            </a:avLst>
          </a:prstGeom>
          <a:solidFill>
            <a:srgbClr val="F4F0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5285232"/>
            <a:ext cx="45720" cy="859536"/>
          </a:xfrm>
          <a:prstGeom prst="rect">
            <a:avLst/>
          </a:prstGeom>
          <a:solidFill>
            <a:srgbClr val="E800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376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CONFUSÃO QUE MATA PROJETO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5596128"/>
            <a:ext cx="103628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Quase todo piloto que morre no terceiro mês é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solução tratada como se fosse ferramenta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funcionou lindo no chat de quem construiu, e ninguém desenhou o que acontece quando erra às 3 da manhã sem ninguém olhando.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demo é ferramenta. Produção é solução.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de processos com 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61327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Decidir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1D4F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3 · A CLASSIFICAÇÃO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8749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800" b="1" spc="-62" kern="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caixa do fluxo vira uma de </a:t>
            </a:r>
            <a:pPr indent="0" marL="0">
              <a:lnSpc>
                <a:spcPts val="3000"/>
              </a:lnSpc>
              <a:buNone/>
            </a:pPr>
            <a:r>
              <a:rPr lang="en-US" sz="2800" b="1" spc="-62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3442106" cy="3246120"/>
          </a:xfrm>
          <a:prstGeom prst="roundRect">
            <a:avLst>
              <a:gd name="adj" fmla="val 2817"/>
            </a:avLst>
          </a:prstGeom>
          <a:solidFill>
            <a:srgbClr val="F2F7FC"/>
          </a:solidFill>
          <a:ln w="12700">
            <a:solidFill>
              <a:srgbClr val="1D4F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29300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14" kern="0" dirty="0">
                <a:solidFill>
                  <a:srgbClr val="1D4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tradicional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2414016"/>
            <a:ext cx="557784" cy="237744"/>
          </a:xfrm>
          <a:prstGeom prst="roundRect">
            <a:avLst>
              <a:gd name="adj" fmla="val 15385"/>
            </a:avLst>
          </a:prstGeom>
          <a:solidFill>
            <a:srgbClr val="DCE8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4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545336" y="2414016"/>
            <a:ext cx="352044" cy="237744"/>
          </a:xfrm>
          <a:prstGeom prst="roundRect">
            <a:avLst>
              <a:gd name="adj" fmla="val 15385"/>
            </a:avLst>
          </a:prstGeom>
          <a:solidFill>
            <a:srgbClr val="DCE8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4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970532" y="2414016"/>
            <a:ext cx="352044" cy="237744"/>
          </a:xfrm>
          <a:prstGeom prst="roundRect">
            <a:avLst>
              <a:gd name="adj" fmla="val 15385"/>
            </a:avLst>
          </a:prstGeom>
          <a:solidFill>
            <a:srgbClr val="DCE8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4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395728" y="2414016"/>
            <a:ext cx="489204" cy="237744"/>
          </a:xfrm>
          <a:prstGeom prst="roundRect">
            <a:avLst>
              <a:gd name="adj" fmla="val 15385"/>
            </a:avLst>
          </a:prstGeom>
          <a:solidFill>
            <a:srgbClr val="DCE8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4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58084" y="2414016"/>
            <a:ext cx="420624" cy="237744"/>
          </a:xfrm>
          <a:prstGeom prst="roundRect">
            <a:avLst>
              <a:gd name="adj" fmla="val 15385"/>
            </a:avLst>
          </a:prstGeom>
          <a:solidFill>
            <a:srgbClr val="DCE8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4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2798064"/>
            <a:ext cx="29300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D4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QUANDO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2980944"/>
            <a:ext cx="29300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regra é fixa, a entrada é estruturada e a saída é sempre a mesma.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511296"/>
            <a:ext cx="29300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D4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APARECE NA ENTREVISTA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0" y="3694176"/>
            <a:ext cx="29300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i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“eu copio daqui pra lá” · “rodo esse relatório toda segunda”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4224528"/>
            <a:ext cx="29300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D4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QUE NÃO IA AQUI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0" y="4407408"/>
            <a:ext cx="29300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barato, determinístico e testável.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if você testa uma vez e confia pra sempre.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74794" y="1828800"/>
            <a:ext cx="3442106" cy="3246120"/>
          </a:xfrm>
          <a:prstGeom prst="roundRect">
            <a:avLst>
              <a:gd name="adj" fmla="val 2817"/>
            </a:avLst>
          </a:prstGeom>
          <a:solidFill>
            <a:srgbClr val="FEF6FA"/>
          </a:solidFill>
          <a:ln w="12700">
            <a:solidFill>
              <a:srgbClr val="E800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0826" y="2029968"/>
            <a:ext cx="29300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14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630826" y="2414016"/>
            <a:ext cx="969264" cy="237744"/>
          </a:xfrm>
          <a:prstGeom prst="roundRect">
            <a:avLst>
              <a:gd name="adj" fmla="val 15385"/>
            </a:avLst>
          </a:prstGeom>
          <a:solidFill>
            <a:srgbClr val="FBDC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+ schema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73242" y="2414016"/>
            <a:ext cx="557784" cy="237744"/>
          </a:xfrm>
          <a:prstGeom prst="roundRect">
            <a:avLst>
              <a:gd name="adj" fmla="val 15385"/>
            </a:avLst>
          </a:prstGeom>
          <a:solidFill>
            <a:srgbClr val="FBDC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304178" y="2414016"/>
            <a:ext cx="420624" cy="237744"/>
          </a:xfrm>
          <a:prstGeom prst="roundRect">
            <a:avLst>
              <a:gd name="adj" fmla="val 15385"/>
            </a:avLst>
          </a:prstGeom>
          <a:solidFill>
            <a:srgbClr val="FBDC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30826" y="2798064"/>
            <a:ext cx="29300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QUANDO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30826" y="2980944"/>
            <a:ext cx="29300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entrada é linguagem, a regra é ambígua, e verificar custa menos que fazer.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30826" y="3511296"/>
            <a:ext cx="29300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APARECE NA ENTREVISTA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30826" y="3694176"/>
            <a:ext cx="29300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i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“depende do que tá escrito” · “eu leio e decido na hora”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30826" y="4224528"/>
            <a:ext cx="29300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PREÇO QUE VEM JUNTO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30826" y="4407408"/>
            <a:ext cx="29300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determinística. Sem casos de teste, limiar e um caminho de “não sei”, você trocou trabalho por risco.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91221" y="1828800"/>
            <a:ext cx="3442106" cy="3246120"/>
          </a:xfrm>
          <a:prstGeom prst="roundRect">
            <a:avLst>
              <a:gd name="adj" fmla="val 2817"/>
            </a:avLst>
          </a:prstGeom>
          <a:solidFill>
            <a:srgbClr val="F4F0F9"/>
          </a:solidFill>
          <a:ln w="12700">
            <a:solidFill>
              <a:srgbClr val="6D20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47253" y="2029968"/>
            <a:ext cx="29300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14" kern="0" dirty="0">
                <a:solidFill>
                  <a:srgbClr val="6D2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347253" y="2414016"/>
            <a:ext cx="832104" cy="237744"/>
          </a:xfrm>
          <a:prstGeom prst="roundRect">
            <a:avLst>
              <a:gd name="adj" fmla="val 15385"/>
            </a:avLst>
          </a:prstGeom>
          <a:solidFill>
            <a:srgbClr val="E6D8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julgamento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347253" y="2798064"/>
            <a:ext cx="29300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QUANDO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347253" y="2980944"/>
            <a:ext cx="29300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erro é caro e irreversível — ou a regra ainda nem existe.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47253" y="3511296"/>
            <a:ext cx="29300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APARECE NA ENTREVISTA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347253" y="3694176"/>
            <a:ext cx="29300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i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“isso aí eu levo pro meu gestor” · “cada caso é um caso”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347253" y="4224528"/>
            <a:ext cx="29300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BOA NOTÍCIA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347253" y="4407408"/>
            <a:ext cx="29300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Costuma ser pouco volume.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 gente ali é barato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 é o que te deixa automatizar o resto sem medo.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8368" y="5257800"/>
            <a:ext cx="10874959" cy="822960"/>
          </a:xfrm>
          <a:prstGeom prst="roundRect">
            <a:avLst>
              <a:gd name="adj" fmla="val 11111"/>
            </a:avLst>
          </a:prstGeom>
          <a:solidFill>
            <a:srgbClr val="F4F0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8368" y="5257800"/>
            <a:ext cx="45720" cy="822960"/>
          </a:xfrm>
          <a:prstGeom prst="rect">
            <a:avLst/>
          </a:prstGeom>
          <a:solidFill>
            <a:srgbClr val="E800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5349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ORDEM DE PERGUNTAR — UMA VEZ POR CAIXA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14400" y="5568696"/>
            <a:ext cx="103628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Dá pra fazer com um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Se dá, faça com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 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não dá, o erro é caro e irreversível? Se é, humano decide (ou a IA propõe e o humano aprova).  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não é, IA com revisão por amostragem.  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é a terceira pergunta, nunca a primeira.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58368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de processos com IA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61327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Decidir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1D4F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3 · O ENTREGÁVEL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spc="-57" kern="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fluxo, pintado — e pronto: </a:t>
            </a:r>
            <a:pPr indent="0" marL="0">
              <a:lnSpc>
                <a:spcPts val="3000"/>
              </a:lnSpc>
              <a:buNone/>
            </a:pPr>
            <a:r>
              <a:rPr lang="en-US" sz="2600" b="1" spc="-57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 é a arquitetura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6850" y="1917834"/>
            <a:ext cx="1660358" cy="360947"/>
          </a:xfrm>
          <a:prstGeom prst="roundRect">
            <a:avLst>
              <a:gd name="adj" fmla="val 126667"/>
            </a:avLst>
          </a:prstGeom>
          <a:solidFill>
            <a:srgbClr val="EFEAF5"/>
          </a:solidFill>
          <a:ln w="15875">
            <a:solidFill>
              <a:srgbClr val="CFC3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79"/>
              </a:lnSpc>
              <a:buNone/>
            </a:pPr>
            <a:r>
              <a:rPr lang="en-US" sz="1023" b="1" dirty="0">
                <a:solidFill>
                  <a:srgbClr val="6D2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Chamado chega</a:t>
            </a:r>
            <a:endParaRPr lang="en-US" sz="1023" dirty="0"/>
          </a:p>
        </p:txBody>
      </p:sp>
      <p:sp>
        <p:nvSpPr>
          <p:cNvPr id="6" name="Text 4"/>
          <p:cNvSpPr/>
          <p:nvPr/>
        </p:nvSpPr>
        <p:spPr>
          <a:xfrm>
            <a:off x="1146850" y="2509787"/>
            <a:ext cx="1660358" cy="375385"/>
          </a:xfrm>
          <a:prstGeom prst="roundRect">
            <a:avLst>
              <a:gd name="adj" fmla="val 21923"/>
            </a:avLst>
          </a:prstGeom>
          <a:solidFill>
            <a:srgbClr val="E4EDF8"/>
          </a:solidFill>
          <a:ln w="15875">
            <a:solidFill>
              <a:srgbClr val="1D4F9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chamado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1146850" y="3116179"/>
            <a:ext cx="1660358" cy="375385"/>
          </a:xfrm>
          <a:prstGeom prst="roundRect">
            <a:avLst>
              <a:gd name="adj" fmla="val 21923"/>
            </a:avLst>
          </a:prstGeom>
          <a:solidFill>
            <a:srgbClr val="FBE0EE"/>
          </a:solidFill>
          <a:ln w="15875">
            <a:solidFill>
              <a:srgbClr val="E8007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Classificar assunto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146850" y="3722571"/>
            <a:ext cx="1660358" cy="375385"/>
          </a:xfrm>
          <a:prstGeom prst="roundRect">
            <a:avLst>
              <a:gd name="adj" fmla="val 21923"/>
            </a:avLst>
          </a:prstGeom>
          <a:solidFill>
            <a:srgbClr val="FBE0EE"/>
          </a:solidFill>
          <a:ln w="15875">
            <a:solidFill>
              <a:srgbClr val="E8007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Redigir resposta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146850" y="4357838"/>
            <a:ext cx="1660358" cy="693019"/>
          </a:xfrm>
          <a:prstGeom prst="diamond">
            <a:avLst/>
          </a:prstGeom>
          <a:solidFill>
            <a:srgbClr val="E4EDF8"/>
          </a:solidFill>
          <a:ln w="15875">
            <a:solidFill>
              <a:srgbClr val="1D4F9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8"/>
              </a:lnSpc>
              <a:buNone/>
            </a:pPr>
            <a:r>
              <a:rPr lang="en-US" sz="966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Desconto</a:t>
            </a:r>
            <a:endParaRPr lang="en-US" sz="966" dirty="0"/>
          </a:p>
          <a:p>
            <a:pPr algn="ctr" indent="0" marL="0">
              <a:lnSpc>
                <a:spcPts val="1208"/>
              </a:lnSpc>
              <a:buNone/>
            </a:pPr>
            <a:r>
              <a:rPr lang="en-US" sz="966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acima de 10%?</a:t>
            </a:r>
            <a:endParaRPr lang="en-US" sz="966" dirty="0"/>
          </a:p>
        </p:txBody>
      </p:sp>
      <p:sp>
        <p:nvSpPr>
          <p:cNvPr id="10" name="Text 8"/>
          <p:cNvSpPr/>
          <p:nvPr/>
        </p:nvSpPr>
        <p:spPr>
          <a:xfrm>
            <a:off x="3168155" y="4516655"/>
            <a:ext cx="1515979" cy="375385"/>
          </a:xfrm>
          <a:prstGeom prst="roundRect">
            <a:avLst>
              <a:gd name="adj" fmla="val 21923"/>
            </a:avLst>
          </a:prstGeom>
          <a:solidFill>
            <a:srgbClr val="EEE3F4"/>
          </a:solidFill>
          <a:ln w="15875">
            <a:solidFill>
              <a:srgbClr val="6D207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 aprova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146850" y="5296301"/>
            <a:ext cx="1660358" cy="375385"/>
          </a:xfrm>
          <a:prstGeom prst="roundRect">
            <a:avLst>
              <a:gd name="adj" fmla="val 21923"/>
            </a:avLst>
          </a:prstGeom>
          <a:solidFill>
            <a:srgbClr val="E4EDF8"/>
          </a:solidFill>
          <a:ln w="15875">
            <a:solidFill>
              <a:srgbClr val="1D4F9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 resposta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4106619" y="5296301"/>
            <a:ext cx="721895" cy="375385"/>
          </a:xfrm>
          <a:prstGeom prst="roundRect">
            <a:avLst>
              <a:gd name="adj" fmla="val 121795"/>
            </a:avLst>
          </a:prstGeom>
          <a:solidFill>
            <a:srgbClr val="EFEAF5"/>
          </a:solidFill>
          <a:ln w="15875">
            <a:solidFill>
              <a:srgbClr val="CFC3D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79"/>
              </a:lnSpc>
              <a:buNone/>
            </a:pPr>
            <a:r>
              <a:rPr lang="en-US" sz="1023" b="1" dirty="0">
                <a:solidFill>
                  <a:srgbClr val="6D2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</a:t>
            </a:r>
            <a:endParaRPr lang="en-US" sz="1023" dirty="0"/>
          </a:p>
        </p:txBody>
      </p:sp>
      <p:sp>
        <p:nvSpPr>
          <p:cNvPr id="13" name="Shape 11"/>
          <p:cNvSpPr/>
          <p:nvPr/>
        </p:nvSpPr>
        <p:spPr>
          <a:xfrm>
            <a:off x="1977029" y="2278781"/>
            <a:ext cx="0" cy="187693"/>
          </a:xfrm>
          <a:prstGeom prst="line">
            <a:avLst/>
          </a:prstGeom>
          <a:noFill/>
          <a:ln w="19050">
            <a:solidFill>
              <a:srgbClr val="8E86A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977029" y="2885173"/>
            <a:ext cx="0" cy="187693"/>
          </a:xfrm>
          <a:prstGeom prst="line">
            <a:avLst/>
          </a:prstGeom>
          <a:noFill/>
          <a:ln w="19050">
            <a:solidFill>
              <a:srgbClr val="8E86A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977029" y="3491564"/>
            <a:ext cx="0" cy="187693"/>
          </a:xfrm>
          <a:prstGeom prst="line">
            <a:avLst/>
          </a:prstGeom>
          <a:noFill/>
          <a:ln w="19050">
            <a:solidFill>
              <a:srgbClr val="8E86A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977029" y="4097956"/>
            <a:ext cx="0" cy="216568"/>
          </a:xfrm>
          <a:prstGeom prst="line">
            <a:avLst/>
          </a:prstGeom>
          <a:noFill/>
          <a:ln w="19050">
            <a:solidFill>
              <a:srgbClr val="8E86A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807208" y="4704347"/>
            <a:ext cx="317634" cy="0"/>
          </a:xfrm>
          <a:prstGeom prst="line">
            <a:avLst/>
          </a:prstGeom>
          <a:noFill/>
          <a:ln w="19050">
            <a:solidFill>
              <a:srgbClr val="8E86A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977029" y="5050857"/>
            <a:ext cx="0" cy="202131"/>
          </a:xfrm>
          <a:prstGeom prst="line">
            <a:avLst/>
          </a:prstGeom>
          <a:noFill/>
          <a:ln w="19050">
            <a:solidFill>
              <a:srgbClr val="8E86A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926145" y="4892040"/>
            <a:ext cx="0" cy="274320"/>
          </a:xfrm>
          <a:prstGeom prst="line">
            <a:avLst/>
          </a:prstGeom>
          <a:noFill/>
          <a:ln w="19050">
            <a:solidFill>
              <a:srgbClr val="8E86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2446261" y="5166360"/>
            <a:ext cx="1479884" cy="0"/>
          </a:xfrm>
          <a:prstGeom prst="line">
            <a:avLst/>
          </a:prstGeom>
          <a:noFill/>
          <a:ln w="19050">
            <a:solidFill>
              <a:srgbClr val="8E8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46261" y="5166360"/>
            <a:ext cx="0" cy="86627"/>
          </a:xfrm>
          <a:prstGeom prst="line">
            <a:avLst/>
          </a:prstGeom>
          <a:noFill/>
          <a:ln w="19050">
            <a:solidFill>
              <a:srgbClr val="8E86A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807208" y="5483994"/>
            <a:ext cx="1256097" cy="0"/>
          </a:xfrm>
          <a:prstGeom prst="line">
            <a:avLst/>
          </a:prstGeom>
          <a:noFill/>
          <a:ln w="19050">
            <a:solidFill>
              <a:srgbClr val="8E86A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864960" y="4509436"/>
            <a:ext cx="288758" cy="158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8"/>
              </a:lnSpc>
              <a:buNone/>
            </a:pPr>
            <a:r>
              <a:rPr lang="en-US" sz="853" b="1" dirty="0">
                <a:solidFill>
                  <a:srgbClr val="6E6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853" dirty="0"/>
          </a:p>
        </p:txBody>
      </p:sp>
      <p:sp>
        <p:nvSpPr>
          <p:cNvPr id="24" name="Text 22"/>
          <p:cNvSpPr/>
          <p:nvPr/>
        </p:nvSpPr>
        <p:spPr>
          <a:xfrm>
            <a:off x="2056437" y="5072514"/>
            <a:ext cx="288758" cy="158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8"/>
              </a:lnSpc>
              <a:buNone/>
            </a:pPr>
            <a:r>
              <a:rPr lang="en-US" sz="853" b="1" dirty="0">
                <a:solidFill>
                  <a:srgbClr val="6E6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</a:t>
            </a:r>
            <a:endParaRPr lang="en-US" sz="853" dirty="0"/>
          </a:p>
        </p:txBody>
      </p:sp>
      <p:sp>
        <p:nvSpPr>
          <p:cNvPr id="25" name="Text 23"/>
          <p:cNvSpPr/>
          <p:nvPr/>
        </p:nvSpPr>
        <p:spPr>
          <a:xfrm>
            <a:off x="2893835" y="2596415"/>
            <a:ext cx="1371600" cy="202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6" b="1" spc="50" kern="0" dirty="0">
                <a:solidFill>
                  <a:srgbClr val="1D4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API do sistema</a:t>
            </a:r>
            <a:endParaRPr lang="en-US" sz="796" dirty="0"/>
          </a:p>
        </p:txBody>
      </p:sp>
      <p:sp>
        <p:nvSpPr>
          <p:cNvPr id="26" name="Text 24"/>
          <p:cNvSpPr/>
          <p:nvPr/>
        </p:nvSpPr>
        <p:spPr>
          <a:xfrm>
            <a:off x="2893835" y="3202806"/>
            <a:ext cx="1371600" cy="202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6" b="1" spc="50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· alto volume</a:t>
            </a:r>
            <a:endParaRPr lang="en-US" sz="796" dirty="0"/>
          </a:p>
        </p:txBody>
      </p:sp>
      <p:sp>
        <p:nvSpPr>
          <p:cNvPr id="27" name="Text 25"/>
          <p:cNvSpPr/>
          <p:nvPr/>
        </p:nvSpPr>
        <p:spPr>
          <a:xfrm>
            <a:off x="2893835" y="3809198"/>
            <a:ext cx="1371600" cy="202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6" b="1" spc="50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· alto volume + revisão</a:t>
            </a:r>
            <a:endParaRPr lang="en-US" sz="796" dirty="0"/>
          </a:p>
        </p:txBody>
      </p:sp>
      <p:sp>
        <p:nvSpPr>
          <p:cNvPr id="28" name="Text 26"/>
          <p:cNvSpPr/>
          <p:nvPr/>
        </p:nvSpPr>
        <p:spPr>
          <a:xfrm>
            <a:off x="4741886" y="4603282"/>
            <a:ext cx="1515979" cy="202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6" b="1" spc="50" kern="0" dirty="0">
                <a:solidFill>
                  <a:srgbClr val="6D2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 · baixo volume</a:t>
            </a:r>
            <a:endParaRPr lang="en-US" sz="796" dirty="0"/>
          </a:p>
        </p:txBody>
      </p:sp>
      <p:sp>
        <p:nvSpPr>
          <p:cNvPr id="29" name="Text 27"/>
          <p:cNvSpPr/>
          <p:nvPr/>
        </p:nvSpPr>
        <p:spPr>
          <a:xfrm>
            <a:off x="1146850" y="5722219"/>
            <a:ext cx="721895" cy="202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6" b="1" spc="50" kern="0" dirty="0">
                <a:solidFill>
                  <a:srgbClr val="1D4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796" dirty="0"/>
          </a:p>
        </p:txBody>
      </p:sp>
      <p:sp>
        <p:nvSpPr>
          <p:cNvPr id="30" name="Shape 28"/>
          <p:cNvSpPr/>
          <p:nvPr/>
        </p:nvSpPr>
        <p:spPr>
          <a:xfrm>
            <a:off x="6675120" y="1965960"/>
            <a:ext cx="4846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DC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31152" y="21396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14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placar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31152" y="245059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ações + 1 decisão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3 viram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D4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 viram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 continua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6D2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humana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931152" y="2962656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Metade do processo foi resolvida sem IA nenhuma. Isso é bom sinal, não fracasso.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75120" y="3547872"/>
            <a:ext cx="4846320" cy="1874520"/>
          </a:xfrm>
          <a:prstGeom prst="roundRect">
            <a:avLst>
              <a:gd name="adj" fmla="val 4878"/>
            </a:avLst>
          </a:prstGeom>
          <a:solidFill>
            <a:srgbClr val="F4F0F9"/>
          </a:solidFill>
          <a:ln w="12700">
            <a:solidFill>
              <a:srgbClr val="F4F0F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31152" y="3703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13" kern="0" dirty="0">
                <a:solidFill>
                  <a:srgbClr val="6D2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ler o desenho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31152" y="402336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duas rosas são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ambígua em alto volume, com erro tolerável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é ali que a IA se paga.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31152" y="449884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lavanda são 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poucos julgamentos, todos irreversíveis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continua humana, e é barato que continue.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31152" y="497433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losango </a:t>
            </a:r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parece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decisão de IA e não é — é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desconto &gt; 0.10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693408" y="550468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4EDF8"/>
          </a:solidFill>
          <a:ln w="15875">
            <a:solidFill>
              <a:srgbClr val="1D4F9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12864" y="54681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973568" y="550468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BE0EE"/>
          </a:solidFill>
          <a:ln w="15875">
            <a:solidFill>
              <a:srgbClr val="E800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93024" y="54681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070848" y="5504688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EE3F4"/>
          </a:solidFill>
          <a:ln w="15875">
            <a:solidFill>
              <a:srgbClr val="6D20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90304" y="54681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8368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de processos com IA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61327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Decidir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1D4F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PONTO ONDE A IA VIRA SOLUÇÃO DE VERDADE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spc="-57" kern="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humano na alça são </a:t>
            </a:r>
            <a:pPr indent="0" marL="0">
              <a:lnSpc>
                <a:spcPts val="3000"/>
              </a:lnSpc>
              <a:buNone/>
            </a:pPr>
            <a:r>
              <a:rPr lang="en-US" sz="2600" b="1" spc="-57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doze linhas</a:t>
            </a:r>
            <a:pPr indent="0" marL="0">
              <a:lnSpc>
                <a:spcPts val="3000"/>
              </a:lnSpc>
              <a:buNone/>
            </a:pPr>
            <a:r>
              <a:rPr lang="en-US" sz="2600" b="1" spc="-57" kern="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 um teste pra ver se ele é real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8836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TRIAGEM.PY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58368" y="2121408"/>
            <a:ext cx="6720840" cy="3063240"/>
          </a:xfrm>
          <a:prstGeom prst="roundRect">
            <a:avLst>
              <a:gd name="adj" fmla="val 2388"/>
            </a:avLst>
          </a:prstGeom>
          <a:solidFill>
            <a:srgbClr val="141A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49424"/>
            <a:ext cx="6391656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7E77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schema é o contrato: sem ele não há limiar nem log</a:t>
            </a:r>
            <a:endParaRPr lang="en-US" sz="900" dirty="0"/>
          </a:p>
          <a:p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FF9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Triagem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D6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(BaseModel):</a:t>
            </a:r>
            <a:endParaRPr lang="en-US" sz="900" dirty="0"/>
          </a:p>
          <a:p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D6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categoria: 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Literal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D6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93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"cobranca"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D6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93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"fraude"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D6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93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"cadastro"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D6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93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"outro"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D6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  <a:p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D6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confianca: 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D6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7E77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0-1, exigido no prompt</a:t>
            </a:r>
            <a:endParaRPr lang="en-US" sz="900" dirty="0"/>
          </a:p>
          <a:p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D6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justificativa: 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D6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7E77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frase — vai para o log</a:t>
            </a:r>
            <a:endParaRPr lang="en-US" sz="900" dirty="0"/>
          </a:p>
          <a:p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D6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faltou_contexto: 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F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D6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7E77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caminho explícito de "não sei"</a:t>
            </a:r>
            <a:endParaRPr lang="en-US" sz="900" dirty="0"/>
          </a:p>
          <a:p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D6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</a:t>
            </a:r>
            <a:pPr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classificar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D6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(chamado)  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7E77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saída estruturada, não texto livre</a:t>
            </a:r>
            <a:endParaRPr lang="en-US" sz="900" dirty="0"/>
          </a:p>
          <a:p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FF9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D6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r.faltou_contexto 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FF9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D6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r.confianca &lt; LIMIAR:</a:t>
            </a:r>
            <a:endParaRPr lang="en-US" sz="900" dirty="0"/>
          </a:p>
          <a:p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D6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fila_humana.</a:t>
            </a:r>
            <a:pPr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enfileirar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D6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(chamado, sugestao=r)  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7E77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 a sugestão</a:t>
            </a:r>
            <a:endParaRPr lang="en-US" sz="900" dirty="0"/>
          </a:p>
          <a:p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FF9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D6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  <a:p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D6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rotear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D6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(chamado, r.categoria)</a:t>
            </a:r>
            <a:endParaRPr lang="en-US" sz="900" dirty="0"/>
          </a:p>
          <a:p>
            <a:pPr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registrar</a:t>
            </a:r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D6D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(chamado.id, r, modelo=MODELO, prompt_v=PROMPT_V)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35240" y="2121408"/>
            <a:ext cx="38862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DC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12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checkpoint é real? Três perguntas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25968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revisor tem tempo e informação pra discordar?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863840" y="29992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Existe registro de quando ele discordou? Rejeição de 0% é alarme, não é qualidade.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63840" y="34015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revisar por amostragem daria o mesmo, revisar item a item é teatro — e custa uma pessoa.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35240" y="3931920"/>
            <a:ext cx="3886200" cy="1353312"/>
          </a:xfrm>
          <a:prstGeom prst="roundRect">
            <a:avLst>
              <a:gd name="adj" fmla="val 6757"/>
            </a:avLst>
          </a:prstGeom>
          <a:solidFill>
            <a:srgbClr val="F4F0F9"/>
          </a:solidFill>
          <a:ln w="12700">
            <a:solidFill>
              <a:srgbClr val="F4F0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4069080"/>
            <a:ext cx="3474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6D2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LGPD, art. 20.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titular pode pedir revisão de decisão tomada </a:t>
            </a:r>
            <a:pPr indent="0" marL="0">
              <a:lnSpc>
                <a:spcPts val="1550"/>
              </a:lnSpc>
              <a:buNone/>
            </a:pPr>
            <a:r>
              <a:rPr lang="en-US" sz="1050" i="1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unicamente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forma automatizada. Em serviço financeiro isso define quais caixas </a:t>
            </a:r>
            <a:pPr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podem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 100% automáticas — e obriga saber qual versão do modelo decidiu o quê.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5367528"/>
            <a:ext cx="10874959" cy="841248"/>
          </a:xfrm>
          <a:prstGeom prst="roundRect">
            <a:avLst>
              <a:gd name="adj" fmla="val 10870"/>
            </a:avLst>
          </a:prstGeom>
          <a:solidFill>
            <a:srgbClr val="F4F0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5367528"/>
            <a:ext cx="45720" cy="841248"/>
          </a:xfrm>
          <a:prstGeom prst="rect">
            <a:avLst/>
          </a:prstGeom>
          <a:solidFill>
            <a:srgbClr val="E800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4589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DETALHE QUE QUASE TODO MUNDO ESQUECE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5678424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faltou_contexto, o modelo nunca diz “não sei” — ele chuta com confiança alta.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“Não sei” precisa ser saída válida e explicitamente permitida no prompt. E escalone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 sugestão junto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fila que chega em branco custa o mesmo que não ter automação.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de processos com 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61327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Decidir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1D4F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4 · O PANORAMA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874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2700" b="1" spc="-59" kern="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 camadas — e as </a:t>
            </a:r>
            <a:pPr indent="0" marL="0">
              <a:lnSpc>
                <a:spcPts val="3100"/>
              </a:lnSpc>
              <a:buNone/>
            </a:pPr>
            <a:r>
              <a:rPr lang="en-US" sz="2700" b="1" spc="-59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</a:t>
            </a:r>
            <a:pPr indent="0" marL="0">
              <a:lnSpc>
                <a:spcPts val="3100"/>
              </a:lnSpc>
              <a:buNone/>
            </a:pPr>
            <a:r>
              <a:rPr lang="en-US" sz="2700" b="1" spc="-59" kern="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decidem se vai pra produção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10874959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DC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892808"/>
            <a:ext cx="45720" cy="201168"/>
          </a:xfrm>
          <a:prstGeom prst="roundRect">
            <a:avLst>
              <a:gd name="adj" fmla="val 40000"/>
            </a:avLst>
          </a:prstGeom>
          <a:solidFill>
            <a:srgbClr val="1D4F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84708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944368" y="1865376"/>
            <a:ext cx="1110082" cy="256032"/>
          </a:xfrm>
          <a:prstGeom prst="roundRect">
            <a:avLst>
              <a:gd name="adj" fmla="val 14286"/>
            </a:avLst>
          </a:prstGeom>
          <a:solidFill>
            <a:srgbClr val="F4F0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Opus 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27602" y="1865376"/>
            <a:ext cx="753466" cy="256032"/>
          </a:xfrm>
          <a:prstGeom prst="roundRect">
            <a:avLst>
              <a:gd name="adj" fmla="val 14286"/>
            </a:avLst>
          </a:prstGeom>
          <a:solidFill>
            <a:srgbClr val="F4F0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Sonnet 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954219" y="1865376"/>
            <a:ext cx="824789" cy="256032"/>
          </a:xfrm>
          <a:prstGeom prst="roundRect">
            <a:avLst>
              <a:gd name="adj" fmla="val 14286"/>
            </a:avLst>
          </a:prstGeom>
          <a:solidFill>
            <a:srgbClr val="F4F0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Haiku 4.5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852160" y="1865376"/>
            <a:ext cx="396850" cy="256032"/>
          </a:xfrm>
          <a:prstGeom prst="roundRect">
            <a:avLst>
              <a:gd name="adj" fmla="val 14286"/>
            </a:avLst>
          </a:prstGeom>
          <a:solidFill>
            <a:srgbClr val="F4F0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322162" y="1865376"/>
            <a:ext cx="896112" cy="256032"/>
          </a:xfrm>
          <a:prstGeom prst="roundRect">
            <a:avLst>
              <a:gd name="adj" fmla="val 14286"/>
            </a:avLst>
          </a:prstGeom>
          <a:solidFill>
            <a:srgbClr val="F4F0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2.5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291426" y="1865376"/>
            <a:ext cx="1894637" cy="256032"/>
          </a:xfrm>
          <a:prstGeom prst="roundRect">
            <a:avLst>
              <a:gd name="adj" fmla="val 14286"/>
            </a:avLst>
          </a:prstGeom>
          <a:solidFill>
            <a:srgbClr val="F4F0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 / Qwen self-hosted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295790" y="1865376"/>
            <a:ext cx="205465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motor, não o produto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8368" y="2276856"/>
            <a:ext cx="10874959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DC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" y="2414016"/>
            <a:ext cx="45720" cy="201168"/>
          </a:xfrm>
          <a:prstGeom prst="roundRect">
            <a:avLst>
              <a:gd name="adj" fmla="val 40000"/>
            </a:avLst>
          </a:prstGeom>
          <a:solidFill>
            <a:srgbClr val="1D4F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236829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944368" y="2386584"/>
            <a:ext cx="610819" cy="256032"/>
          </a:xfrm>
          <a:prstGeom prst="roundRect">
            <a:avLst>
              <a:gd name="adj" fmla="val 14286"/>
            </a:avLst>
          </a:prstGeom>
          <a:solidFill>
            <a:srgbClr val="F4F0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28339" y="2386584"/>
            <a:ext cx="682142" cy="256032"/>
          </a:xfrm>
          <a:prstGeom prst="roundRect">
            <a:avLst>
              <a:gd name="adj" fmla="val 14286"/>
            </a:avLst>
          </a:prstGeom>
          <a:solidFill>
            <a:srgbClr val="F4F0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ChatGPT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383634" y="2386584"/>
            <a:ext cx="610819" cy="256032"/>
          </a:xfrm>
          <a:prstGeom prst="roundRect">
            <a:avLst>
              <a:gd name="adj" fmla="val 14286"/>
            </a:avLst>
          </a:prstGeom>
          <a:solidFill>
            <a:srgbClr val="F4F0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104181" y="2386584"/>
            <a:ext cx="62462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aqui a IA é ferramenta: você no meio, sem log e sem eval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8368" y="2798064"/>
            <a:ext cx="10874959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DC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9536" y="2935224"/>
            <a:ext cx="45720" cy="201168"/>
          </a:xfrm>
          <a:prstGeom prst="roundRect">
            <a:avLst>
              <a:gd name="adj" fmla="val 40000"/>
            </a:avLst>
          </a:prstGeom>
          <a:solidFill>
            <a:srgbClr val="1D4F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288950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de código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944368" y="2907792"/>
            <a:ext cx="967435" cy="256032"/>
          </a:xfrm>
          <a:prstGeom prst="roundRect">
            <a:avLst>
              <a:gd name="adj" fmla="val 14286"/>
            </a:avLst>
          </a:prstGeom>
          <a:solidFill>
            <a:srgbClr val="F4F0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Code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984955" y="2907792"/>
            <a:ext cx="610819" cy="256032"/>
          </a:xfrm>
          <a:prstGeom prst="roundRect">
            <a:avLst>
              <a:gd name="adj" fmla="val 14286"/>
            </a:avLst>
          </a:prstGeom>
          <a:solidFill>
            <a:srgbClr val="F4F0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68926" y="2907792"/>
            <a:ext cx="539496" cy="256032"/>
          </a:xfrm>
          <a:prstGeom prst="roundRect">
            <a:avLst>
              <a:gd name="adj" fmla="val 14286"/>
            </a:avLst>
          </a:prstGeom>
          <a:solidFill>
            <a:srgbClr val="F4F0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Codex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281574" y="2907792"/>
            <a:ext cx="682142" cy="256032"/>
          </a:xfrm>
          <a:prstGeom prst="roundRect">
            <a:avLst>
              <a:gd name="adj" fmla="val 14286"/>
            </a:avLst>
          </a:prstGeom>
          <a:solidFill>
            <a:srgbClr val="F4F0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73445" y="2907792"/>
            <a:ext cx="52770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leem e escrevem no seu repo, rodam comando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8368" y="3319272"/>
            <a:ext cx="10874959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DC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9536" y="3456432"/>
            <a:ext cx="45720" cy="201168"/>
          </a:xfrm>
          <a:prstGeom prst="roundRect">
            <a:avLst>
              <a:gd name="adj" fmla="val 40000"/>
            </a:avLst>
          </a:prstGeom>
          <a:solidFill>
            <a:srgbClr val="1D4F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" y="341071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e MCP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944368" y="3429000"/>
            <a:ext cx="610819" cy="256032"/>
          </a:xfrm>
          <a:prstGeom prst="roundRect">
            <a:avLst>
              <a:gd name="adj" fmla="val 14286"/>
            </a:avLst>
          </a:prstGeom>
          <a:solidFill>
            <a:srgbClr val="F4F0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628339" y="3429000"/>
            <a:ext cx="396850" cy="256032"/>
          </a:xfrm>
          <a:prstGeom prst="roundRect">
            <a:avLst>
              <a:gd name="adj" fmla="val 14286"/>
            </a:avLst>
          </a:prstGeom>
          <a:solidFill>
            <a:srgbClr val="F4F0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134917" y="3429000"/>
            <a:ext cx="72155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= instrução reutilizável · MCP = um protocolo no lugar de N integrações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58368" y="3840480"/>
            <a:ext cx="10874959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DC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9536" y="3977640"/>
            <a:ext cx="45720" cy="201168"/>
          </a:xfrm>
          <a:prstGeom prst="roundRect">
            <a:avLst>
              <a:gd name="adj" fmla="val 40000"/>
            </a:avLst>
          </a:prstGeom>
          <a:solidFill>
            <a:srgbClr val="1D4F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4128" y="39319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/ API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2944368" y="3950208"/>
            <a:ext cx="1324051" cy="256032"/>
          </a:xfrm>
          <a:prstGeom prst="roundRect">
            <a:avLst>
              <a:gd name="adj" fmla="val 14286"/>
            </a:avLst>
          </a:prstGeom>
          <a:solidFill>
            <a:srgbClr val="F4F0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Agent SDK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341571" y="3950208"/>
            <a:ext cx="896112" cy="256032"/>
          </a:xfrm>
          <a:prstGeom prst="roundRect">
            <a:avLst>
              <a:gd name="adj" fmla="val 14286"/>
            </a:avLst>
          </a:prstGeom>
          <a:solidFill>
            <a:srgbClr val="F4F0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direta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310835" y="3950208"/>
            <a:ext cx="824789" cy="256032"/>
          </a:xfrm>
          <a:prstGeom prst="roundRect">
            <a:avLst>
              <a:gd name="adj" fmla="val 14286"/>
            </a:avLst>
          </a:prstGeom>
          <a:solidFill>
            <a:srgbClr val="F4F0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08776" y="3950208"/>
            <a:ext cx="967435" cy="256032"/>
          </a:xfrm>
          <a:prstGeom prst="roundRect">
            <a:avLst>
              <a:gd name="adj" fmla="val 14286"/>
            </a:avLst>
          </a:prstGeom>
          <a:solidFill>
            <a:srgbClr val="F4F0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Pydantic AI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285939" y="3950208"/>
            <a:ext cx="4064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vira produto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58368" y="4361688"/>
            <a:ext cx="10874959" cy="457200"/>
          </a:xfrm>
          <a:prstGeom prst="roundRect">
            <a:avLst>
              <a:gd name="adj" fmla="val 14000"/>
            </a:avLst>
          </a:prstGeom>
          <a:solidFill>
            <a:srgbClr val="FEF6FA"/>
          </a:solidFill>
          <a:ln w="12700">
            <a:solidFill>
              <a:srgbClr val="E8007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9536" y="4498848"/>
            <a:ext cx="45720" cy="201168"/>
          </a:xfrm>
          <a:prstGeom prst="roundRect">
            <a:avLst>
              <a:gd name="adj" fmla="val 40000"/>
            </a:avLst>
          </a:prstGeom>
          <a:solidFill>
            <a:srgbClr val="E800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4128" y="44531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Orquestração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2944368" y="4471416"/>
            <a:ext cx="396850" cy="256032"/>
          </a:xfrm>
          <a:prstGeom prst="roundRect">
            <a:avLst>
              <a:gd name="adj" fmla="val 14286"/>
            </a:avLst>
          </a:prstGeom>
          <a:solidFill>
            <a:srgbClr val="FBE0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n8n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414370" y="4471416"/>
            <a:ext cx="682142" cy="256032"/>
          </a:xfrm>
          <a:prstGeom prst="roundRect">
            <a:avLst>
              <a:gd name="adj" fmla="val 14286"/>
            </a:avLst>
          </a:prstGeom>
          <a:solidFill>
            <a:srgbClr val="FBE0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Airflow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169664" y="4471416"/>
            <a:ext cx="753466" cy="256032"/>
          </a:xfrm>
          <a:prstGeom prst="roundRect">
            <a:avLst>
              <a:gd name="adj" fmla="val 14286"/>
            </a:avLst>
          </a:prstGeom>
          <a:solidFill>
            <a:srgbClr val="FBE0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Temporal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96282" y="4471416"/>
            <a:ext cx="1181405" cy="256032"/>
          </a:xfrm>
          <a:prstGeom prst="roundRect">
            <a:avLst>
              <a:gd name="adj" fmla="val 14286"/>
            </a:avLst>
          </a:prstGeom>
          <a:solidFill>
            <a:srgbClr val="FBE0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Functions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250838" y="4471416"/>
            <a:ext cx="1181405" cy="256032"/>
          </a:xfrm>
          <a:prstGeom prst="roundRect">
            <a:avLst>
              <a:gd name="adj" fmla="val 14286"/>
            </a:avLst>
          </a:prstGeom>
          <a:solidFill>
            <a:srgbClr val="FBE0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Actions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541971" y="4471416"/>
            <a:ext cx="3808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7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retry, idempotência, estado, quem dispara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58368" y="4882896"/>
            <a:ext cx="10874959" cy="457200"/>
          </a:xfrm>
          <a:prstGeom prst="roundRect">
            <a:avLst>
              <a:gd name="adj" fmla="val 14000"/>
            </a:avLst>
          </a:prstGeom>
          <a:solidFill>
            <a:srgbClr val="FEF6FA"/>
          </a:solidFill>
          <a:ln w="12700">
            <a:solidFill>
              <a:srgbClr val="E8007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9536" y="5020056"/>
            <a:ext cx="45720" cy="201168"/>
          </a:xfrm>
          <a:prstGeom prst="roundRect">
            <a:avLst>
              <a:gd name="adj" fmla="val 40000"/>
            </a:avLst>
          </a:prstGeom>
          <a:solidFill>
            <a:srgbClr val="E800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24128" y="497433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e observabilidade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2944368" y="4992624"/>
            <a:ext cx="1965960" cy="256032"/>
          </a:xfrm>
          <a:prstGeom prst="roundRect">
            <a:avLst>
              <a:gd name="adj" fmla="val 14286"/>
            </a:avLst>
          </a:prstGeom>
          <a:solidFill>
            <a:srgbClr val="FBE0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casos versionados no repo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83480" y="4992624"/>
            <a:ext cx="753466" cy="256032"/>
          </a:xfrm>
          <a:prstGeom prst="roundRect">
            <a:avLst>
              <a:gd name="adj" fmla="val 14286"/>
            </a:avLst>
          </a:prstGeom>
          <a:solidFill>
            <a:srgbClr val="FBE0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Langfuse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810098" y="4992624"/>
            <a:ext cx="896112" cy="256032"/>
          </a:xfrm>
          <a:prstGeom prst="roundRect">
            <a:avLst>
              <a:gd name="adj" fmla="val 14286"/>
            </a:avLst>
          </a:prstGeom>
          <a:solidFill>
            <a:srgbClr val="FBE0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Braintrust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815938" y="4992624"/>
            <a:ext cx="45345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7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isso, o terceiro mês te pega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58368" y="5559552"/>
            <a:ext cx="10874959" cy="530352"/>
          </a:xfrm>
          <a:prstGeom prst="roundRect">
            <a:avLst>
              <a:gd name="adj" fmla="val 17241"/>
            </a:avLst>
          </a:prstGeom>
          <a:solidFill>
            <a:srgbClr val="F4F0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8368" y="5559552"/>
            <a:ext cx="45720" cy="530352"/>
          </a:xfrm>
          <a:prstGeom prst="rect">
            <a:avLst/>
          </a:prstGeom>
          <a:solidFill>
            <a:srgbClr val="E800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4400" y="5687568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não é modelo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é agente.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não é orquestrador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é editor com agente.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é gatilho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não orquestrador.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58368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de processos com IA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961327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Ferramentas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1D4F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5 · O CASO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8749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800" b="1" spc="-62" kern="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processo real, </a:t>
            </a:r>
            <a:pPr indent="0" marL="0">
              <a:lnSpc>
                <a:spcPts val="3000"/>
              </a:lnSpc>
              <a:buNone/>
            </a:pPr>
            <a:r>
              <a:rPr lang="en-US" sz="2800" b="1" spc="-62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mesma notação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3442106" cy="2286000"/>
          </a:xfrm>
          <a:prstGeom prst="roundRect">
            <a:avLst>
              <a:gd name="adj" fmla="val 4000"/>
            </a:avLst>
          </a:prstGeom>
          <a:solidFill>
            <a:srgbClr val="FEF6FA"/>
          </a:solidFill>
          <a:ln w="15875">
            <a:solidFill>
              <a:srgbClr val="E8007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14400" y="2176272"/>
            <a:ext cx="2930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PROCESSO E A CONVERSA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2432304"/>
            <a:ext cx="29300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era o processo, quem executava, com que frequência acontecia.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9300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i="1" dirty="0">
                <a:solidFill>
                  <a:srgbClr val="A08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frase literal de quem executava — a fala que virou losango. É o que amarra este slide ao slide 6.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74794" y="1965960"/>
            <a:ext cx="3442106" cy="2286000"/>
          </a:xfrm>
          <a:prstGeom prst="roundRect">
            <a:avLst>
              <a:gd name="adj" fmla="val 4000"/>
            </a:avLst>
          </a:prstGeom>
          <a:solidFill>
            <a:srgbClr val="FEF6FA"/>
          </a:solidFill>
          <a:ln w="15875">
            <a:solidFill>
              <a:srgbClr val="E8007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630826" y="2176272"/>
            <a:ext cx="2930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FLUXO PINTADO + O PLACAR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630826" y="2432304"/>
            <a:ext cx="29300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desenho do slide 9, com as caixas reais.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30826" y="3017520"/>
            <a:ext cx="29300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i="1" dirty="0">
                <a:solidFill>
                  <a:srgbClr val="A08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 caixas → X Python · Y IA · Z humano”. Se a maioria virou Python, diga isso em voz alta: é o ponto da palestra.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91221" y="1965960"/>
            <a:ext cx="3442106" cy="2286000"/>
          </a:xfrm>
          <a:prstGeom prst="roundRect">
            <a:avLst>
              <a:gd name="adj" fmla="val 4000"/>
            </a:avLst>
          </a:prstGeom>
          <a:solidFill>
            <a:srgbClr val="FEF6FA"/>
          </a:solidFill>
          <a:ln w="15875">
            <a:solidFill>
              <a:srgbClr val="E8007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347253" y="2176272"/>
            <a:ext cx="29300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QUEBROU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347253" y="2432304"/>
            <a:ext cx="29300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número de antes → depois que você defenda no Q&amp;A.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47253" y="3017520"/>
            <a:ext cx="29300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i="1" dirty="0">
                <a:solidFill>
                  <a:srgbClr val="A08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 falha: de preferência uma em que o modelo errou com confiança e você só descobriu depois. Como detectou e qual guarda-corpo entrou.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" y="4846320"/>
            <a:ext cx="10874959" cy="859536"/>
          </a:xfrm>
          <a:prstGeom prst="roundRect">
            <a:avLst>
              <a:gd name="adj" fmla="val 10638"/>
            </a:avLst>
          </a:prstGeom>
          <a:solidFill>
            <a:srgbClr val="F4F0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4846320"/>
            <a:ext cx="45720" cy="859536"/>
          </a:xfrm>
          <a:prstGeom prst="rect">
            <a:avLst/>
          </a:prstGeom>
          <a:solidFill>
            <a:srgbClr val="E800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9377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AINDA A PREENCHER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4400" y="5157216"/>
            <a:ext cx="103628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slide vira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ou três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quando o caso estiver definido: um do processo e da conversa, um do fluxo pintado, um do resultado e das cicatrizes. A estrutura já está de pé — falta o conteúdo.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de processos com 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61327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O caso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1D4F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6 · PRA LEVAR EMBORA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8749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800" b="1" spc="-62" kern="0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kit — os arquivos que eu usei </a:t>
            </a:r>
            <a:pPr indent="0" marL="0">
              <a:lnSpc>
                <a:spcPts val="3000"/>
              </a:lnSpc>
              <a:buNone/>
            </a:pPr>
            <a:r>
              <a:rPr lang="en-US" sz="2800" b="1" spc="-62" kern="0" dirty="0">
                <a:solidFill>
                  <a:srgbClr val="E80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 montar tudo isso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1810512"/>
            <a:ext cx="10874959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D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11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7-perguntas.md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47288" y="1856232"/>
            <a:ext cx="781171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roteiro de entrevista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slide 4, com o que anotar em cada resposta.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2340864"/>
            <a:ext cx="10874959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DC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41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notacao.mmd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47288" y="2386584"/>
            <a:ext cx="781171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fluxograma em Mermaid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copia, troca os nomes das caixas, versiona no repo.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2871216"/>
            <a:ext cx="10874959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DC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971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canvas.md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47288" y="2916936"/>
            <a:ext cx="781171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linha por caixa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entrada, saída, dono, frequência, exceções, custo do erro.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3401568"/>
            <a:ext cx="10874959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DC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02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classificar.md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47288" y="3447288"/>
            <a:ext cx="781171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três perguntas do slide 8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 forma de checklist — rode uma vez por caixa.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931920"/>
            <a:ext cx="10874959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DC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0325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prompt.template.md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47288" y="3977640"/>
            <a:ext cx="781171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sete seções de um prompt de produção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papel, tarefa, dados, regras, formato de saída, quando NÃO decidir, casos de borda.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4462272"/>
            <a:ext cx="10874959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DC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5628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evals/exemplo.yaml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47288" y="4507992"/>
            <a:ext cx="781171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Vinte casos, cinco de borda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mais o comando que roda no CI e bloqueia o merge.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" y="4992624"/>
            <a:ext cx="10874959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3DC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0932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checklist-producao.md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47288" y="5038344"/>
            <a:ext cx="781171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16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Doze itens antes de ligar o fluxo.</a:t>
            </a:r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Item desmarcado é risco aceito, com nome e data ao lado.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" y="5504688"/>
            <a:ext cx="10874959" cy="658368"/>
          </a:xfrm>
          <a:prstGeom prst="roundRect">
            <a:avLst>
              <a:gd name="adj" fmla="val 13889"/>
            </a:avLst>
          </a:prstGeom>
          <a:solidFill>
            <a:srgbClr val="FEF6FA"/>
          </a:solidFill>
          <a:ln w="15875">
            <a:solidFill>
              <a:srgbClr val="E8007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914400" y="57058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0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 / QR A DEFINIR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172968" y="5614416"/>
            <a:ext cx="80860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i="1" dirty="0">
                <a:solidFill>
                  <a:srgbClr val="A08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público ou pasta compartilhada. Definir também se vai junto a versão instalável como skills, ou só os arquivos em Markdown — que funcionam com qualquer ferramenta.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 de processos com IA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61327" y="63276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O kit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E0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F8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spc="-5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frases e </a:t>
            </a:r>
            <a:pPr indent="0" marL="0">
              <a:buNone/>
            </a:pPr>
            <a:r>
              <a:rPr lang="en-US" sz="2600" b="1" spc="-57" kern="0" dirty="0">
                <a:solidFill>
                  <a:srgbClr val="FF8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desafio de uma hora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F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25296" y="2103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conversa vem antes do desenho. O desenho vem antes da </a:t>
            </a:r>
            <a:pPr indent="0" marL="0">
              <a:lnSpc>
                <a:spcPts val="2400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</a:t>
            </a:r>
            <a:pPr indent="0" marL="0">
              <a:lnSpc>
                <a:spcPts val="2400"/>
              </a:lnSpc>
              <a:buNone/>
            </a:pPr>
            <a:r>
              <a:rPr lang="en-US" sz="1800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2862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F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25296" y="281635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dá pra fazer com um </a:t>
            </a:r>
            <a:pPr indent="0" marL="0">
              <a:lnSpc>
                <a:spcPts val="2400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pPr indent="0" marL="0">
              <a:lnSpc>
                <a:spcPts val="2400"/>
              </a:lnSpc>
              <a:buNone/>
            </a:pPr>
            <a:r>
              <a:rPr lang="en-US" sz="1800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faça com um if. IA é a terceira pergunta.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3575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F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25296" y="352958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Mantenha a pessoa onde </a:t>
            </a:r>
            <a:pPr indent="0" marL="0">
              <a:lnSpc>
                <a:spcPts val="2400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errar é caro</a:t>
            </a:r>
            <a:pPr indent="0" marL="0">
              <a:lnSpc>
                <a:spcPts val="2400"/>
              </a:lnSpc>
              <a:buNone/>
            </a:pPr>
            <a:r>
              <a:rPr lang="en-US" sz="1800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 prove que ela consegue discordar.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4617720"/>
            <a:ext cx="10874959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4617720"/>
            <a:ext cx="45720" cy="1234440"/>
          </a:xfrm>
          <a:prstGeom prst="rect">
            <a:avLst/>
          </a:prstGeom>
          <a:solidFill>
            <a:srgbClr val="FF8F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7365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FF8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DE UMA HORA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498348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Pegue alguém do seu time que executa um processo toda semana. Faça as </a:t>
            </a:r>
            <a:pPr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 perguntas</a:t>
            </a:r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Desenhe o fluxo na frente da pessoa. Marque a única caixa que é pura digitação — e automatize </a:t>
            </a:r>
            <a:pPr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ela</a:t>
            </a:r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Depois volte pra segunda.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Automação de processos com IA</dc:title>
  <dc:subject>PptxGenJS Presentation</dc:subject>
  <dc:creator>Bruno Prata</dc:creator>
  <cp:lastModifiedBy>Bruno Prata</cp:lastModifiedBy>
  <cp:revision>1</cp:revision>
  <dcterms:created xsi:type="dcterms:W3CDTF">2026-08-13T11:22:20Z</dcterms:created>
  <dcterms:modified xsi:type="dcterms:W3CDTF">2026-08-13T11:22:20Z</dcterms:modified>
</cp:coreProperties>
</file>