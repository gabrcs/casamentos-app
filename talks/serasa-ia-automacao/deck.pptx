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Nome, o que faço, e a promessa em uma frase: vocês vão sair com um método de uma página para decidir o que automatizar. Prometa o caso prático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depois da pergunta errada; deixe o silêncio trabalhar. Esta é a tese: automação é desenho de processo, não escolha de modelo. A linha do rodapé é a única agenda.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do método. Diga que a notação inteira são quatro formas — não é BPMN, não precisa de ferramenta, papel resolve. O passo 4 é o que ninguém faz.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fluxo com o dedo, uma caixa por vez. Insista que ainda não se falou de IA — e que a regra do losango escrita já é metade da decisão de arquitetura.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SLIDE-CHAVE — dê tempo, a plateia fotografa. Uma linha por caixa do fluxo anterior: o canvas não é outro documento, é o mesmo desenho em forma de tabela. Percorra só as duas colunas destacadas.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alto da primeira parte. Mesmo desenho, três cores — e a arquitetura apareceu sem ninguém escrever documento. Destaque que o losango engana: parece IA, é um if.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árvore em voz alta com UMA linha do canvas — de preferência 'Classificar assunto'. A primeira pergunta é a que mais economiza dinheiro: se é regra fixa, é código. A segunda é a que ninguém faz e é a que evita projeto morto.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código em voz alta — são doze linhas, cabe. O que importa não é o código, é o schema: sem faltou_contexto e confianca não existe limiar nem log. Este é o slide que transforma 'human in the loop' de conceito em implementação.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relevante para o contexto Serasa. 'Taxa de rejeição 0% é alarme' costuma gerar pergunta. No art. 20 seja preciso: o direito é à revisão, e o gatilho é a decisão tomada UNICAMENTE por tratamento automatizado.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rápido, não venda ferramenta. As duas linhas destacadas são o recado. Sobre banco vetorial seja direto: na maioria dos casos a busca que a empresa já tem resolve. Se o tempo apertar, este é o slide para acelerar.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Insista na inversão: o eval vem ANTES do prompt. E no número que mata projeto: erro confiante. Se der abertura, conte que 20 casos com 5 de borda já pega quase tudo — tira a desculpa de 'não tenho dados suficientes'.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as sete seções — aponte a 6 ('quando NÃO decidir'), que é a que quase todo prompt não tem. No registro, o campo mais interessante é revertido_em: se está sempre null, ou está perfeito ou ninguém olha.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doze. Diga que é portão, não lista de desejos, e destaque três: eval no CI, caminho de 'não sei', e dono com nome. O resto é material de consulta.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 com o seu caso. Conte como história, não como lista. Use a MESMA notação do slide 3 — o retorno visual é o que amarra a palestra.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PREENCHER. O quadro do meio é o mais valioso: plateia técnica confia em quem mostra a falha. Feche amarrando à árvore de decisão.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pelo desafio, não pelo agradecimento — dá algo concreto para segunda-feira. Deixe este slide no telão durante o Q&amp;A.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mapear o processo, implementar com eval e levar para produção.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4630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errada é </a:t>
            </a:r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a IA consegue fazer aqui?”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31089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certa é: </a:t>
            </a:r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 processo, o que é decisão e o que é digitação?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93192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com IA é 80% desenho de processo e 20% modelo. Quem inverte essa conta entrega uma demo bonita que ninguém usa em produção.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PRÓXIMOS 25 MIN     </a:t>
            </a:r>
            <a:pPr indent="0" marL="0"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 →  decidir  →  humano na alça  →  levar para produção  →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caso real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passos 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É só isso.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103120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" y="2066544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fluxo como ele acontece hoje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sem melhorar nada. Entreviste quem executa: a versão do gerente é a oficial, a de quem executa é a real.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852928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2816352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por ação, um losango por decisão.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 dúvida, é decisão — decisão escondida dentro de ação é onde a automação quebra depois.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602736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15568" y="3566160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Tabele cada caixa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volume/mês, taxa de exceção, custo do erro. Sem os dois últimos, o passo 4 é chute.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4352544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352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4315968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Volte ao desenho e pinte cada caixa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código, IA ou humano. O fluxo pintado é a arquitetura.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315200" y="199339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15200" y="2304288"/>
            <a:ext cx="1417320" cy="512064"/>
          </a:xfrm>
          <a:prstGeom prst="roundRect">
            <a:avLst>
              <a:gd name="adj" fmla="val 89286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915400" y="230428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3090672"/>
            <a:ext cx="141732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15400" y="309067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0" y="3877056"/>
            <a:ext cx="141732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15400" y="387705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0" y="4937760"/>
            <a:ext cx="128016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68096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15400" y="466344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" y="532180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13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FLUXOGRAMA E NÃO TEXTO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4400" y="56144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em texto esconde decisão. Em fluxograma, decisão tem forma própria — e é exatamente onde você vai escolher entre código, IA e humano.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não é documentação, é a ferramenta de decisão.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1 E 2 · EXEMPLO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Triagem de solicitação de suporte,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acontece hoje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38125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Solicitação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717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05275" y="2381250"/>
            <a:ext cx="166687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assunto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341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67675" y="2095500"/>
            <a:ext cx="1619250" cy="123825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34000" y="4381500"/>
            <a:ext cx="1905000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revisa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aprova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810500" y="4381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096500" y="4381500"/>
            <a:ext cx="9525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097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33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721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057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877300" y="3333750"/>
            <a:ext cx="0" cy="4762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286500" y="3810000"/>
            <a:ext cx="2590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500" y="3810000"/>
            <a:ext cx="0" cy="5143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86925" y="2714625"/>
            <a:ext cx="174307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0" y="2714625"/>
            <a:ext cx="0" cy="1285875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8667750" y="4000500"/>
            <a:ext cx="27622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7750" y="4000500"/>
            <a:ext cx="0" cy="3238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39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25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915400" y="37719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53600" y="25527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000" y="41148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2000" y="43434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62000" y="455295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E8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 sem regra = decisão que ninguém revisou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 DESENHO JÁ ENTREGA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ações, uma decisão, duas saídas rotuladas — e a regra do losango escrita.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aqui é sobre IA ainda.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Quem tenta desenhar isso e não consegue fechar as setas descobriu que tem dois processos, não um.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TABELA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canvas —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 do fluxo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95947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colunas destacadas são as que decidem tudo no passo 4.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86000"/>
          <a:ext cx="1087495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234440"/>
                <a:gridCol w="1600200"/>
                <a:gridCol w="1691640"/>
                <a:gridCol w="914400"/>
                <a:gridCol w="1051560"/>
                <a:gridCol w="44805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Caixa do fluxo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Saída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 decisão?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do erro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Exceções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Volume/mês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ticket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e-mail, formulário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criado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Classificar assunto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 livre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Redigir resposta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+ histórico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462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Precisa aprovação?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do desconto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/ 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regra fixa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revisa e aprova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julgamento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alto, irreversível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2303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14400" y="543153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+ erro tolerável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Regra fixa, mesmo com erro caro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Julgamento irreversível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Digitação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tabela decide, você só transcreve para o desenho.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ENTREGÁVEL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pronto,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38125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Solicitação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717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05275" y="2381250"/>
            <a:ext cx="1666875" cy="666750"/>
          </a:xfrm>
          <a:prstGeom prst="roundRect">
            <a:avLst>
              <a:gd name="adj" fmla="val 13714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assunto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341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67675" y="2095500"/>
            <a:ext cx="1619250" cy="1238250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34000" y="4381500"/>
            <a:ext cx="1905000" cy="666750"/>
          </a:xfrm>
          <a:prstGeom prst="roundRect">
            <a:avLst>
              <a:gd name="adj" fmla="val 13714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revisa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aprova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810500" y="4381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096500" y="4381500"/>
            <a:ext cx="9525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097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33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721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057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877300" y="3333750"/>
            <a:ext cx="0" cy="4762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286500" y="3810000"/>
            <a:ext cx="2590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500" y="3810000"/>
            <a:ext cx="0" cy="5143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86925" y="2714625"/>
            <a:ext cx="174307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0" y="2714625"/>
            <a:ext cx="0" cy="1285875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8667750" y="4000500"/>
            <a:ext cx="27622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7750" y="4000500"/>
            <a:ext cx="0" cy="3238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39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25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915400" y="37719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53600" y="25527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0840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0652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12.000/mês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464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revisão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8620" y="34518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· regra fixa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17820" y="51663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300/mês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799070" y="51663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RESULTADO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caixas rosas são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21.000 execuções/mês de decisão ambígua com erro tolerável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aí que a IA se paga. A lavanda são 300 julgamentos irreversíveis por mês: continua humana, e é barato que continue. O losango parece decisão de IA e não é.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ÁRVORE · RODE UMA VEZ POR LINHA DO CANVAS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perguntas e a etapa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classifica sozinha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382000" y="9906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QUINTO CAMINHO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82000" y="11811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árvore classifica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de processo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Trabalho de especialista — código, análise, redação — não entra: ali é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57250" y="21145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estável?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57250" y="29908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custa menos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executar?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57250" y="38671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7250" y="47434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reversível?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27622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362200" y="28479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86000" y="36385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362200" y="37242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0" y="45148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362200" y="46005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714750" y="24384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848100" y="23241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76750" y="21717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— não use LLM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0500" y="22189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confia para sempre.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14750" y="33147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848100" y="32004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76750" y="30480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NÃO AUTOMATIZE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10500" y="30952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Torne verificável primeiro. Senão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automação vira trabalho novo.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14750" y="41910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3848100" y="40767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476750" y="39243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revisão por amostragem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10500" y="39715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ganho fácil. Comece por aqui,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pelo processo mais visível.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4750" y="50673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3848100" y="49530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476750" y="48006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humano supervisiona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810500" y="48478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vale com undo real e alerta.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que ninguém abre não conta.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86000" y="5391150"/>
            <a:ext cx="0" cy="552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0" y="5943600"/>
            <a:ext cx="21336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362200" y="561975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476750" y="56769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propõe + humano aprova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810500" y="57241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 e irreversível. O clique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é o produto aqui.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PADRÃO MAIS ÚTIL, NA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Escalonamento por confiança —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doze linhas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214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6858000" cy="2788920"/>
          </a:xfrm>
          <a:prstGeom prst="roundRect">
            <a:avLst>
              <a:gd name="adj" fmla="val 2623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05456"/>
            <a:ext cx="6528816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["cobranca", "fraude", "cadastro", "outro"]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(ticket)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(ticket.id, r, modelo=MODELO, prompt_v=PROMPT_V)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0" y="2377440"/>
            <a:ext cx="3760927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91856" y="2523744"/>
            <a:ext cx="3322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limiar sai do eval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991856" y="2798064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os casos, veja onde o acerto cai, escolha ali. Começamos em 0.85 — o ponto em que o erro confiante zerou.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0" y="3602736"/>
            <a:ext cx="3760927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49040"/>
            <a:ext cx="3322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Escalone com a sugestão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91856" y="4023360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automação. Com categoria sugerida + justificativa, o humano confirma em segundos.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0" y="4828032"/>
            <a:ext cx="3760927" cy="731520"/>
          </a:xfrm>
          <a:prstGeom prst="roundRect">
            <a:avLst>
              <a:gd name="adj" fmla="val 1250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919472"/>
            <a:ext cx="3322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Meça a taxa de escalonamento. 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Subiu? Mudou o contexto ou apareceu categoria nova — não é o modelo piorando.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534924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440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DETALHE QUE QUASE TODO MUNDO ESQUECE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564184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faltou_contexto, o modelo nunca diz "não sei" — ele chuta com confiança alta.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"Não sei" precisa ser uma saída válida e explicitamente permitida no prompt, senão você mediu confiança de um modelo que não tem como discordar de si mesmo.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ANTI-PADRÃO QUE PASSA EM TODA AUDITORIA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humano aprova 400 itens por dia, não existe humano na alça — existe um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 de aprovação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514600"/>
            <a:ext cx="52546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8892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perguntas para saber se o checkpoint é real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9264" y="3429000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revisor tem tempo e informação suficientes para discordar?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4032504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 registro de quando ele discordou? Taxa de rejeição de 0% é alarme, não é qualidade.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" y="4636008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revisão por amostragem daria o mesmo resultado, a revisão item a item é teatro — e está custando uma pessoa.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2514600"/>
            <a:ext cx="5254600" cy="2743200"/>
          </a:xfrm>
          <a:prstGeom prst="roundRect">
            <a:avLst>
              <a:gd name="adj" fmla="val 3333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9624" y="278892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regulatório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9624" y="317296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LGPD, art. 20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garante ao titular o direito de solicitar revisão de decisões tomadas unicamente com base em tratamento automatizado que afetem seus interesses.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9624" y="399592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serviço financeiro isso não é rodapé jurídico: é o que define quais etapas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rastro de qual versão do modelo decidiu o quê, quando.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9624" y="4800600"/>
            <a:ext cx="463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Consequência prática: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log de decisão junto com o fluxo — é o slide seguinte.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POR CAMADA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camadas — e as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para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1284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47288" y="221284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GPT · Gemini · modelo aberto self-hosted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743200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e código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47288" y="2743200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· Claude Agent SDK · Cursor · LangGraph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273552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735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47288" y="3273552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· Airflow · Step Functions · n8n — retry, idempotência, estado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803904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039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47288" y="3803904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APIs internas — um protocolo no lugar de N integrações sob medida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334256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342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dados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447288" y="4334256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busca que você já tem · banco vetorial só quando a busca simples falhar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486460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8646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447288" y="486460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casos versionado · Langfuse · Braintrust · traço com input, output e versão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PILOTO DE PRODUÇÃO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piloto tem a camada de modelo. O que quase nenhum tem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são exatamente as duas que decidem se aquilo sobrevive ao terceiro mês.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ARTEFATO QUE SEPARA AUTOMAÇÃO DE APOSTA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eval set é um arquivo.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por ele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pelo prompt.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EVALS/TRIAGEM.YAML  ·  VERSIONADO NO REPO, REVISADO EM PR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450592"/>
            <a:ext cx="6858000" cy="2542032"/>
          </a:xfrm>
          <a:prstGeom prst="roundRect">
            <a:avLst>
              <a:gd name="adj" fmla="val 287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78608"/>
            <a:ext cx="652881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20 casos REAIS tirados do histórico — não inventados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cob-001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"não reconheço a cobrança de R$ 89,90 no cartão"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categoria: cobranca,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frd-014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"abriram conta no meu CPF, quero registrar fraude"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categoria: fraude,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os casos de borda são os que importam: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este é ambíguo de propósito e DEVE escalonar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amb-007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"cobrança que não fiz, acho que usaram meus dados"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51023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CI, BLOQUEANDO MERGE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5358384"/>
            <a:ext cx="6858000" cy="457200"/>
          </a:xfrm>
          <a:prstGeom prst="roundRect">
            <a:avLst>
              <a:gd name="adj" fmla="val 16000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486400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evals/ --limiar 0.85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falha = não entra em produção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0" y="2450592"/>
            <a:ext cx="376092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0144" y="2615184"/>
            <a:ext cx="3285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números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10144" y="2926080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Acerto por categoria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média esconde a categoria que vai mal.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10144" y="3419856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escalonamento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 custo humano que você está criando.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10144" y="3913632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confiante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errou com confiança acima do limiar. Este é o número que mata o projeto. Meta: zero.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0" y="4553712"/>
            <a:ext cx="3760927" cy="1261872"/>
          </a:xfrm>
          <a:prstGeom prst="roundRect">
            <a:avLst>
              <a:gd name="adj" fmla="val 7246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10144" y="4700016"/>
            <a:ext cx="3285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 bastam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10144" y="5010912"/>
            <a:ext cx="32854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espere ter mil. Vinte casos reais, sendo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de borda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já pegam quase toda regressão. O eval que existe vale mais que o eval perfeito que você faria depois.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OUTROS DOIS ARTEFATOS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prompt tem anatomia. E toda decisão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rastro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214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PROMPTS/TRIAGEM.V4.MD  ·  SETE SEÇÕES, SEMPRE NESSA ORDEM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5254600" cy="3520440"/>
          </a:xfrm>
          <a:prstGeom prst="roundRect">
            <a:avLst>
              <a:gd name="adj" fmla="val 207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05456"/>
            <a:ext cx="4925416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1. Papel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tria solicitações de suporte de um bureau.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2. Tarefa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Classifique em UMA categoria e informe a confiança.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3. Dados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{{ticket}}  {{historico_do_cliente}}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4. Regras de decisão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CPF usado por terceiro -&gt; sempre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fraude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Valor contestado + suspeita -&gt; escalone.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5. Formato de saída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no schema Triagem. Nada fora do JSON.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6. Quando NÃO decidir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Falta histórico ou cabe em duas categorias -&gt;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faltou_contexto: true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Não chute.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7. Casos de borda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&lt;3 exemplos vindos direto do eval set&gt;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278728" y="21214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DE CADA DECISÃO  ·  UMA LINHA POR EXECUÇÃO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278728" y="2377440"/>
            <a:ext cx="5254600" cy="2286000"/>
          </a:xfrm>
          <a:prstGeom prst="roundRect">
            <a:avLst>
              <a:gd name="adj" fmla="val 3200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3320" y="2505456"/>
            <a:ext cx="492541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"ticket"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"T-88421"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"ts"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"2026-07-30T14:02:11Z"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"modelo"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"&lt;id e versão fixados&gt;"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"prompt_v"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"4"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"entrada"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"&lt;hash + referência&gt;"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"saida"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"categoria"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 },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"confianca"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0.91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"decidiu"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"automatico"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"revisado_por"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"revertido_em"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78728" y="4800600"/>
            <a:ext cx="5254600" cy="1097280"/>
          </a:xfrm>
          <a:prstGeom prst="roundRect">
            <a:avLst>
              <a:gd name="adj" fmla="val 8333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6472" y="4919472"/>
            <a:ext cx="477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EXATAMENTE ESSES CAMPOS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16472" y="5157216"/>
            <a:ext cx="477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+ prompt_v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reproduzir a decisão seis meses depois.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decidiu + revisado_por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responder ao art. 20 sem arqueologia.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revertido_em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sempre null = ou está perfeito, ou ninguém está olhando.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PORTÃO ANTES DE PRODUÇÃO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itens. Desmarcado é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assumido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esquecimento.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768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494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set no repo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20 casos, rodando no CI e bloqueando merge.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282549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79806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do modelo fixada.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Atualizar é deploy: eval antes, rollback previsto.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337413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4670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versionado em arquivo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revisado em PR. Não mora em Google Doc.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3922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953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estruturada com schema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validado no código, não texto livre.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447141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439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Caminho de “não sei”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existe, é permitido no prompt e é medido.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50200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926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feita em código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pedida ao modelo. Ferramenta antes de aritmética.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70168" y="22768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17640" y="22494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por execução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 modelo, versão do prompt e quem decidiu.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70168" y="282549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17640" y="279806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e idempotência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 orquestração. Reprocessar não duplica efeito.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70168" y="337413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7640" y="334670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execução medido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multiplicado pelo volume do canvas.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70168" y="3922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17640" y="38953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sabe qual campo de dado sai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empresa — o campo, não a ferramenta.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70168" y="447141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17640" y="44439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existe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onde o padrão é supervisão. Sem undo, não é supervisão.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70168" y="50200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17640" y="49926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dono com nome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data de revisão na agenda. Não nome de squad.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6692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400" y="5870448"/>
            <a:ext cx="10362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lista de boas intenções,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portão de produção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Rode antes de ligar o fluxo, e trate item desmarcado como risco aceito conscientemente — com nome e data ao lado.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Práticas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O PROCESSO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meu fluxo, na mesma notação — 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executa cada caixa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85750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74570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09750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333875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2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22445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857625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81750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320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APROVA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05500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429625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4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8195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3375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477500" y="2857500"/>
            <a:ext cx="104775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763125" y="3190875"/>
            <a:ext cx="65722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8368" y="4892040"/>
            <a:ext cx="10874959" cy="1005840"/>
          </a:xfrm>
          <a:prstGeom prst="roundRect">
            <a:avLst>
              <a:gd name="adj" fmla="val 9091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9834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PREENCHER COM O SEU CASO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4400" y="5184648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as quatro caixas pelo fluxo real e pinte cada uma como no slide 6: azul = código, rosa = IA, lavanda = humano. Se o seu fluxo tem decisão, use losango e escreva a regra embaixo. O contraste de cor precisa deixar óbvio, de longe, onde você continuou na alça.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RESULTADO E CICATRIZES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ganhei, o que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quebrou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 o que eu faria diferente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32688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→ DEPOIS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32688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por execução: de X para Y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que passou a caber: Z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execução: R$ —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que você consiga defender vale mais que três estimados.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9704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4024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QUEBROU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64024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falha mais interessante do projeto — de preferência uma em que o modelo errou com confiança e você só descobriu depois.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detectou, e qual guarda-corpo entrou depois.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21040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595360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EU FARIA DIFERENTE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0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coisa concreta. Normalmente: “teria escrito o eval antes do prompt” ou “teria começado por uma etapa menor”.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534924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440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HUMANO FICOU — E POR QUÊ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564184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Amarre à árvore do slide 7: qual folha classificou cada etapa, e o que aconteceu quando você tentou tirar o humano de onde ele era necessário.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822960"/>
            <a:ext cx="2560320" cy="2560320"/>
          </a:xfrm>
          <a:prstGeom prst="roundRect">
            <a:avLst>
              <a:gd name="adj" fmla="val 1071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semana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25296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fluxo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escolher a ferramenta.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28986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Pinte cada caixa: código, IA ou humano.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pintado é a arquitetura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" y="36484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25296" y="364845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eval e sem dono, nenhuma automação sobrevive ao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mês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58368" y="466344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48280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69264" y="5084064"/>
            <a:ext cx="102531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um processo que você executa toda semana. Desenhe o fluxo numa folha. Pinte as caixas. Automatize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 mais azul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mais determinística. Escreva os 20 casos de eval antes do prompt. Meça. Depois volte para a segunda caixa.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— perguntas?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2026-08-12T11:16:53Z</dcterms:created>
  <dcterms:modified xsi:type="dcterms:W3CDTF">2026-08-12T11:16:53Z</dcterms:modified>
</cp:coreProperties>
</file>