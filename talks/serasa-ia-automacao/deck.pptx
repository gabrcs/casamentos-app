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curta. Nome e a promessa em uma frase: vocês vão sair com um roteiro de entrevista, uma notação de fluxograma e uma regra de decisão. Prometa o kit do fim.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Credencial em 30 segundos, não currículo. A frase do painel escuro é a tese da palestra inteira: script / IA / pessoa. Ela volta no slide 8. ~1 min.
A FOTO ENTRA À MÃO: selecione o quadrado lavanda e substitua por Imagem. Ou salve em assets/bruno.jpg e rode node make_pptx.js.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cartas têm a mesma anatomia de propósito: a plateia compara direto o desfecho, 'uma solução' contra 'o processo'. Não é que a pergunta 1 seja proibida — ela pergunta sobre o futuro que a pessoa imagina, e a 2 pergunta sobre o presente que ela executa.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artefato do slide. Leia as sete rápido e pare na 2 e na 3 — são as duas em rosa. Diga que este slide está no kit, então ninguém precisa anotar.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Ensine a notação inteira aqui — são só quatro formas. A regra 2 (losango sem regra escrita) é a que mais gera pergunta; guarde um exemplo na manga.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Aponte cada fala e a caixa que ela virou. O ponto alto é a quinta: losango + regra de graça. Diga que nada aqui é sobre IA ainda.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Distinção central da palestra. Pergunte quem já usa IA no dia a dia (muitas mãos) e quem tem IA rodando sem supervisão em produção (poucas). A diferença entre as duas mãos é este slide.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slide que a plateia fotografa. As três frases entre aspas são o gancho: elas vêm da entrevista do slide 4, então o método fecha aqui. Termine lendo a ordem de perguntar.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alto da primeira metade: a arquitetura apareceu sem ninguém escrever documento. Fale o placar em voz alta — 3 de 6 caixas viraram Python.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Título é a frase inteira: a IA decide quando tem certeza e passa adiante quando não tem. Passe o código devagar. O campo faltou_contexto é o detalhe que ninguém espera.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consulta — não leia linha por linha. Fale as duas rosas (orquestração e eval) e as três confusões do rodapé. Se precisar cortar tempo, este é o slide que encurta.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método, não um case fechado — e é de propósito: o que dá para levar embora é a ordem. Pare na fase 3 e diga que o determinístico vem antes da IA porque é assim que sobra menos IA para escrever, testar e pagar. A fase 4 é a que mais gente pula: apresentar e pegar feedback.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último slide antes do fecho. Diga que a skill é o método da palestra empacotado, e que o que ela NÃO faz é o mais importante: ela não chuta. Mostre o print e prometa o link.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Fecho. As três frases são o resumo da palestra inteira — leia devagar. O desafio de uma hora é o call to action: não é 'automatize um processo', é 'faça uma entrevista'.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005840"/>
            <a:ext cx="3108960" cy="3108960"/>
          </a:xfrm>
          <a:prstGeom prst="roundRect">
            <a:avLst>
              <a:gd name="adj" fmla="val 8824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206240"/>
            <a:ext cx="2377440" cy="2377440"/>
          </a:xfrm>
          <a:prstGeom prst="roundRect">
            <a:avLst>
              <a:gd name="adj" fmla="val 11538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2834640"/>
            <a:ext cx="457200" cy="457200"/>
          </a:xfrm>
          <a:prstGeom prst="ellipse">
            <a:avLst/>
          </a:prstGeom>
          <a:solidFill>
            <a:srgbClr val="FF8F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463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SERASA EXPERIAN · TECNOLOGIA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1810512"/>
            <a:ext cx="9052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300"/>
              </a:lnSpc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</a:t>
            </a:r>
            <a:endParaRPr lang="en-US" sz="42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com </a:t>
            </a:r>
            <a:endParaRPr lang="en-US" sz="42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4200" b="1" spc="-126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58368" y="38404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E7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IA ajuda — e onde um script resolve melhor.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5623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Prata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Palestra técnica · 25 minutos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ESTÁ FALANDO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160020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4F0F9"/>
          </a:solidFill>
          <a:ln w="12700">
            <a:solidFill>
              <a:srgbClr val="EAE3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1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813048" y="1536192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-120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Prata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3813048" y="2286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-17" kern="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Especialista em Dados no </a:t>
            </a:r>
            <a:pPr indent="0" marL="0">
              <a:buNone/>
            </a:pPr>
            <a:r>
              <a:rPr lang="en-US" sz="1700" b="1" spc="-1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Nubank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813048" y="2871216"/>
            <a:ext cx="169164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 Boticário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32704" y="2871216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iFood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629400" y="2871216"/>
            <a:ext cx="100584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EBANX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63256" y="2871216"/>
            <a:ext cx="105156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Nubank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813048" y="34015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Administração — UFPR  ·  6+ anos entre análise de dados, BI e decisão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813048" y="3950208"/>
            <a:ext cx="7720279" cy="1417320"/>
          </a:xfrm>
          <a:prstGeom prst="roundRect">
            <a:avLst>
              <a:gd name="adj" fmla="val 8387"/>
            </a:avLst>
          </a:prstGeom>
          <a:solidFill>
            <a:srgbClr val="4E0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87368" y="411480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EU FAÇO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087368" y="4370832"/>
            <a:ext cx="71716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últimos anos foram automatizando processo de decisão: entender como ele acontece hoje e devolver a parte repetitiva pra máquina —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 quando dá, IA quando é linguagem, pessoa quando o erro custa caro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ONDE A CONVERSA COMEÇA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23444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4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perguntas para o </a:t>
            </a:r>
            <a:pPr indent="0" marL="0">
              <a:buNone/>
            </a:pPr>
            <a:r>
              <a:rPr lang="en-US" sz="2900" b="1" spc="-64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processo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58368" y="1965960"/>
            <a:ext cx="5254600" cy="3108960"/>
          </a:xfrm>
          <a:prstGeom prst="roundRect">
            <a:avLst>
              <a:gd name="adj" fmla="val 3235"/>
            </a:avLst>
          </a:prstGeom>
          <a:solidFill>
            <a:srgbClr val="5C2470"/>
          </a:solidFill>
          <a:ln w="12700">
            <a:solidFill>
              <a:srgbClr val="8E6F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0976" y="2203704"/>
            <a:ext cx="4669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B79A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 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50976" y="2496312"/>
            <a:ext cx="46693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vocês querem automatizar?”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50976" y="3410712"/>
            <a:ext cx="4669384" cy="10973"/>
          </a:xfrm>
          <a:prstGeom prst="rect">
            <a:avLst/>
          </a:prstGeom>
          <a:solidFill>
            <a:srgbClr val="8E6F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0976" y="3557016"/>
            <a:ext cx="4669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10" kern="0" dirty="0">
                <a:solidFill>
                  <a:srgbClr val="9B8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RESPOSTA QUE VEM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950976" y="3758184"/>
            <a:ext cx="466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DCC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“Queria um bot que respondesse os chamados.”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50976" y="4361688"/>
            <a:ext cx="4669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10" kern="0" dirty="0">
                <a:solidFill>
                  <a:srgbClr val="9B8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VOCÊ RECEBE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50976" y="4562856"/>
            <a:ext cx="4669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spc="-53" kern="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solução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6278728" y="1965960"/>
            <a:ext cx="5254600" cy="3108960"/>
          </a:xfrm>
          <a:prstGeom prst="roundRect">
            <a:avLst>
              <a:gd name="adj" fmla="val 3235"/>
            </a:avLst>
          </a:prstGeom>
          <a:solidFill>
            <a:srgbClr val="6A1350"/>
          </a:solidFill>
          <a:ln w="12700">
            <a:solidFill>
              <a:srgbClr val="FF8F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71336" y="2203704"/>
            <a:ext cx="4669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 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71336" y="2496312"/>
            <a:ext cx="46693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“Como você faz esse processo hoje?”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571336" y="3410712"/>
            <a:ext cx="4669384" cy="10973"/>
          </a:xfrm>
          <a:prstGeom prst="rect">
            <a:avLst/>
          </a:prstGeom>
          <a:solidFill>
            <a:srgbClr val="C26A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71336" y="3557016"/>
            <a:ext cx="4669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10" kern="0" dirty="0">
                <a:solidFill>
                  <a:srgbClr val="C98B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RESPOSTA QUE VEM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571336" y="3758184"/>
            <a:ext cx="466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DCC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“Chega um e-mail, aí eu jogo no sistema, copio nome e CPF…”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571336" y="4361688"/>
            <a:ext cx="4669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10" kern="0" dirty="0">
                <a:solidFill>
                  <a:srgbClr val="C98B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VOCÊ RECEBE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571336" y="4562856"/>
            <a:ext cx="4669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spc="-53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processo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58368" y="5257800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segunda não é mais esperta — ela só pergunta sobre o </a:t>
            </a:r>
            <a:pPr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</a:t>
            </a:r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 primeira pede um palpite sobre o que deveria mudar; a segunda pede a descrição do que já acontece, e isso qualquer pessoa dá com precisão.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8368" y="587044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DE HOJE  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conversar → desenhar → decidir quem faz cada caixa → ferramentas → um caso →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kit pra baixar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 · A CONVERSA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perguntas que arrancam o processo </a:t>
            </a:r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inteiro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58368" y="1874520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202082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59536" y="2276856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“Como você faz esse processo hoje? Me conta na ordem.”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59536" y="3081528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9536" y="3191256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etapas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reais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não a versão oficial do gestor.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22828" y="1874520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23996" y="202082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23996" y="2276856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te faz parar e perguntar pra alguém?”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23996" y="3081528"/>
            <a:ext cx="2179244" cy="10973"/>
          </a:xfrm>
          <a:prstGeom prst="rect">
            <a:avLst/>
          </a:prstGeom>
          <a:solidFill>
            <a:srgbClr val="F5C7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23996" y="3191256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resposta é um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losango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 vem com a regra junto.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87288" y="1874520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8456" y="202082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388456" y="2276856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você copia de um lugar pro outro?”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388456" y="3081528"/>
            <a:ext cx="2179244" cy="10973"/>
          </a:xfrm>
          <a:prstGeom prst="rect">
            <a:avLst/>
          </a:prstGeom>
          <a:solidFill>
            <a:srgbClr val="F5C7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8456" y="3191256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Digitação pura.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primeira caixa que vira script.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951747" y="1874520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52915" y="202082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52915" y="2276856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“Quando isso dá errado, como você descobre?”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152915" y="3081528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52915" y="3191256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resposta aqui,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automatize ainda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58368" y="3995928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9536" y="4142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59536" y="4398264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“Qual é o caso chato que sempre aparece?”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59536" y="5202936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9536" y="5312664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exceções. Viram os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de teste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depois.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22828" y="3995928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23996" y="4142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623996" y="4398264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“Quantas vezes você faz isso por dia?”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23996" y="5202936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23996" y="5312664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Frequência.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rara não paga automação.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87288" y="3995928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88456" y="4142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388456" y="4398264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“Se você errar aqui, o que acontece?”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388456" y="5202936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88456" y="5312664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do erro. Decide se a etapa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rodar sozinha.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951747" y="3995928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4F0F9"/>
          </a:solidFill>
          <a:ln w="12700">
            <a:solidFill>
              <a:srgbClr val="EAE3F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52915" y="4379976"/>
            <a:ext cx="21792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9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DUAS FAZEM 70% DO TRABALHO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9152915" y="4654296"/>
            <a:ext cx="21792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 entrega os losangos; a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as caixas que viram script. Grave a conversa e desenhe em cima da transcrição — não da memória.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Conversar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O DESENHO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formas e três regras. </a:t>
            </a:r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precisa de BPMN.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58368" y="1874520"/>
            <a:ext cx="292608" cy="2926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97280" y="1847088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caixa = uma ação.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 o nome da caixa tem “e”, são duas caixas. “Registrar e classificar” esconde exatamente a etapa que você ia automatizar.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752344"/>
            <a:ext cx="292608" cy="2926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7523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2724912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losango tem a regra escrita embaixo.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Losango sem regra é decisão que ninguém revisou — e é onde a automação quebra três meses depois.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630168"/>
            <a:ext cx="292608" cy="2926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6301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097280" y="3602736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Rotule as duas saídas.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Seta sem rótulo esconde o caminho que ninguém tratou. Na dúvida entre ação e decisão, é decisão.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617720"/>
            <a:ext cx="5486400" cy="1024128"/>
          </a:xfrm>
          <a:prstGeom prst="roundRect">
            <a:avLst>
              <a:gd name="adj" fmla="val 8036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617720"/>
            <a:ext cx="45720" cy="1024128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7824" y="47091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O QUE DESENHAR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77824" y="493776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Papel, na frente da pessoa, na hora. Depois passe pro 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Miro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todo mundo já tem, dá pra editar junto na chamada, e o quadro vira o documento do processo em vez de virar mais um anexo.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856694" y="15179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NOTAÇÃO INTEIRA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999340" y="1971446"/>
            <a:ext cx="1528354" cy="529829"/>
          </a:xfrm>
          <a:prstGeom prst="roundRect">
            <a:avLst>
              <a:gd name="adj" fmla="val 86292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5"/>
              </a:lnSpc>
              <a:buNone/>
            </a:pPr>
            <a:r>
              <a:rPr lang="en-US" sz="1444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 / fim</a:t>
            </a:r>
            <a:endParaRPr lang="en-US" sz="1444" dirty="0"/>
          </a:p>
        </p:txBody>
      </p:sp>
      <p:sp>
        <p:nvSpPr>
          <p:cNvPr id="20" name="Text 18"/>
          <p:cNvSpPr/>
          <p:nvPr/>
        </p:nvSpPr>
        <p:spPr>
          <a:xfrm>
            <a:off x="8731475" y="2124282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processo começa e termina</a:t>
            </a:r>
            <a:endParaRPr lang="en-US" sz="1284" dirty="0"/>
          </a:p>
        </p:txBody>
      </p:sp>
      <p:sp>
        <p:nvSpPr>
          <p:cNvPr id="21" name="Text 19"/>
          <p:cNvSpPr/>
          <p:nvPr/>
        </p:nvSpPr>
        <p:spPr>
          <a:xfrm>
            <a:off x="6999340" y="2827325"/>
            <a:ext cx="1528354" cy="529829"/>
          </a:xfrm>
          <a:prstGeom prst="roundRect">
            <a:avLst>
              <a:gd name="adj" fmla="val 15533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5"/>
              </a:lnSpc>
              <a:buNone/>
            </a:pPr>
            <a:r>
              <a:rPr lang="en-US" sz="1524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ação</a:t>
            </a:r>
            <a:endParaRPr lang="en-US" sz="1524" dirty="0"/>
          </a:p>
        </p:txBody>
      </p:sp>
      <p:sp>
        <p:nvSpPr>
          <p:cNvPr id="22" name="Text 20"/>
          <p:cNvSpPr/>
          <p:nvPr/>
        </p:nvSpPr>
        <p:spPr>
          <a:xfrm>
            <a:off x="8731475" y="2898648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caixa = uma ação.</a:t>
            </a:r>
            <a:endParaRPr lang="en-US" sz="1284" dirty="0"/>
          </a:p>
        </p:txBody>
      </p:sp>
      <p:sp>
        <p:nvSpPr>
          <p:cNvPr id="23" name="Text 21"/>
          <p:cNvSpPr/>
          <p:nvPr/>
        </p:nvSpPr>
        <p:spPr>
          <a:xfrm>
            <a:off x="8731475" y="3122807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tem “e” no nome, são duas.</a:t>
            </a:r>
            <a:endParaRPr lang="en-US" sz="1284" dirty="0"/>
          </a:p>
        </p:txBody>
      </p:sp>
      <p:sp>
        <p:nvSpPr>
          <p:cNvPr id="24" name="Text 22"/>
          <p:cNvSpPr/>
          <p:nvPr/>
        </p:nvSpPr>
        <p:spPr>
          <a:xfrm>
            <a:off x="6999340" y="3683203"/>
            <a:ext cx="1528354" cy="69285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5"/>
              </a:lnSpc>
              <a:buNone/>
            </a:pPr>
            <a:r>
              <a:rPr lang="en-US" sz="1524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</a:t>
            </a:r>
            <a:endParaRPr lang="en-US" sz="1524" dirty="0"/>
          </a:p>
        </p:txBody>
      </p:sp>
      <p:sp>
        <p:nvSpPr>
          <p:cNvPr id="25" name="Text 23"/>
          <p:cNvSpPr/>
          <p:nvPr/>
        </p:nvSpPr>
        <p:spPr>
          <a:xfrm>
            <a:off x="8731475" y="3815661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losango tem que ter</a:t>
            </a:r>
            <a:endParaRPr lang="en-US" sz="1284" dirty="0"/>
          </a:p>
        </p:txBody>
      </p:sp>
      <p:sp>
        <p:nvSpPr>
          <p:cNvPr id="26" name="Text 24"/>
          <p:cNvSpPr/>
          <p:nvPr/>
        </p:nvSpPr>
        <p:spPr>
          <a:xfrm>
            <a:off x="8731475" y="4039819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regra escrita embaixo</a:t>
            </a:r>
            <a:endParaRPr lang="en-US" sz="1284" dirty="0"/>
          </a:p>
        </p:txBody>
      </p:sp>
      <p:sp>
        <p:nvSpPr>
          <p:cNvPr id="27" name="Shape 25"/>
          <p:cNvSpPr/>
          <p:nvPr/>
        </p:nvSpPr>
        <p:spPr>
          <a:xfrm>
            <a:off x="6999340" y="4885509"/>
            <a:ext cx="1385708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264255" y="4610405"/>
            <a:ext cx="407561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4"/>
              </a:lnSpc>
              <a:buNone/>
            </a:pPr>
            <a:r>
              <a:rPr lang="en-US" sz="1203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1203" dirty="0"/>
          </a:p>
        </p:txBody>
      </p:sp>
      <p:sp>
        <p:nvSpPr>
          <p:cNvPr id="29" name="Text 27"/>
          <p:cNvSpPr/>
          <p:nvPr/>
        </p:nvSpPr>
        <p:spPr>
          <a:xfrm>
            <a:off x="8731475" y="4671539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seta condicional —</a:t>
            </a:r>
            <a:endParaRPr lang="en-US" sz="1284" dirty="0"/>
          </a:p>
        </p:txBody>
      </p:sp>
      <p:sp>
        <p:nvSpPr>
          <p:cNvPr id="30" name="Text 28"/>
          <p:cNvSpPr/>
          <p:nvPr/>
        </p:nvSpPr>
        <p:spPr>
          <a:xfrm>
            <a:off x="8731475" y="4895698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rotule sempre as duas saídas</a:t>
            </a:r>
            <a:endParaRPr lang="en-US" sz="1284" dirty="0"/>
          </a:p>
        </p:txBody>
      </p:sp>
      <p:sp>
        <p:nvSpPr>
          <p:cNvPr id="31" name="Text 29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Desenhar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NA PRÁTICA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fala ao desenho: </a:t>
            </a:r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frases viram um fluxo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78308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83794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“Chega um e-mail, ou o cliente abre pelo formulário.”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9536" y="222199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início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251460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1460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256946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“Aí eu jogo no sistema: copio nome, CPF e o texto do chamado.”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9536" y="295351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ação · registrar chamado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58368" y="324612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324612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9536" y="330098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“Leio e vejo do que se trata — cobrança, fraude, cadastro.”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9536" y="368503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ação · classificar assunto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58368" y="397764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397764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403250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“Escrevo a resposta. Geralmente é parecida com outras que já mandei.”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59536" y="441655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ação · redigir resposta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58368" y="470916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EF6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4709160"/>
            <a:ext cx="41148" cy="676656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9536" y="476402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“Se for desconto acima de 10%, eu paro e mando pro meu gestor.”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9536" y="514807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losango + a regra, na mesma frase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279767" y="1774393"/>
            <a:ext cx="1419606" cy="308610"/>
          </a:xfrm>
          <a:prstGeom prst="roundRect">
            <a:avLst>
              <a:gd name="adj" fmla="val 148148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93"/>
              </a:lnSpc>
              <a:buNone/>
            </a:pPr>
            <a:r>
              <a:rPr lang="en-US" sz="875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Chamado chega</a:t>
            </a:r>
            <a:endParaRPr lang="en-US" sz="875" dirty="0"/>
          </a:p>
        </p:txBody>
      </p:sp>
      <p:sp>
        <p:nvSpPr>
          <p:cNvPr id="26" name="Text 24"/>
          <p:cNvSpPr/>
          <p:nvPr/>
        </p:nvSpPr>
        <p:spPr>
          <a:xfrm>
            <a:off x="7279767" y="2280514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chamado</a:t>
            </a:r>
            <a:endParaRPr lang="en-US" sz="923" dirty="0"/>
          </a:p>
        </p:txBody>
      </p:sp>
      <p:sp>
        <p:nvSpPr>
          <p:cNvPr id="27" name="Text 25"/>
          <p:cNvSpPr/>
          <p:nvPr/>
        </p:nvSpPr>
        <p:spPr>
          <a:xfrm>
            <a:off x="7279767" y="2798978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 assunto</a:t>
            </a:r>
            <a:endParaRPr lang="en-US" sz="923" dirty="0"/>
          </a:p>
        </p:txBody>
      </p:sp>
      <p:sp>
        <p:nvSpPr>
          <p:cNvPr id="28" name="Text 26"/>
          <p:cNvSpPr/>
          <p:nvPr/>
        </p:nvSpPr>
        <p:spPr>
          <a:xfrm>
            <a:off x="7279767" y="3317443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Redigir resposta</a:t>
            </a:r>
            <a:endParaRPr lang="en-US" sz="923" dirty="0"/>
          </a:p>
        </p:txBody>
      </p:sp>
      <p:sp>
        <p:nvSpPr>
          <p:cNvPr id="29" name="Text 27"/>
          <p:cNvSpPr/>
          <p:nvPr/>
        </p:nvSpPr>
        <p:spPr>
          <a:xfrm>
            <a:off x="7279767" y="3860597"/>
            <a:ext cx="1419606" cy="592531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33"/>
              </a:lnSpc>
              <a:buNone/>
            </a:pPr>
            <a:r>
              <a:rPr lang="en-US" sz="82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</a:t>
            </a:r>
            <a:endParaRPr lang="en-US" sz="826" dirty="0"/>
          </a:p>
          <a:p>
            <a:pPr algn="ctr" indent="0" marL="0">
              <a:lnSpc>
                <a:spcPts val="1033"/>
              </a:lnSpc>
              <a:buNone/>
            </a:pPr>
            <a:r>
              <a:rPr lang="en-US" sz="82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acima de 10%?</a:t>
            </a:r>
            <a:endParaRPr lang="en-US" sz="826" dirty="0"/>
          </a:p>
        </p:txBody>
      </p:sp>
      <p:sp>
        <p:nvSpPr>
          <p:cNvPr id="30" name="Text 28"/>
          <p:cNvSpPr/>
          <p:nvPr/>
        </p:nvSpPr>
        <p:spPr>
          <a:xfrm>
            <a:off x="9007983" y="3996385"/>
            <a:ext cx="1296162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aprova</a:t>
            </a:r>
            <a:endParaRPr lang="en-US" sz="923" dirty="0"/>
          </a:p>
        </p:txBody>
      </p:sp>
      <p:sp>
        <p:nvSpPr>
          <p:cNvPr id="31" name="Text 29"/>
          <p:cNvSpPr/>
          <p:nvPr/>
        </p:nvSpPr>
        <p:spPr>
          <a:xfrm>
            <a:off x="7279767" y="4662983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resposta</a:t>
            </a:r>
            <a:endParaRPr lang="en-US" sz="923" dirty="0"/>
          </a:p>
        </p:txBody>
      </p:sp>
      <p:sp>
        <p:nvSpPr>
          <p:cNvPr id="32" name="Text 30"/>
          <p:cNvSpPr/>
          <p:nvPr/>
        </p:nvSpPr>
        <p:spPr>
          <a:xfrm>
            <a:off x="9810369" y="4662983"/>
            <a:ext cx="617220" cy="320954"/>
          </a:xfrm>
          <a:prstGeom prst="roundRect">
            <a:avLst>
              <a:gd name="adj" fmla="val 142450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93"/>
              </a:lnSpc>
              <a:buNone/>
            </a:pPr>
            <a:r>
              <a:rPr lang="en-US" sz="875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</a:t>
            </a:r>
            <a:endParaRPr lang="en-US" sz="875" dirty="0"/>
          </a:p>
        </p:txBody>
      </p:sp>
      <p:sp>
        <p:nvSpPr>
          <p:cNvPr id="33" name="Shape 31"/>
          <p:cNvSpPr/>
          <p:nvPr/>
        </p:nvSpPr>
        <p:spPr>
          <a:xfrm>
            <a:off x="7989570" y="2083003"/>
            <a:ext cx="0" cy="16047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989570" y="2601468"/>
            <a:ext cx="0" cy="16047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7989570" y="3119933"/>
            <a:ext cx="0" cy="16047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989570" y="3638398"/>
            <a:ext cx="0" cy="185166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8699373" y="4156862"/>
            <a:ext cx="271577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7989570" y="4453128"/>
            <a:ext cx="0" cy="172822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9656064" y="4317340"/>
            <a:ext cx="0" cy="19751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H="1">
            <a:off x="8390763" y="4514850"/>
            <a:ext cx="1265301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90763" y="4514850"/>
            <a:ext cx="0" cy="11110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8699373" y="4823460"/>
            <a:ext cx="1073963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8748751" y="3990213"/>
            <a:ext cx="246888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948"/>
              </a:lnSpc>
              <a:buNone/>
            </a:pPr>
            <a:r>
              <a:rPr lang="en-US" sz="729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729" dirty="0"/>
          </a:p>
        </p:txBody>
      </p:sp>
      <p:sp>
        <p:nvSpPr>
          <p:cNvPr id="44" name="Text 42"/>
          <p:cNvSpPr/>
          <p:nvPr/>
        </p:nvSpPr>
        <p:spPr>
          <a:xfrm>
            <a:off x="8057464" y="4471645"/>
            <a:ext cx="246888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948"/>
              </a:lnSpc>
              <a:buNone/>
            </a:pPr>
            <a:r>
              <a:rPr lang="en-US" sz="729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729" dirty="0"/>
          </a:p>
        </p:txBody>
      </p:sp>
      <p:sp>
        <p:nvSpPr>
          <p:cNvPr id="45" name="Text 43"/>
          <p:cNvSpPr/>
          <p:nvPr/>
        </p:nvSpPr>
        <p:spPr>
          <a:xfrm>
            <a:off x="7279767" y="5107381"/>
            <a:ext cx="2036826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11"/>
              </a:lnSpc>
              <a:buNone/>
            </a:pPr>
            <a:r>
              <a:rPr lang="en-US" sz="778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DO LOSANGO, ESCRITA:</a:t>
            </a:r>
            <a:endParaRPr lang="en-US" sz="778" dirty="0"/>
          </a:p>
        </p:txBody>
      </p:sp>
      <p:sp>
        <p:nvSpPr>
          <p:cNvPr id="46" name="Text 44"/>
          <p:cNvSpPr/>
          <p:nvPr/>
        </p:nvSpPr>
        <p:spPr>
          <a:xfrm>
            <a:off x="7279767" y="5255514"/>
            <a:ext cx="2345436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74"/>
              </a:lnSpc>
              <a:buNone/>
            </a:pPr>
            <a:r>
              <a:rPr lang="en-US" sz="826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&gt; 10% ou exceção contratual</a:t>
            </a:r>
            <a:endParaRPr lang="en-US" sz="826" dirty="0"/>
          </a:p>
        </p:txBody>
      </p:sp>
      <p:sp>
        <p:nvSpPr>
          <p:cNvPr id="47" name="Shape 45"/>
          <p:cNvSpPr/>
          <p:nvPr/>
        </p:nvSpPr>
        <p:spPr>
          <a:xfrm>
            <a:off x="658368" y="5614416"/>
            <a:ext cx="10874959" cy="530352"/>
          </a:xfrm>
          <a:prstGeom prst="roundRect">
            <a:avLst>
              <a:gd name="adj" fmla="val 17241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58368" y="5614416"/>
            <a:ext cx="45720" cy="530352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4400" y="57424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quinta frase entregou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losango e a regra na mesma respiração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 repare: até aqui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foi dito sobre IA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Desenhar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ONDE A IA ENTRA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escolher modelo: você quer a IA como </a:t>
            </a:r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</a:t>
            </a:r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 como </a:t>
            </a:r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solução</a:t>
            </a:r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920240"/>
            <a:ext cx="525460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2139696"/>
            <a:ext cx="466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15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como ferramenta — um copiloto seu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50976" y="2523744"/>
            <a:ext cx="466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está no meio.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Cada uso é uma decisão sua, e você vê a saída antes de qualquer coisa acontecer.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50976" y="3145536"/>
            <a:ext cx="4669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Escrever o script · entender uma base nova · gerar o SQL · revisar um texto · virar 40 páginas de PDF em resumo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50976" y="4114800"/>
            <a:ext cx="4669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precisa de eval, log nem dono.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Precisa de você prestando atenção. Começa hoje, sem projeto e sem aprovação.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8728" y="1920240"/>
            <a:ext cx="5254600" cy="3200400"/>
          </a:xfrm>
          <a:prstGeom prst="roundRect">
            <a:avLst>
              <a:gd name="adj" fmla="val 2857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71336" y="2139696"/>
            <a:ext cx="466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15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como solução — dentro do processo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71336" y="2523744"/>
            <a:ext cx="466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Roda sem você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 vezes por dia, e o resultado vai direto pro cliente ou pro sistema seguinte.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71336" y="3145536"/>
            <a:ext cx="4669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Classificar todo chamado que entra · extrair campo de documento · redigir a primeira versão da resposta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571336" y="4114800"/>
            <a:ext cx="4669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 de tudo que um sistema precisa: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saída com schema, limiar de confiança, log por execução, dono com nome e um conjunto de casos de teste.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8368" y="5285232"/>
            <a:ext cx="10874959" cy="859536"/>
          </a:xfrm>
          <a:prstGeom prst="roundRect">
            <a:avLst>
              <a:gd name="adj" fmla="val 10638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285232"/>
            <a:ext cx="45720" cy="859536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37667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CONFUSÃO QUE MATA PROJETO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4400" y="5596128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Quase todo piloto que morre no terceiro mês é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solução tratada como se fosse ferramenta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funcionou lindo no chat de quem construiu, e ninguém desenhou o que acontece quando erra às 3 da manhã sem ninguém olhando.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demo é ferramenta. Produção é solução.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A CLASSIFICAÇÃO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caixa do fluxo vira uma de </a:t>
            </a:r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828800"/>
            <a:ext cx="3442106" cy="3246120"/>
          </a:xfrm>
          <a:prstGeom prst="roundRect">
            <a:avLst>
              <a:gd name="adj" fmla="val 2817"/>
            </a:avLst>
          </a:prstGeom>
          <a:solidFill>
            <a:srgbClr val="D6E6F8"/>
          </a:solidFill>
          <a:ln w="12700">
            <a:solidFill>
              <a:srgbClr val="1D4F9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29968"/>
            <a:ext cx="29300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14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tradicional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14400" y="2414016"/>
            <a:ext cx="557784" cy="237744"/>
          </a:xfrm>
          <a:prstGeom prst="roundRect">
            <a:avLst>
              <a:gd name="adj" fmla="val 15385"/>
            </a:avLst>
          </a:prstGeom>
          <a:solidFill>
            <a:srgbClr val="BFD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545336" y="2414016"/>
            <a:ext cx="352044" cy="237744"/>
          </a:xfrm>
          <a:prstGeom prst="roundRect">
            <a:avLst>
              <a:gd name="adj" fmla="val 15385"/>
            </a:avLst>
          </a:prstGeom>
          <a:solidFill>
            <a:srgbClr val="BFD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970532" y="2414016"/>
            <a:ext cx="352044" cy="237744"/>
          </a:xfrm>
          <a:prstGeom prst="roundRect">
            <a:avLst>
              <a:gd name="adj" fmla="val 15385"/>
            </a:avLst>
          </a:prstGeom>
          <a:solidFill>
            <a:srgbClr val="BFD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395728" y="2414016"/>
            <a:ext cx="489204" cy="237744"/>
          </a:xfrm>
          <a:prstGeom prst="roundRect">
            <a:avLst>
              <a:gd name="adj" fmla="val 15385"/>
            </a:avLst>
          </a:prstGeom>
          <a:solidFill>
            <a:srgbClr val="BFD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regex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958084" y="2414016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BFD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798064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914400" y="2980944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é fixa, a entrada é estruturada e a saída é sempre a mesma.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3511296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APARECE NA ENTREVISTA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14400" y="3694176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“eu copio daqui pra lá” · “rodo esse relatório toda segunda”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14400" y="4224528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QUE NÃO IA AQUI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14400" y="4407408"/>
            <a:ext cx="29300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barato, determinístico e testável.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if você testa uma vez e confia pra sempre.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74794" y="1828800"/>
            <a:ext cx="3442106" cy="3246120"/>
          </a:xfrm>
          <a:prstGeom prst="roundRect">
            <a:avLst>
              <a:gd name="adj" fmla="val 2817"/>
            </a:avLst>
          </a:prstGeom>
          <a:solidFill>
            <a:srgbClr val="FDEDF6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30826" y="2029968"/>
            <a:ext cx="29300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1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630826" y="2414016"/>
            <a:ext cx="969264" cy="237744"/>
          </a:xfrm>
          <a:prstGeom prst="roundRect">
            <a:avLst>
              <a:gd name="adj" fmla="val 15385"/>
            </a:avLst>
          </a:prstGeom>
          <a:solidFill>
            <a:srgbClr val="F8D3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+ schema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73242" y="2414016"/>
            <a:ext cx="557784" cy="237744"/>
          </a:xfrm>
          <a:prstGeom prst="roundRect">
            <a:avLst>
              <a:gd name="adj" fmla="val 15385"/>
            </a:avLst>
          </a:prstGeom>
          <a:solidFill>
            <a:srgbClr val="F8D3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limiar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304178" y="2414016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F8D3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630826" y="2798064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630826" y="2980944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entrada é linguagem, a regra é ambígua, e verificar custa menos que fazer.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30826" y="3511296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APARECE NA ENTREVISTA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630826" y="3694176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“depende do que tá escrito” · “eu leio e decido na hora”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630826" y="4224528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PREÇO QUE VEM JUNTO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630826" y="4407408"/>
            <a:ext cx="29300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determinística. Sem casos de teste, limiar e um caminho de “não sei”, você trocou trabalho por risco.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91221" y="1828800"/>
            <a:ext cx="3442106" cy="3246120"/>
          </a:xfrm>
          <a:prstGeom prst="roundRect">
            <a:avLst>
              <a:gd name="adj" fmla="val 2817"/>
            </a:avLst>
          </a:prstGeom>
          <a:solidFill>
            <a:srgbClr val="F9E8CD"/>
          </a:solidFill>
          <a:ln w="12700">
            <a:solidFill>
              <a:srgbClr val="B462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47253" y="2029968"/>
            <a:ext cx="29300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14" kern="0" dirty="0">
                <a:solidFill>
                  <a:srgbClr val="B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8347253" y="2414016"/>
            <a:ext cx="832104" cy="237744"/>
          </a:xfrm>
          <a:prstGeom prst="roundRect">
            <a:avLst>
              <a:gd name="adj" fmla="val 15385"/>
            </a:avLst>
          </a:prstGeom>
          <a:solidFill>
            <a:srgbClr val="EDD1A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462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julgamento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347253" y="2798064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462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347253" y="2980944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erro é caro e irreversível — ou a regra ainda nem existe.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347253" y="3511296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462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APARECE NA ENTREVISTA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347253" y="3694176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“isso aí eu levo pro meu gestor” · “cada caso é um caso”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347253" y="4224528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462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BOA NOTÍCIA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347253" y="4407408"/>
            <a:ext cx="29300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Costuma ser pouco volume.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Manter gente ali é barato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 é o que te deixa automatizar o resto sem medo.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58368" y="5321808"/>
            <a:ext cx="10874959" cy="868680"/>
          </a:xfrm>
          <a:prstGeom prst="roundRect">
            <a:avLst>
              <a:gd name="adj" fmla="val 10526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58368" y="5321808"/>
            <a:ext cx="45720" cy="868680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550468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spc="9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ORDEM DE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b="1" spc="9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PERGUNTAR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2194560" y="5559552"/>
            <a:ext cx="237744" cy="237744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194560" y="5559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523744" y="552297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 pra fazer com um if?
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dá, faça com if.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709160" y="5559552"/>
            <a:ext cx="237744" cy="237744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09160" y="5559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038344" y="552297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erro é caro e irreversível?
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é, a pessoa decide.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7223760" y="5559552"/>
            <a:ext cx="237744" cy="237744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23760" y="5559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552944" y="552297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dos dois?
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com revisão por amostragem.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9601200" y="5486400"/>
            <a:ext cx="10973" cy="548640"/>
          </a:xfrm>
          <a:prstGeom prst="rect">
            <a:avLst/>
          </a:prstGeom>
          <a:solidFill>
            <a:srgbClr val="E7C9D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802368" y="55229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IA é a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terceira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pergunta,</a:t>
            </a:r>
            <a:endParaRPr lang="en-US" sz="105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a primeira.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O ENTREGÁVEL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spc="-5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fluxo, pintado — e pronto: </a:t>
            </a:r>
            <a:pPr indent="0" marL="0">
              <a:lnSpc>
                <a:spcPts val="3000"/>
              </a:lnSpc>
              <a:buNone/>
            </a:pPr>
            <a:r>
              <a:rPr lang="en-US" sz="2600" b="1" spc="-57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 é a arquitetura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46850" y="1917834"/>
            <a:ext cx="1660358" cy="360947"/>
          </a:xfrm>
          <a:prstGeom prst="roundRect">
            <a:avLst>
              <a:gd name="adj" fmla="val 126667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79"/>
              </a:lnSpc>
              <a:buNone/>
            </a:pPr>
            <a:r>
              <a:rPr lang="en-US" sz="1023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Chamado chega</a:t>
            </a:r>
            <a:endParaRPr lang="en-US" sz="1023" dirty="0"/>
          </a:p>
        </p:txBody>
      </p:sp>
      <p:sp>
        <p:nvSpPr>
          <p:cNvPr id="6" name="Text 4"/>
          <p:cNvSpPr/>
          <p:nvPr/>
        </p:nvSpPr>
        <p:spPr>
          <a:xfrm>
            <a:off x="1146850" y="2509787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9CC0EA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chamado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1146850" y="3116179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FDEDF6"/>
          </a:solidFill>
          <a:ln w="15875">
            <a:solidFill>
              <a:srgbClr val="E8007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 assunto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1146850" y="3722571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FDEDF6"/>
          </a:solidFill>
          <a:ln w="15875">
            <a:solidFill>
              <a:srgbClr val="E8007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Redigir resposta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1146850" y="4357838"/>
            <a:ext cx="1660358" cy="693019"/>
          </a:xfrm>
          <a:prstGeom prst="diamond">
            <a:avLst/>
          </a:prstGeom>
          <a:solidFill>
            <a:srgbClr val="9CC0EA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8"/>
              </a:lnSpc>
              <a:buNone/>
            </a:pPr>
            <a:r>
              <a:rPr lang="en-US" sz="96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</a:t>
            </a:r>
            <a:endParaRPr lang="en-US" sz="966" dirty="0"/>
          </a:p>
          <a:p>
            <a:pPr algn="ctr" indent="0" marL="0">
              <a:lnSpc>
                <a:spcPts val="1208"/>
              </a:lnSpc>
              <a:buNone/>
            </a:pPr>
            <a:r>
              <a:rPr lang="en-US" sz="96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acima de 10%?</a:t>
            </a:r>
            <a:endParaRPr lang="en-US" sz="966" dirty="0"/>
          </a:p>
        </p:txBody>
      </p:sp>
      <p:sp>
        <p:nvSpPr>
          <p:cNvPr id="10" name="Text 8"/>
          <p:cNvSpPr/>
          <p:nvPr/>
        </p:nvSpPr>
        <p:spPr>
          <a:xfrm>
            <a:off x="3168155" y="4516655"/>
            <a:ext cx="1515979" cy="375385"/>
          </a:xfrm>
          <a:prstGeom prst="roundRect">
            <a:avLst>
              <a:gd name="adj" fmla="val 21923"/>
            </a:avLst>
          </a:prstGeom>
          <a:solidFill>
            <a:srgbClr val="EFCB8F"/>
          </a:solidFill>
          <a:ln w="15875">
            <a:solidFill>
              <a:srgbClr val="B4620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aprova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1146850" y="5296301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9CC0EA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resposta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4106619" y="5296301"/>
            <a:ext cx="721895" cy="375385"/>
          </a:xfrm>
          <a:prstGeom prst="roundRect">
            <a:avLst>
              <a:gd name="adj" fmla="val 121795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79"/>
              </a:lnSpc>
              <a:buNone/>
            </a:pPr>
            <a:r>
              <a:rPr lang="en-US" sz="1023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</a:t>
            </a:r>
            <a:endParaRPr lang="en-US" sz="1023" dirty="0"/>
          </a:p>
        </p:txBody>
      </p:sp>
      <p:sp>
        <p:nvSpPr>
          <p:cNvPr id="13" name="Shape 11"/>
          <p:cNvSpPr/>
          <p:nvPr/>
        </p:nvSpPr>
        <p:spPr>
          <a:xfrm>
            <a:off x="1977029" y="2278781"/>
            <a:ext cx="0" cy="187693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977029" y="2885173"/>
            <a:ext cx="0" cy="187693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977029" y="3491564"/>
            <a:ext cx="0" cy="187693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977029" y="4097956"/>
            <a:ext cx="0" cy="216568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807208" y="4704347"/>
            <a:ext cx="317634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977029" y="5050857"/>
            <a:ext cx="0" cy="202131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926145" y="4892040"/>
            <a:ext cx="0" cy="27432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2446261" y="5166360"/>
            <a:ext cx="1479884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46261" y="5166360"/>
            <a:ext cx="0" cy="8662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807208" y="5483994"/>
            <a:ext cx="1256097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2864960" y="4509436"/>
            <a:ext cx="288758" cy="158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8"/>
              </a:lnSpc>
              <a:buNone/>
            </a:pPr>
            <a:r>
              <a:rPr lang="en-US" sz="853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853" dirty="0"/>
          </a:p>
        </p:txBody>
      </p:sp>
      <p:sp>
        <p:nvSpPr>
          <p:cNvPr id="24" name="Text 22"/>
          <p:cNvSpPr/>
          <p:nvPr/>
        </p:nvSpPr>
        <p:spPr>
          <a:xfrm>
            <a:off x="2056437" y="5072514"/>
            <a:ext cx="288758" cy="158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8"/>
              </a:lnSpc>
              <a:buNone/>
            </a:pPr>
            <a:r>
              <a:rPr lang="en-US" sz="853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853" dirty="0"/>
          </a:p>
        </p:txBody>
      </p:sp>
      <p:sp>
        <p:nvSpPr>
          <p:cNvPr id="25" name="Text 23"/>
          <p:cNvSpPr/>
          <p:nvPr/>
        </p:nvSpPr>
        <p:spPr>
          <a:xfrm>
            <a:off x="2893835" y="2596415"/>
            <a:ext cx="1371600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· API do sistema</a:t>
            </a:r>
            <a:endParaRPr lang="en-US" sz="796" dirty="0"/>
          </a:p>
        </p:txBody>
      </p:sp>
      <p:sp>
        <p:nvSpPr>
          <p:cNvPr id="26" name="Text 24"/>
          <p:cNvSpPr/>
          <p:nvPr/>
        </p:nvSpPr>
        <p:spPr>
          <a:xfrm>
            <a:off x="2893835" y="3202806"/>
            <a:ext cx="1371600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· alto volume</a:t>
            </a:r>
            <a:endParaRPr lang="en-US" sz="796" dirty="0"/>
          </a:p>
        </p:txBody>
      </p:sp>
      <p:sp>
        <p:nvSpPr>
          <p:cNvPr id="27" name="Text 25"/>
          <p:cNvSpPr/>
          <p:nvPr/>
        </p:nvSpPr>
        <p:spPr>
          <a:xfrm>
            <a:off x="2893835" y="3809198"/>
            <a:ext cx="1371600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· alto volume + revisão</a:t>
            </a:r>
            <a:endParaRPr lang="en-US" sz="796" dirty="0"/>
          </a:p>
        </p:txBody>
      </p:sp>
      <p:sp>
        <p:nvSpPr>
          <p:cNvPr id="28" name="Text 26"/>
          <p:cNvSpPr/>
          <p:nvPr/>
        </p:nvSpPr>
        <p:spPr>
          <a:xfrm>
            <a:off x="4741886" y="4603282"/>
            <a:ext cx="1515979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B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· baixo volume</a:t>
            </a:r>
            <a:endParaRPr lang="en-US" sz="796" dirty="0"/>
          </a:p>
        </p:txBody>
      </p:sp>
      <p:sp>
        <p:nvSpPr>
          <p:cNvPr id="29" name="Text 27"/>
          <p:cNvSpPr/>
          <p:nvPr/>
        </p:nvSpPr>
        <p:spPr>
          <a:xfrm>
            <a:off x="1146850" y="5722219"/>
            <a:ext cx="721895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796" dirty="0"/>
          </a:p>
        </p:txBody>
      </p:sp>
      <p:sp>
        <p:nvSpPr>
          <p:cNvPr id="30" name="Shape 28"/>
          <p:cNvSpPr/>
          <p:nvPr/>
        </p:nvSpPr>
        <p:spPr>
          <a:xfrm>
            <a:off x="6675120" y="1965960"/>
            <a:ext cx="484632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31152" y="213969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1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placar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31152" y="245059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ações + 1 decisão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3 viram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2 viram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1 continua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B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humana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931152" y="2962656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Metade do processo foi resolvida sem IA nenhuma. Isso é bom sinal, não fracasso.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675120" y="3547872"/>
            <a:ext cx="4846320" cy="1874520"/>
          </a:xfrm>
          <a:prstGeom prst="roundRect">
            <a:avLst>
              <a:gd name="adj" fmla="val 4878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31152" y="37033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13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ler o desenho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31152" y="402336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duas rosas são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ambígua em alto volume, com erro tolerável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ali que a IA se paga.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931152" y="4498848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lavanda são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poucos julgamentos, todos irreversíveis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continua humana, e é barato que continue.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31152" y="4974336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losango </a:t>
            </a:r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decisão de IA e não é — é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desconto &gt; 0.10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693408" y="550468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9CC0EA"/>
          </a:solidFill>
          <a:ln w="15875">
            <a:solidFill>
              <a:srgbClr val="1D4F9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12864" y="5468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973568" y="550468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FDEDF6"/>
          </a:solidFill>
          <a:ln w="15875">
            <a:solidFill>
              <a:srgbClr val="E8007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93024" y="5468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070848" y="550468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FCB8F"/>
          </a:solidFill>
          <a:ln w="15875">
            <a:solidFill>
              <a:srgbClr val="B4620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290304" y="5468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COMO IA E PESSOA DIVIDEM O TRABALHO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 IA não tem certeza, </a:t>
            </a:r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 passa pra uma pessoa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58368" y="1883664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TRIAGEM.PY · A REGRA DO REPASSE, EM DOZE LINHAS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58368" y="2121408"/>
            <a:ext cx="6720840" cy="3063240"/>
          </a:xfrm>
          <a:prstGeom prst="roundRect">
            <a:avLst>
              <a:gd name="adj" fmla="val 2388"/>
            </a:avLst>
          </a:prstGeom>
          <a:solidFill>
            <a:srgbClr val="141A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249424"/>
            <a:ext cx="6391656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 schema é o contrato: sem ele não há limiar nem log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Triagem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(BaseModel):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categoria: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Literal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"cobranca"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"fraude"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"cadastro"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"outro"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confianca: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0-1, exigido no prompt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justificativa: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frase — vai para o log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faltou_contexto: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 caminho explícito de "não sei"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(chamado)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saída estruturada, não texto livre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r.faltou_contexto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r.confianca &lt; LIMIAR: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fila_humana.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enfileirar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(chamado, sugestao=r)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 a sugestão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rotear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(chamado, r.categoria)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(chamado.id, r, modelo=MODELO, prompt_v=PROMPT_V)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35240" y="2121408"/>
            <a:ext cx="38862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0" y="2286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12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pessoa revisa mesmo? Três perguntas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863840" y="259689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 revisor tem tempo e informação pra discordar?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863840" y="299923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Existe registro de quando ele discordou? Rejeição de 0% é alarme, não é qualidade.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863840" y="340156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 revisar por amostragem daria o mesmo, revisar item a item é teatro — e custa uma pessoa.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635240" y="3931920"/>
            <a:ext cx="3886200" cy="1353312"/>
          </a:xfrm>
          <a:prstGeom prst="roundRect">
            <a:avLst>
              <a:gd name="adj" fmla="val 6757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0" y="4069080"/>
            <a:ext cx="34747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LGPD, art. 20.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 titular pode pedir revisão de decisão tomada </a:t>
            </a:r>
            <a:pPr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unicamente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forma automatizada. Em serviço financeiro isso define quais caixas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podem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 100% automáticas — e obriga saber qual versão do modelo decidiu o quê.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8368" y="5367528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367528"/>
            <a:ext cx="45720" cy="841248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45896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 DETALHES QUE DECIDEM SE ISSO FUNCIONA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4400" y="567842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Sem o campo faltou_contexto, o modelo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diz “não sei”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ele chuta com confiança alta. “Não sei” precisa ser uma saída permitida no prompt.  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Mande a sugestão junto com o caso: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que chega em branco custa o mesmo que não ter automação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4 · O PANORAMA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700" b="1" spc="-59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camadas — e as </a:t>
            </a:r>
            <a:pPr indent="0" marL="0">
              <a:lnSpc>
                <a:spcPts val="3100"/>
              </a:lnSpc>
              <a:buNone/>
            </a:pPr>
            <a:r>
              <a:rPr lang="en-US" sz="2700" b="1" spc="-59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</a:t>
            </a:r>
            <a:pPr indent="0" marL="0">
              <a:lnSpc>
                <a:spcPts val="3100"/>
              </a:lnSpc>
              <a:buNone/>
            </a:pPr>
            <a:r>
              <a:rPr lang="en-US" sz="2700" b="1" spc="-59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decidem se vai pra produção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58368" y="1755648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" y="1892808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184708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944368" y="1865376"/>
            <a:ext cx="111008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Opus 5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127602" y="1865376"/>
            <a:ext cx="753466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Sonnet 5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954219" y="1865376"/>
            <a:ext cx="82478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Haiku 4.5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852160" y="1865376"/>
            <a:ext cx="396850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322162" y="1865376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2.5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291426" y="1865376"/>
            <a:ext cx="1894637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Llama / Qwen self-hosted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295790" y="1865376"/>
            <a:ext cx="205465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motor, não o produto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8368" y="2276856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9536" y="2414016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4128" y="2368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944368" y="2386584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628339" y="2386584"/>
            <a:ext cx="68214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ChatGPT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383634" y="2386584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104181" y="2386584"/>
            <a:ext cx="62462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aqui a IA é ferramenta: você no meio, sem log e sem eval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58368" y="2798064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9536" y="2935224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" y="288950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de código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944368" y="2907792"/>
            <a:ext cx="967435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984955" y="2907792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Cursor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668926" y="2907792"/>
            <a:ext cx="539496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Codex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281574" y="2907792"/>
            <a:ext cx="68214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Copilot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073445" y="2907792"/>
            <a:ext cx="52770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leem e escrevem no seu repo, rodam comando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58368" y="3319272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9536" y="3456432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4128" y="341071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e MCP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944368" y="3429000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628339" y="3429000"/>
            <a:ext cx="396850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134917" y="3429000"/>
            <a:ext cx="72155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= instrução reutilizável · MCP = um protocolo no lugar de N integrações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58368" y="3840480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59536" y="3977640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24128" y="39319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SDK / API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2944368" y="3950208"/>
            <a:ext cx="1324051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Agent SDK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341571" y="3950208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 direta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310835" y="3950208"/>
            <a:ext cx="82478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LangGraph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208776" y="3950208"/>
            <a:ext cx="967435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Pydantic AI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7285939" y="3950208"/>
            <a:ext cx="4064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vira produto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58368" y="4361688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59536" y="4498848"/>
            <a:ext cx="45720" cy="201168"/>
          </a:xfrm>
          <a:prstGeom prst="roundRect">
            <a:avLst>
              <a:gd name="adj" fmla="val 40000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24128" y="4453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Orquestração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2944368" y="4471416"/>
            <a:ext cx="396850" cy="256032"/>
          </a:xfrm>
          <a:prstGeom prst="roundRect">
            <a:avLst>
              <a:gd name="adj" fmla="val 14286"/>
            </a:avLst>
          </a:prstGeom>
          <a:solidFill>
            <a:srgbClr val="FDED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n8n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414370" y="4471416"/>
            <a:ext cx="682142" cy="256032"/>
          </a:xfrm>
          <a:prstGeom prst="roundRect">
            <a:avLst>
              <a:gd name="adj" fmla="val 14286"/>
            </a:avLst>
          </a:prstGeom>
          <a:solidFill>
            <a:srgbClr val="FDED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Airflow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169664" y="4471416"/>
            <a:ext cx="753466" cy="256032"/>
          </a:xfrm>
          <a:prstGeom prst="roundRect">
            <a:avLst>
              <a:gd name="adj" fmla="val 14286"/>
            </a:avLst>
          </a:prstGeom>
          <a:solidFill>
            <a:srgbClr val="FDED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Temporal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4996282" y="4471416"/>
            <a:ext cx="1181405" cy="256032"/>
          </a:xfrm>
          <a:prstGeom prst="roundRect">
            <a:avLst>
              <a:gd name="adj" fmla="val 14286"/>
            </a:avLst>
          </a:prstGeom>
          <a:solidFill>
            <a:srgbClr val="FDED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Functions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6250838" y="4471416"/>
            <a:ext cx="1181405" cy="256032"/>
          </a:xfrm>
          <a:prstGeom prst="roundRect">
            <a:avLst>
              <a:gd name="adj" fmla="val 14286"/>
            </a:avLst>
          </a:prstGeom>
          <a:solidFill>
            <a:srgbClr val="FDED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 Actions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7541971" y="4471416"/>
            <a:ext cx="38084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070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retry, idempotência, estado, quem dispara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58368" y="4882896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9536" y="5020056"/>
            <a:ext cx="45720" cy="201168"/>
          </a:xfrm>
          <a:prstGeom prst="roundRect">
            <a:avLst>
              <a:gd name="adj" fmla="val 40000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24128" y="49743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e observabilidade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2944368" y="4992624"/>
            <a:ext cx="1965960" cy="256032"/>
          </a:xfrm>
          <a:prstGeom prst="roundRect">
            <a:avLst>
              <a:gd name="adj" fmla="val 14286"/>
            </a:avLst>
          </a:prstGeom>
          <a:solidFill>
            <a:srgbClr val="FDED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casos versionados no repo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4983480" y="4992624"/>
            <a:ext cx="753466" cy="256032"/>
          </a:xfrm>
          <a:prstGeom prst="roundRect">
            <a:avLst>
              <a:gd name="adj" fmla="val 14286"/>
            </a:avLst>
          </a:prstGeom>
          <a:solidFill>
            <a:srgbClr val="FDED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Langfuse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5810098" y="4992624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DED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Braintrust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6815938" y="4992624"/>
            <a:ext cx="45345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070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isso, o terceiro mês te pega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658368" y="5559552"/>
            <a:ext cx="10874959" cy="530352"/>
          </a:xfrm>
          <a:prstGeom prst="roundRect">
            <a:avLst>
              <a:gd name="adj" fmla="val 17241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58368" y="5559552"/>
            <a:ext cx="45720" cy="530352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14400" y="5687568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não é modelo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agente.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não é orquestrador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editor com agente.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é gatilho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não orquestrador.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Ferramentas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5 · NA PRÁTICA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eu monto um projeto desses, </a:t>
            </a:r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ordem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58368" y="1874520"/>
            <a:ext cx="2526716" cy="3200400"/>
          </a:xfrm>
          <a:prstGeom prst="roundRect">
            <a:avLst>
              <a:gd name="adj" fmla="val 3619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848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14400" y="2340864"/>
            <a:ext cx="20146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1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32688" y="2825496"/>
            <a:ext cx="64008" cy="64008"/>
          </a:xfrm>
          <a:prstGeom prst="ellipse">
            <a:avLst/>
          </a:prstGeom>
          <a:solidFill>
            <a:srgbClr val="C3BB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761488"/>
            <a:ext cx="18317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Mapeio o processo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é feito hoje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32688" y="3648456"/>
            <a:ext cx="64008" cy="64008"/>
          </a:xfrm>
          <a:prstGeom prst="ellipse">
            <a:avLst/>
          </a:prstGeom>
          <a:solidFill>
            <a:srgbClr val="C3BB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584448"/>
            <a:ext cx="18317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Defino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onde a informação vem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planilha, ferramenta, base de dados, Slack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41116" y="1874520"/>
            <a:ext cx="2526716" cy="3200400"/>
          </a:xfrm>
          <a:prstGeom prst="roundRect">
            <a:avLst>
              <a:gd name="adj" fmla="val 3619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97148" y="20848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97148" y="2340864"/>
            <a:ext cx="20146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1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15436" y="2825496"/>
            <a:ext cx="64008" cy="64008"/>
          </a:xfrm>
          <a:prstGeom prst="ellipse">
            <a:avLst/>
          </a:prstGeom>
          <a:solidFill>
            <a:srgbClr val="C3BB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0028" y="2761488"/>
            <a:ext cx="18317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Crio o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715436" y="3648456"/>
            <a:ext cx="64008" cy="64008"/>
          </a:xfrm>
          <a:prstGeom prst="ellipse">
            <a:avLst/>
          </a:prstGeom>
          <a:solidFill>
            <a:srgbClr val="C3BB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80028" y="3584448"/>
            <a:ext cx="18317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Escrevo o código que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pluga a fonte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 informação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23864" y="1874520"/>
            <a:ext cx="2526716" cy="3200400"/>
          </a:xfrm>
          <a:prstGeom prst="roundRect">
            <a:avLst>
              <a:gd name="adj" fmla="val 3619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79896" y="20848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479896" y="2340864"/>
            <a:ext cx="20146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1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Dividir o trabalho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98184" y="2825496"/>
            <a:ext cx="64008" cy="640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62776" y="2761488"/>
            <a:ext cx="18317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Codo as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determinísticas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as de sim/não, conforme o fluxo se comporta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98184" y="3648456"/>
            <a:ext cx="64008" cy="640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62776" y="3584448"/>
            <a:ext cx="18317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só onde precisa interpretação e saída qualitativa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98184" y="4471416"/>
            <a:ext cx="64008" cy="640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62776" y="4407408"/>
            <a:ext cx="18317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Defino o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e o lugar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 output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006611" y="1874520"/>
            <a:ext cx="2526716" cy="3200400"/>
          </a:xfrm>
          <a:prstGeom prst="roundRect">
            <a:avLst>
              <a:gd name="adj" fmla="val 3619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62643" y="20848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9262643" y="2340864"/>
            <a:ext cx="20146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1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Fechar o ciclo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280931" y="2825496"/>
            <a:ext cx="64008" cy="64008"/>
          </a:xfrm>
          <a:prstGeom prst="ellipse">
            <a:avLst/>
          </a:prstGeom>
          <a:solidFill>
            <a:srgbClr val="C3BB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445523" y="2761488"/>
            <a:ext cx="18317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Implemento e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280931" y="3648456"/>
            <a:ext cx="64008" cy="64008"/>
          </a:xfrm>
          <a:prstGeom prst="ellipse">
            <a:avLst/>
          </a:prstGeom>
          <a:solidFill>
            <a:srgbClr val="C3BB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445523" y="3584448"/>
            <a:ext cx="18317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Apresento e pego feedback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resolve mesmo a necessidade?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280931" y="4471416"/>
            <a:ext cx="64008" cy="64008"/>
          </a:xfrm>
          <a:prstGeom prst="ellipse">
            <a:avLst/>
          </a:prstGeom>
          <a:solidFill>
            <a:srgbClr val="C3BB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45523" y="4407408"/>
            <a:ext cx="18317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Ajusto se precisar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58368" y="5321808"/>
            <a:ext cx="10874959" cy="859536"/>
          </a:xfrm>
          <a:prstGeom prst="roundRect">
            <a:avLst>
              <a:gd name="adj" fmla="val 10638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8368" y="5321808"/>
            <a:ext cx="45720" cy="859536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54132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ORDEM DENTRO DA FASE 3 NÃO É ACASO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914400" y="5632704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determinístico vem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 IA. É a mesma cascata do slide 8, agora com as mãos no teclado: eu escrevo os if primeiro e só depois olho o que sobrou. O que sobra costuma ser bem menos do que parecia no começo.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Na prática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6 · PRA LEVAR EMBORA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2500" b="1" spc="-55" kern="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mapear-processo</a:t>
            </a:r>
            <a:pPr indent="0" marL="0">
              <a:lnSpc>
                <a:spcPts val="2700"/>
              </a:lnSpc>
              <a:buNone/>
            </a:pPr>
            <a:r>
              <a:rPr lang="en-US" sz="2500" b="1" spc="-55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indent="0" marL="0">
              <a:lnSpc>
                <a:spcPts val="2700"/>
              </a:lnSpc>
              <a:buNone/>
            </a:pPr>
            <a:r>
              <a:rPr lang="en-US" sz="2500" b="1" spc="-55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método desta palestra, instalável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58368" y="1874520"/>
            <a:ext cx="53949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descreve um processo em português corrido. Ela devolve o fluxo desenhado, com </a:t>
            </a:r>
            <a:pPr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etapa classificada</a:t>
            </a:r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o motivo de cada classificação.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282549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ENTREGA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865376" y="2798064"/>
            <a:ext cx="41879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interativo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abre sem internet · um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pra outro agente consumir · o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placar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 processo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58368" y="364845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NÃO FAZ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865376" y="3621024"/>
            <a:ext cx="41879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chuta. Quando a descrição não diz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custa errar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falha é percebida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ela marca a etapa como indefinida e devolve a pergunta.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" y="454456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INSTALAR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865376" y="4443984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1270" tIns="1270" rIns="1270" bIns="127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-r mapear-processo ~/.claude/skills/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58368" y="5010912"/>
            <a:ext cx="5394960" cy="566928"/>
          </a:xfrm>
          <a:prstGeom prst="roundRect">
            <a:avLst>
              <a:gd name="adj" fmla="val 16129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914400" y="5129784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/ QR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212848" y="512978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endereço do repositório entra aqui antes da palestra.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1874520"/>
            <a:ext cx="5132527" cy="3977640"/>
          </a:xfrm>
          <a:prstGeom prst="roundRect">
            <a:avLst>
              <a:gd name="adj" fmla="val 2069"/>
            </a:avLst>
          </a:prstGeom>
          <a:solidFill>
            <a:srgbClr val="0F1117"/>
          </a:solidFill>
          <a:ln w="12700">
            <a:solidFill>
              <a:srgbClr val="2A2F3D"/>
            </a:solidFill>
            <a:prstDash val="solid"/>
          </a:ln>
        </p:spPr>
      </p:sp>
      <p:pic>
        <p:nvPicPr>
          <p:cNvPr id="16" name="Image 0" descr="/home/user/casamentos-app/talks/serasa-ia-automacao/assets/skill-pre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10528" y="1984248"/>
            <a:ext cx="4913071" cy="3758184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O kit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234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spc="-5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frases e </a:t>
            </a:r>
            <a:pPr indent="0" marL="0">
              <a:buNone/>
            </a:pPr>
            <a:r>
              <a:rPr lang="en-US" sz="2600" b="1" spc="-57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desafio de uma hora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25296" y="21031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conversa vem antes do desenho. O desenho vem antes da </a:t>
            </a:r>
            <a:pPr indent="0" marL="0">
              <a:lnSpc>
                <a:spcPts val="2400"/>
              </a:lnSpc>
              <a:buNone/>
            </a:pPr>
            <a:r>
              <a:rPr lang="en-US" sz="1800" b="1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</a:t>
            </a:r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2862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25296" y="2816352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dá pra fazer com um </a:t>
            </a:r>
            <a:pPr indent="0" marL="0">
              <a:lnSpc>
                <a:spcPts val="2400"/>
              </a:lnSpc>
              <a:buNone/>
            </a:pPr>
            <a:r>
              <a:rPr lang="en-US" sz="1800" b="1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</a:t>
            </a:r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faça com um if. IA é a terceira pergunta.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35753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25296" y="352958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Mantenha a pessoa onde </a:t>
            </a:r>
            <a:pPr indent="0" marL="0">
              <a:lnSpc>
                <a:spcPts val="2400"/>
              </a:lnSpc>
              <a:buNone/>
            </a:pPr>
            <a:r>
              <a:rPr lang="en-US" sz="1800" b="1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errar é caro</a:t>
            </a:r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 prove que ela consegue discordar.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8368" y="4617720"/>
            <a:ext cx="10874959" cy="1234440"/>
          </a:xfrm>
          <a:prstGeom prst="roundRect">
            <a:avLst>
              <a:gd name="adj" fmla="val 740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4617720"/>
            <a:ext cx="45720" cy="1234440"/>
          </a:xfrm>
          <a:prstGeom prst="rect">
            <a:avLst/>
          </a:prstGeom>
          <a:solidFill>
            <a:srgbClr val="FF8F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73659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 DE UMA HORA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14400" y="498348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Pegue alguém do seu time que executa um processo toda semana. Faça as </a:t>
            </a:r>
            <a:pPr indent="0" marL="0">
              <a:lnSpc>
                <a:spcPts val="185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perguntas</a:t>
            </a:r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Desenhe o fluxo na frente da pessoa. Marque a única caixa que é pura digitação — e automatize </a:t>
            </a:r>
            <a:pPr indent="0" marL="0">
              <a:lnSpc>
                <a:spcPts val="185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ela</a:t>
            </a:r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Depois volte pra segunda.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Automação de processos com IA</dc:title>
  <dc:subject>PptxGenJS Presentation</dc:subject>
  <dc:creator>Bruno Prata</dc:creator>
  <cp:lastModifiedBy>Bruno Prata</cp:lastModifiedBy>
  <cp:revision>1</cp:revision>
  <dcterms:created xsi:type="dcterms:W3CDTF">2026-08-14T11:00:34Z</dcterms:created>
  <dcterms:modified xsi:type="dcterms:W3CDTF">2026-08-14T11:00:34Z</dcterms:modified>
</cp:coreProperties>
</file>